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chammad Wildan Alkautsar" userId="360672ed2ee56274" providerId="LiveId" clId="{F5771622-C242-4EFB-9359-41E4DFBD7538}"/>
    <pc:docChg chg="modSld">
      <pc:chgData name="Muchammad Wildan Alkautsar" userId="360672ed2ee56274" providerId="LiveId" clId="{F5771622-C242-4EFB-9359-41E4DFBD7538}" dt="2026-10-25T00:11:38.385" v="9" actId="20577"/>
      <pc:docMkLst>
        <pc:docMk/>
      </pc:docMkLst>
      <pc:sldChg chg="modSp mod">
        <pc:chgData name="Muchammad Wildan Alkautsar" userId="360672ed2ee56274" providerId="LiveId" clId="{F5771622-C242-4EFB-9359-41E4DFBD7538}" dt="2026-10-25T00:11:20.864" v="7" actId="20577"/>
        <pc:sldMkLst>
          <pc:docMk/>
          <pc:sldMk cId="0" sldId="257"/>
        </pc:sldMkLst>
        <pc:spChg chg="mod">
          <ac:chgData name="Muchammad Wildan Alkautsar" userId="360672ed2ee56274" providerId="LiveId" clId="{F5771622-C242-4EFB-9359-41E4DFBD7538}" dt="2026-10-25T00:11:20.864" v="7" actId="20577"/>
          <ac:spMkLst>
            <pc:docMk/>
            <pc:sldMk cId="0" sldId="257"/>
            <ac:spMk id="18" creationId="{00000000-0000-0000-0000-000000000000}"/>
          </ac:spMkLst>
        </pc:spChg>
      </pc:sldChg>
      <pc:sldChg chg="modSp mod">
        <pc:chgData name="Muchammad Wildan Alkautsar" userId="360672ed2ee56274" providerId="LiveId" clId="{F5771622-C242-4EFB-9359-41E4DFBD7538}" dt="2026-10-25T00:11:38.385" v="9" actId="20577"/>
        <pc:sldMkLst>
          <pc:docMk/>
          <pc:sldMk cId="0" sldId="259"/>
        </pc:sldMkLst>
        <pc:spChg chg="mod">
          <ac:chgData name="Muchammad Wildan Alkautsar" userId="360672ed2ee56274" providerId="LiveId" clId="{F5771622-C242-4EFB-9359-41E4DFBD7538}" dt="2026-10-25T00:11:38.385" v="9" actId="20577"/>
          <ac:spMkLst>
            <pc:docMk/>
            <pc:sldMk cId="0" sldId="259"/>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41"/>
                </a:solidFill>
                <a:latin typeface="+mn-lt"/>
              </a:defRPr>
            </a:pPr>
            <a:r>
              <a:rPr lang="en-US" sz="1300" b="0" i="0" u="none" strike="noStrike">
                <a:solidFill>
                  <a:srgbClr val="1B2A41"/>
                </a:solidFill>
                <a:latin typeface="+mn-lt"/>
              </a:rPr>
              <a:t>Monthly Complaint Frequency</a:t>
            </a:r>
          </a:p>
        </c:rich>
      </c:tx>
      <c:overlay val="0"/>
    </c:title>
    <c:autoTitleDeleted val="0"/>
    <c:plotArea>
      <c:layout/>
      <c:lineChart>
        <c:grouping val="standard"/>
        <c:varyColors val="0"/>
        <c:ser>
          <c:idx val="0"/>
          <c:order val="0"/>
          <c:tx>
            <c:strRef>
              <c:f>Sheet1!$B$1</c:f>
              <c:strCache>
                <c:ptCount val="1"/>
                <c:pt idx="0">
                  <c:v>Complaints</c:v>
                </c:pt>
              </c:strCache>
            </c:strRef>
          </c:tx>
          <c:spPr>
            <a:ln w="38100" cap="flat">
              <a:solidFill>
                <a:srgbClr val="0F7B8A"/>
              </a:solidFill>
              <a:prstDash val="solid"/>
              <a:round/>
            </a:ln>
            <a:effectLst/>
          </c:spPr>
          <c:marker>
            <c:symbol val="circle"/>
            <c:size val="7"/>
            <c:spPr>
              <a:solidFill>
                <a:srgbClr val="0F7B8A"/>
              </a:solidFill>
              <a:ln w="9525" cap="flat">
                <a:solidFill>
                  <a:srgbClr val="0F7B8A"/>
                </a:solidFill>
                <a:prstDash val="solid"/>
                <a:round/>
              </a:ln>
              <a:effectLst/>
            </c:spPr>
          </c:marker>
          <c:dLbls>
            <c:numFmt formatCode="#,##0" sourceLinked="0"/>
            <c:spPr>
              <a:noFill/>
              <a:ln>
                <a:noFill/>
              </a:ln>
              <a:effectLst/>
            </c:spPr>
            <c:txPr>
              <a:bodyPr/>
              <a:lstStyle/>
              <a:p>
                <a:pPr>
                  <a:defRPr sz="1000" b="0" i="0" u="none" strike="noStrike">
                    <a:solidFill>
                      <a:srgbClr val="1B2A41"/>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1183</c:v>
                </c:pt>
                <c:pt idx="1">
                  <c:v>1092</c:v>
                </c:pt>
                <c:pt idx="2">
                  <c:v>1229</c:v>
                </c:pt>
                <c:pt idx="3">
                  <c:v>1058</c:v>
                </c:pt>
                <c:pt idx="4">
                  <c:v>1085</c:v>
                </c:pt>
                <c:pt idx="5">
                  <c:v>1018</c:v>
                </c:pt>
                <c:pt idx="6">
                  <c:v>1749</c:v>
                </c:pt>
                <c:pt idx="7">
                  <c:v>717</c:v>
                </c:pt>
              </c:numCache>
            </c:numRef>
          </c:val>
          <c:smooth val="0"/>
          <c:extLst>
            <c:ext xmlns:c16="http://schemas.microsoft.com/office/drawing/2014/chart" uri="{C3380CC4-5D6E-409C-BE32-E72D297353CC}">
              <c16:uniqueId val="{00000000-FBB9-488E-AD5A-24AE1C69D94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7DFE4"/>
            </a:solidFill>
            <a:prstDash val="solid"/>
            <a:round/>
          </a:ln>
        </c:spPr>
        <c:txPr>
          <a:bodyPr/>
          <a:lstStyle/>
          <a:p>
            <a:pPr>
              <a:defRPr sz="1100" b="0" i="0" u="none" strike="noStrike">
                <a:solidFill>
                  <a:srgbClr val="6B7A89"/>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6ECEF"/>
              </a:solidFill>
              <a:prstDash val="solid"/>
              <a:round/>
            </a:ln>
          </c:spPr>
        </c:majorGridlines>
        <c:numFmt formatCode="General" sourceLinked="0"/>
        <c:majorTickMark val="out"/>
        <c:minorTickMark val="none"/>
        <c:tickLblPos val="nextTo"/>
        <c:spPr>
          <a:ln w="12700" cap="flat">
            <a:solidFill>
              <a:srgbClr val="D7DFE4"/>
            </a:solidFill>
            <a:prstDash val="solid"/>
            <a:round/>
          </a:ln>
        </c:spPr>
        <c:txPr>
          <a:bodyPr/>
          <a:lstStyle/>
          <a:p>
            <a:pPr>
              <a:defRPr sz="1000" b="0" i="0" u="none" strike="noStrike">
                <a:solidFill>
                  <a:srgbClr val="6B7A89"/>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41"/>
                </a:solidFill>
                <a:latin typeface="+mn-lt"/>
              </a:defRPr>
            </a:pPr>
            <a:r>
              <a:rPr lang="en-US" sz="1300" b="0" i="0" u="none" strike="noStrike">
                <a:solidFill>
                  <a:srgbClr val="1B2A41"/>
                </a:solidFill>
                <a:latin typeface="+mn-lt"/>
              </a:rPr>
              <a:t>Complaints by Product Category</a:t>
            </a:r>
          </a:p>
        </c:rich>
      </c:tx>
      <c:overlay val="0"/>
    </c:title>
    <c:autoTitleDeleted val="0"/>
    <c:plotArea>
      <c:layout/>
      <c:barChart>
        <c:barDir val="bar"/>
        <c:grouping val="clustered"/>
        <c:varyColors val="0"/>
        <c:ser>
          <c:idx val="0"/>
          <c:order val="0"/>
          <c:tx>
            <c:strRef>
              <c:f>Sheet1!$B$1</c:f>
              <c:strCache>
                <c:ptCount val="1"/>
                <c:pt idx="0">
                  <c:v>Total</c:v>
                </c:pt>
              </c:strCache>
            </c:strRef>
          </c:tx>
          <c:spPr>
            <a:solidFill>
              <a:srgbClr val="0F7B8A"/>
            </a:solidFill>
            <a:effectLst/>
          </c:spPr>
          <c:invertIfNegative val="0"/>
          <c:dLbls>
            <c:numFmt formatCode="#,##0" sourceLinked="0"/>
            <c:spPr>
              <a:noFill/>
              <a:ln>
                <a:noFill/>
              </a:ln>
              <a:effectLst/>
            </c:spPr>
            <c:txPr>
              <a:bodyPr/>
              <a:lstStyle/>
              <a:p>
                <a:pPr>
                  <a:defRPr sz="10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Bank Accounts</c:v>
                </c:pt>
                <c:pt idx="1">
                  <c:v>Cards</c:v>
                </c:pt>
                <c:pt idx="2">
                  <c:v>Credit Reporting</c:v>
                </c:pt>
                <c:pt idx="3">
                  <c:v>Money Transfer &amp; Services</c:v>
                </c:pt>
                <c:pt idx="4">
                  <c:v>Mortgages</c:v>
                </c:pt>
                <c:pt idx="5">
                  <c:v>Debt Collection</c:v>
                </c:pt>
                <c:pt idx="6">
                  <c:v>Auto Finance</c:v>
                </c:pt>
                <c:pt idx="7">
                  <c:v>Loans</c:v>
                </c:pt>
              </c:strCache>
            </c:strRef>
          </c:cat>
          <c:val>
            <c:numRef>
              <c:f>Sheet1!$B$2:$B$9</c:f>
              <c:numCache>
                <c:formatCode>General</c:formatCode>
                <c:ptCount val="8"/>
                <c:pt idx="0">
                  <c:v>4085</c:v>
                </c:pt>
                <c:pt idx="1">
                  <c:v>2398</c:v>
                </c:pt>
                <c:pt idx="2">
                  <c:v>1312</c:v>
                </c:pt>
                <c:pt idx="3">
                  <c:v>607</c:v>
                </c:pt>
                <c:pt idx="4">
                  <c:v>359</c:v>
                </c:pt>
                <c:pt idx="5">
                  <c:v>243</c:v>
                </c:pt>
                <c:pt idx="6">
                  <c:v>101</c:v>
                </c:pt>
                <c:pt idx="7">
                  <c:v>26</c:v>
                </c:pt>
              </c:numCache>
            </c:numRef>
          </c:val>
          <c:extLst>
            <c:ext xmlns:c16="http://schemas.microsoft.com/office/drawing/2014/chart" uri="{C3380CC4-5D6E-409C-BE32-E72D297353CC}">
              <c16:uniqueId val="{00000000-C48C-4A41-BE5C-204B4FCEF66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7DFE4"/>
            </a:solidFill>
            <a:prstDash val="solid"/>
            <a:round/>
          </a:ln>
        </c:spPr>
        <c:txPr>
          <a:bodyPr/>
          <a:lstStyle/>
          <a:p>
            <a:pPr>
              <a:defRPr sz="1100" b="0" i="0" u="none" strike="noStrike">
                <a:solidFill>
                  <a:srgbClr val="6B7A89"/>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6ECEF"/>
              </a:solidFill>
              <a:prstDash val="solid"/>
              <a:round/>
            </a:ln>
          </c:spPr>
        </c:majorGridlines>
        <c:numFmt formatCode="General" sourceLinked="0"/>
        <c:majorTickMark val="out"/>
        <c:minorTickMark val="none"/>
        <c:tickLblPos val="low"/>
        <c:spPr>
          <a:ln w="12700" cap="flat">
            <a:solidFill>
              <a:srgbClr val="D7DFE4"/>
            </a:solidFill>
            <a:prstDash val="solid"/>
            <a:round/>
          </a:ln>
        </c:spPr>
        <c:txPr>
          <a:bodyPr/>
          <a:lstStyle/>
          <a:p>
            <a:pPr>
              <a:defRPr sz="1000" b="0" i="0" u="none" strike="noStrike">
                <a:solidFill>
                  <a:srgbClr val="6B7A89"/>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41"/>
                </a:solidFill>
                <a:latin typeface="+mn-lt"/>
              </a:defRPr>
            </a:pPr>
            <a:r>
              <a:rPr lang="en-US" sz="1300" b="0" i="0" u="none" strike="noStrike">
                <a:solidFill>
                  <a:srgbClr val="1B2A41"/>
                </a:solidFill>
                <a:latin typeface="+mn-lt"/>
              </a:rPr>
              <a:t>Complaints by Issue Category</a:t>
            </a:r>
          </a:p>
        </c:rich>
      </c:tx>
      <c:overlay val="0"/>
    </c:title>
    <c:autoTitleDeleted val="0"/>
    <c:plotArea>
      <c:layout/>
      <c:barChart>
        <c:barDir val="bar"/>
        <c:grouping val="clustered"/>
        <c:varyColors val="0"/>
        <c:ser>
          <c:idx val="0"/>
          <c:order val="0"/>
          <c:tx>
            <c:strRef>
              <c:f>Sheet1!$B$1</c:f>
              <c:strCache>
                <c:ptCount val="1"/>
                <c:pt idx="0">
                  <c:v>Total</c:v>
                </c:pt>
              </c:strCache>
            </c:strRef>
          </c:tx>
          <c:spPr>
            <a:solidFill>
              <a:srgbClr val="0F7B8A"/>
            </a:solidFill>
            <a:effectLst/>
          </c:spPr>
          <c:invertIfNegative val="0"/>
          <c:dLbls>
            <c:numFmt formatCode="#,##0" sourceLinked="0"/>
            <c:spPr>
              <a:noFill/>
              <a:ln>
                <a:noFill/>
              </a:ln>
              <a:effectLst/>
            </c:spPr>
            <c:txPr>
              <a:bodyPr/>
              <a:lstStyle/>
              <a:p>
                <a:pPr>
                  <a:defRPr sz="10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Customer Service &amp; Account Mgmt</c:v>
                </c:pt>
                <c:pt idx="1">
                  <c:v>Credit Reporting</c:v>
                </c:pt>
                <c:pt idx="2">
                  <c:v>Payments &amp; Transactions</c:v>
                </c:pt>
                <c:pt idx="3">
                  <c:v>Credit Cards &amp; Credit Lines</c:v>
                </c:pt>
                <c:pt idx="4">
                  <c:v>Fraud &amp; Identity Theft</c:v>
                </c:pt>
                <c:pt idx="5">
                  <c:v>Fees &amp; Charges</c:v>
                </c:pt>
                <c:pt idx="6">
                  <c:v>Other Financial Issues</c:v>
                </c:pt>
                <c:pt idx="7">
                  <c:v>Debt Collection</c:v>
                </c:pt>
                <c:pt idx="8">
                  <c:v>Mortgages &amp; Home Loans</c:v>
                </c:pt>
                <c:pt idx="9">
                  <c:v>Bank Accounts &amp; Overdrafts</c:v>
                </c:pt>
              </c:strCache>
            </c:strRef>
          </c:cat>
          <c:val>
            <c:numRef>
              <c:f>Sheet1!$B$2:$B$11</c:f>
              <c:numCache>
                <c:formatCode>General</c:formatCode>
                <c:ptCount val="10"/>
                <c:pt idx="0">
                  <c:v>3586</c:v>
                </c:pt>
                <c:pt idx="1">
                  <c:v>1382</c:v>
                </c:pt>
                <c:pt idx="2">
                  <c:v>1167</c:v>
                </c:pt>
                <c:pt idx="3">
                  <c:v>1099</c:v>
                </c:pt>
                <c:pt idx="4">
                  <c:v>485</c:v>
                </c:pt>
                <c:pt idx="5">
                  <c:v>337</c:v>
                </c:pt>
                <c:pt idx="6">
                  <c:v>304</c:v>
                </c:pt>
                <c:pt idx="7">
                  <c:v>207</c:v>
                </c:pt>
                <c:pt idx="8">
                  <c:v>184</c:v>
                </c:pt>
                <c:pt idx="9">
                  <c:v>177</c:v>
                </c:pt>
              </c:numCache>
            </c:numRef>
          </c:val>
          <c:extLst>
            <c:ext xmlns:c16="http://schemas.microsoft.com/office/drawing/2014/chart" uri="{C3380CC4-5D6E-409C-BE32-E72D297353CC}">
              <c16:uniqueId val="{00000000-5B19-4ECA-AD57-13E4E2EAAB1A}"/>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7DFE4"/>
            </a:solidFill>
            <a:prstDash val="solid"/>
            <a:round/>
          </a:ln>
        </c:spPr>
        <c:txPr>
          <a:bodyPr/>
          <a:lstStyle/>
          <a:p>
            <a:pPr>
              <a:defRPr sz="950" b="0" i="0" u="none" strike="noStrike">
                <a:solidFill>
                  <a:srgbClr val="6B7A89"/>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6ECEF"/>
              </a:solidFill>
              <a:prstDash val="solid"/>
              <a:round/>
            </a:ln>
          </c:spPr>
        </c:majorGridlines>
        <c:numFmt formatCode="General" sourceLinked="0"/>
        <c:majorTickMark val="out"/>
        <c:minorTickMark val="none"/>
        <c:tickLblPos val="low"/>
        <c:spPr>
          <a:ln w="12700" cap="flat">
            <a:solidFill>
              <a:srgbClr val="D7DFE4"/>
            </a:solidFill>
            <a:prstDash val="solid"/>
            <a:round/>
          </a:ln>
        </c:spPr>
        <c:txPr>
          <a:bodyPr/>
          <a:lstStyle/>
          <a:p>
            <a:pPr>
              <a:defRPr sz="1000" b="0" i="0" u="none" strike="noStrike">
                <a:solidFill>
                  <a:srgbClr val="6B7A89"/>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Timely Response</c:v>
                </c:pt>
              </c:strCache>
            </c:strRef>
          </c:tx>
          <c:spPr>
            <a:solidFill>
              <a:schemeClr val="accent1"/>
            </a:solidFill>
            <a:ln w="9525" cap="flat">
              <a:solidFill>
                <a:srgbClr val="F9F9F9"/>
              </a:solidFill>
              <a:prstDash val="solid"/>
              <a:round/>
            </a:ln>
            <a:effectLst/>
          </c:spPr>
          <c:dPt>
            <c:idx val="0"/>
            <c:bubble3D val="0"/>
            <c:spPr>
              <a:solidFill>
                <a:srgbClr val="0F7B8A"/>
              </a:solidFill>
              <a:effectLst/>
            </c:spPr>
            <c:extLst>
              <c:ext xmlns:c16="http://schemas.microsoft.com/office/drawing/2014/chart" uri="{C3380CC4-5D6E-409C-BE32-E72D297353CC}">
                <c16:uniqueId val="{00000001-3A12-440C-95DB-2662758147E7}"/>
              </c:ext>
            </c:extLst>
          </c:dPt>
          <c:dPt>
            <c:idx val="1"/>
            <c:bubble3D val="0"/>
            <c:spPr>
              <a:solidFill>
                <a:srgbClr val="F2A541"/>
              </a:solidFill>
              <a:effectLst/>
            </c:spPr>
            <c:extLst>
              <c:ext xmlns:c16="http://schemas.microsoft.com/office/drawing/2014/chart" uri="{C3380CC4-5D6E-409C-BE32-E72D297353CC}">
                <c16:uniqueId val="{00000003-3A12-440C-95DB-2662758147E7}"/>
              </c:ext>
            </c:extLst>
          </c:dPt>
          <c:dPt>
            <c:idx val="2"/>
            <c:bubble3D val="0"/>
            <c:spPr>
              <a:solidFill>
                <a:srgbClr val="D64545"/>
              </a:solidFill>
              <a:effectLst/>
            </c:spPr>
            <c:extLst>
              <c:ext xmlns:c16="http://schemas.microsoft.com/office/drawing/2014/chart" uri="{C3380CC4-5D6E-409C-BE32-E72D297353CC}">
                <c16:uniqueId val="{00000005-3A12-440C-95DB-2662758147E7}"/>
              </c:ext>
            </c:extLst>
          </c:dPt>
          <c:dLbls>
            <c:dLbl>
              <c:idx val="0"/>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A12-440C-95DB-2662758147E7}"/>
                </c:ext>
              </c:extLst>
            </c:dLbl>
            <c:dLbl>
              <c:idx val="1"/>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A12-440C-95DB-2662758147E7}"/>
                </c:ext>
              </c:extLst>
            </c:dLbl>
            <c:dLbl>
              <c:idx val="2"/>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3A12-440C-95DB-2662758147E7}"/>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Timely (Yes)</c:v>
                </c:pt>
                <c:pt idx="1">
                  <c:v>Pending</c:v>
                </c:pt>
                <c:pt idx="2">
                  <c:v>Not Timely (No)</c:v>
                </c:pt>
              </c:strCache>
            </c:strRef>
          </c:cat>
          <c:val>
            <c:numRef>
              <c:f>Sheet1!$B$2:$B$4</c:f>
              <c:numCache>
                <c:formatCode>General</c:formatCode>
                <c:ptCount val="3"/>
                <c:pt idx="0">
                  <c:v>7115</c:v>
                </c:pt>
                <c:pt idx="1">
                  <c:v>1494</c:v>
                </c:pt>
                <c:pt idx="2">
                  <c:v>522</c:v>
                </c:pt>
              </c:numCache>
            </c:numRef>
          </c:val>
          <c:extLst>
            <c:ext xmlns:c16="http://schemas.microsoft.com/office/drawing/2014/chart" uri="{C3380CC4-5D6E-409C-BE32-E72D297353CC}">
              <c16:uniqueId val="{00000006-3A12-440C-95DB-2662758147E7}"/>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1B2A4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0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4F66"/>
        </a:solidFill>
        <a:effectLst/>
      </p:bgPr>
    </p:bg>
    <p:spTree>
      <p:nvGrpSpPr>
        <p:cNvPr id="1" name=""/>
        <p:cNvGrpSpPr/>
        <p:nvPr/>
      </p:nvGrpSpPr>
      <p:grpSpPr>
        <a:xfrm>
          <a:off x="0" y="0"/>
          <a:ext cx="0" cy="0"/>
          <a:chOff x="0" y="0"/>
          <a:chExt cx="0" cy="0"/>
        </a:xfrm>
      </p:grpSpPr>
      <p:sp>
        <p:nvSpPr>
          <p:cNvPr id="2" name="Shape 0"/>
          <p:cNvSpPr/>
          <p:nvPr/>
        </p:nvSpPr>
        <p:spPr>
          <a:xfrm>
            <a:off x="822960" y="731520"/>
            <a:ext cx="502920" cy="502920"/>
          </a:xfrm>
          <a:prstGeom prst="ellipse">
            <a:avLst/>
          </a:prstGeom>
          <a:solidFill>
            <a:srgbClr val="F2A541"/>
          </a:solidFill>
          <a:ln/>
        </p:spPr>
      </p:sp>
      <p:sp>
        <p:nvSpPr>
          <p:cNvPr id="3" name="Text 1"/>
          <p:cNvSpPr txBox="1"/>
          <p:nvPr/>
        </p:nvSpPr>
        <p:spPr>
          <a:xfrm>
            <a:off x="822960" y="73152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4" name="Text 2"/>
          <p:cNvSpPr txBox="1"/>
          <p:nvPr/>
        </p:nvSpPr>
        <p:spPr>
          <a:xfrm>
            <a:off x="822960" y="2514600"/>
            <a:ext cx="10515600" cy="457200"/>
          </a:xfrm>
          <a:prstGeom prst="rect">
            <a:avLst/>
          </a:prstGeom>
          <a:noFill/>
          <a:ln/>
        </p:spPr>
        <p:txBody>
          <a:bodyPr wrap="square" lIns="0" tIns="0" rIns="0" bIns="0" rtlCol="0" anchor="ctr"/>
          <a:lstStyle/>
          <a:p>
            <a:pPr marL="0" indent="0">
              <a:buNone/>
            </a:pPr>
            <a:r>
              <a:rPr lang="en-US" sz="1400" b="1" kern="0" spc="300" dirty="0">
                <a:solidFill>
                  <a:srgbClr val="8FBFC9"/>
                </a:solidFill>
                <a:latin typeface="Calibri" pitchFamily="34" charset="0"/>
                <a:ea typeface="Calibri" pitchFamily="34" charset="-122"/>
                <a:cs typeface="Calibri" pitchFamily="34" charset="-120"/>
              </a:rPr>
              <a:t>CFPB CONSUMER COMPLAINT ANALYTICS</a:t>
            </a:r>
            <a:endParaRPr lang="en-US" sz="1400" dirty="0"/>
          </a:p>
        </p:txBody>
      </p:sp>
      <p:sp>
        <p:nvSpPr>
          <p:cNvPr id="5" name="Text 3"/>
          <p:cNvSpPr txBox="1"/>
          <p:nvPr/>
        </p:nvSpPr>
        <p:spPr>
          <a:xfrm>
            <a:off x="822960" y="2926080"/>
            <a:ext cx="10515600" cy="1463040"/>
          </a:xfrm>
          <a:prstGeom prst="rect">
            <a:avLst/>
          </a:prstGeom>
          <a:noFill/>
          <a:ln/>
        </p:spPr>
        <p:txBody>
          <a:bodyPr wrap="square" lIns="0" tIns="0" rIns="0" bIns="0" rtlCol="0" anchor="ctr"/>
          <a:lstStyle/>
          <a:p>
            <a:pPr marL="0" indent="0">
              <a:lnSpc>
                <a:spcPts val="4400"/>
              </a:lnSpc>
              <a:buNone/>
            </a:pPr>
            <a:r>
              <a:rPr lang="en-US" sz="4000" b="1" dirty="0">
                <a:solidFill>
                  <a:srgbClr val="FFFFFF"/>
                </a:solidFill>
                <a:latin typeface="Cambria" pitchFamily="34" charset="0"/>
                <a:ea typeface="Cambria" pitchFamily="34" charset="-122"/>
                <a:cs typeface="Cambria" pitchFamily="34" charset="-120"/>
              </a:rPr>
              <a:t>Turning Five Years of Complaint Data Into Operational Insight</a:t>
            </a:r>
            <a:endParaRPr lang="en-US" sz="4000" dirty="0"/>
          </a:p>
        </p:txBody>
      </p:sp>
      <p:sp>
        <p:nvSpPr>
          <p:cNvPr id="6" name="Text 4"/>
          <p:cNvSpPr txBox="1"/>
          <p:nvPr/>
        </p:nvSpPr>
        <p:spPr>
          <a:xfrm>
            <a:off x="822960" y="4343400"/>
            <a:ext cx="10058400" cy="457200"/>
          </a:xfrm>
          <a:prstGeom prst="rect">
            <a:avLst/>
          </a:prstGeom>
          <a:noFill/>
          <a:ln/>
        </p:spPr>
        <p:txBody>
          <a:bodyPr wrap="square" lIns="0" tIns="0" rIns="0" bIns="0" rtlCol="0" anchor="ctr"/>
          <a:lstStyle/>
          <a:p>
            <a:pPr marL="0" indent="0">
              <a:buNone/>
            </a:pPr>
            <a:r>
              <a:rPr lang="en-US" sz="1500" i="1" dirty="0">
                <a:solidFill>
                  <a:srgbClr val="CADCE2"/>
                </a:solidFill>
                <a:latin typeface="Calibri" pitchFamily="34" charset="0"/>
                <a:ea typeface="Calibri" pitchFamily="34" charset="-122"/>
                <a:cs typeface="Calibri" pitchFamily="34" charset="-120"/>
              </a:rPr>
              <a:t>Bank of America  •  Consumer Financial Protection Bureau Complaints  •  2017–2023</a:t>
            </a:r>
            <a:endParaRPr lang="en-US" sz="1500" dirty="0"/>
          </a:p>
        </p:txBody>
      </p:sp>
      <p:sp>
        <p:nvSpPr>
          <p:cNvPr id="7" name="Text 5"/>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BFD8DE"/>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8" name="Text 6"/>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BFD8DE"/>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200" b="1" kern="0" spc="200" dirty="0">
                <a:solidFill>
                  <a:srgbClr val="0F7B8A"/>
                </a:solidFill>
                <a:latin typeface="Calibri" pitchFamily="34" charset="0"/>
                <a:ea typeface="Calibri" pitchFamily="34" charset="-122"/>
                <a:cs typeface="Calibri" pitchFamily="34" charset="-120"/>
              </a:rPr>
              <a:t>BACKGROUND</a:t>
            </a:r>
            <a:endParaRPr lang="en-US" sz="1200" dirty="0"/>
          </a:p>
        </p:txBody>
      </p:sp>
      <p:sp>
        <p:nvSpPr>
          <p:cNvPr id="3" name="Text 1"/>
          <p:cNvSpPr txBox="1"/>
          <p:nvPr/>
        </p:nvSpPr>
        <p:spPr>
          <a:xfrm>
            <a:off x="548640" y="621792"/>
            <a:ext cx="10607040" cy="822960"/>
          </a:xfrm>
          <a:prstGeom prst="rect">
            <a:avLst/>
          </a:prstGeom>
          <a:noFill/>
          <a:ln/>
        </p:spPr>
        <p:txBody>
          <a:bodyPr wrap="square" lIns="0" tIns="0" rIns="0" bIns="0" rtlCol="0" anchor="ctr"/>
          <a:lstStyle/>
          <a:p>
            <a:pPr marL="0" indent="0">
              <a:lnSpc>
                <a:spcPts val="3200"/>
              </a:lnSpc>
              <a:buNone/>
            </a:pPr>
            <a:r>
              <a:rPr lang="en-US" sz="2800" b="1" dirty="0">
                <a:solidFill>
                  <a:srgbClr val="1B2A41"/>
                </a:solidFill>
                <a:latin typeface="Cambria" pitchFamily="34" charset="0"/>
                <a:ea typeface="Cambria" pitchFamily="34" charset="-122"/>
                <a:cs typeface="Cambria" pitchFamily="34" charset="-120"/>
              </a:rPr>
              <a:t>Why This Project Matters</a:t>
            </a:r>
            <a:endParaRPr lang="en-US" sz="2800" dirty="0"/>
          </a:p>
        </p:txBody>
      </p:sp>
      <p:sp>
        <p:nvSpPr>
          <p:cNvPr id="4" name="Shape 2"/>
          <p:cNvSpPr/>
          <p:nvPr/>
        </p:nvSpPr>
        <p:spPr>
          <a:xfrm>
            <a:off x="548640" y="1783080"/>
            <a:ext cx="11064240" cy="1444752"/>
          </a:xfrm>
          <a:prstGeom prst="roundRect">
            <a:avLst>
              <a:gd name="adj" fmla="val 5063"/>
            </a:avLst>
          </a:prstGeom>
          <a:solidFill>
            <a:srgbClr val="EAF1F5"/>
          </a:solidFill>
          <a:ln/>
          <a:effectLst>
            <a:outerShdw blurRad="88900" dist="25400" dir="5400000" algn="bl" rotWithShape="0">
              <a:srgbClr val="1B2A41">
                <a:alpha val="12000"/>
              </a:srgbClr>
            </a:outerShdw>
          </a:effectLst>
        </p:spPr>
      </p:sp>
      <p:sp>
        <p:nvSpPr>
          <p:cNvPr id="5" name="Shape 3"/>
          <p:cNvSpPr/>
          <p:nvPr/>
        </p:nvSpPr>
        <p:spPr>
          <a:xfrm>
            <a:off x="868680" y="2253996"/>
            <a:ext cx="502920" cy="502920"/>
          </a:xfrm>
          <a:prstGeom prst="ellipse">
            <a:avLst/>
          </a:prstGeom>
          <a:solidFill>
            <a:srgbClr val="0F7B8A"/>
          </a:solidFill>
          <a:ln/>
        </p:spPr>
      </p:sp>
      <p:sp>
        <p:nvSpPr>
          <p:cNvPr id="6" name="Text 4"/>
          <p:cNvSpPr txBox="1"/>
          <p:nvPr/>
        </p:nvSpPr>
        <p:spPr>
          <a:xfrm>
            <a:off x="868680" y="225399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645920" y="1947672"/>
            <a:ext cx="9692640" cy="365760"/>
          </a:xfrm>
          <a:prstGeom prst="rect">
            <a:avLst/>
          </a:prstGeom>
          <a:noFill/>
          <a:ln/>
        </p:spPr>
        <p:txBody>
          <a:bodyPr wrap="square" lIns="0" tIns="0" rIns="0" bIns="0" rtlCol="0" anchor="ctr"/>
          <a:lstStyle/>
          <a:p>
            <a:pPr marL="0" indent="0">
              <a:buNone/>
            </a:pPr>
            <a:r>
              <a:rPr lang="en-US" sz="1600" b="1" dirty="0">
                <a:solidFill>
                  <a:srgbClr val="1B2A41"/>
                </a:solidFill>
                <a:latin typeface="Cambria" pitchFamily="34" charset="0"/>
                <a:ea typeface="Cambria" pitchFamily="34" charset="-122"/>
                <a:cs typeface="Cambria" pitchFamily="34" charset="-120"/>
              </a:rPr>
              <a:t>Current Situation</a:t>
            </a:r>
            <a:endParaRPr lang="en-US" sz="1600" dirty="0"/>
          </a:p>
        </p:txBody>
      </p:sp>
      <p:sp>
        <p:nvSpPr>
          <p:cNvPr id="8" name="Text 6"/>
          <p:cNvSpPr txBox="1"/>
          <p:nvPr/>
        </p:nvSpPr>
        <p:spPr>
          <a:xfrm>
            <a:off x="1645920" y="2313432"/>
            <a:ext cx="9692640" cy="822960"/>
          </a:xfrm>
          <a:prstGeom prst="rect">
            <a:avLst/>
          </a:prstGeom>
          <a:noFill/>
          <a:ln/>
        </p:spPr>
        <p:txBody>
          <a:bodyPr wrap="square" lIns="0" tIns="0" rIns="0" bIns="0" rtlCol="0" anchor="ctr"/>
          <a:lstStyle/>
          <a:p>
            <a:pPr marL="0" indent="0">
              <a:lnSpc>
                <a:spcPts val="1600"/>
              </a:lnSpc>
              <a:buNone/>
            </a:pPr>
            <a:r>
              <a:rPr lang="en-US" sz="1250" dirty="0">
                <a:solidFill>
                  <a:srgbClr val="6B7A89"/>
                </a:solidFill>
                <a:latin typeface="Calibri" pitchFamily="34" charset="0"/>
                <a:ea typeface="Calibri" pitchFamily="34" charset="-122"/>
                <a:cs typeface="Calibri" pitchFamily="34" charset="-120"/>
              </a:rPr>
              <a:t>Bank of America, like all financial institutions, must handle consumer complaints submitted through the CFPB. Between 2017–2023, thousands of complaints were logged across products like credit cards, mortgages, and bank accounts — but the data remains raw and unorganized.</a:t>
            </a:r>
            <a:endParaRPr lang="en-US" sz="1250" dirty="0"/>
          </a:p>
        </p:txBody>
      </p:sp>
      <p:sp>
        <p:nvSpPr>
          <p:cNvPr id="9" name="Shape 7"/>
          <p:cNvSpPr/>
          <p:nvPr/>
        </p:nvSpPr>
        <p:spPr>
          <a:xfrm>
            <a:off x="548640" y="3429000"/>
            <a:ext cx="11064240" cy="1444752"/>
          </a:xfrm>
          <a:prstGeom prst="roundRect">
            <a:avLst>
              <a:gd name="adj" fmla="val 5063"/>
            </a:avLst>
          </a:prstGeom>
          <a:solidFill>
            <a:srgbClr val="EAF1F5"/>
          </a:solidFill>
          <a:ln/>
          <a:effectLst>
            <a:outerShdw blurRad="88900" dist="25400" dir="5400000" algn="bl" rotWithShape="0">
              <a:srgbClr val="1B2A41">
                <a:alpha val="12000"/>
              </a:srgbClr>
            </a:outerShdw>
          </a:effectLst>
        </p:spPr>
      </p:sp>
      <p:sp>
        <p:nvSpPr>
          <p:cNvPr id="10" name="Shape 8"/>
          <p:cNvSpPr/>
          <p:nvPr/>
        </p:nvSpPr>
        <p:spPr>
          <a:xfrm>
            <a:off x="868680" y="3899916"/>
            <a:ext cx="502920" cy="502920"/>
          </a:xfrm>
          <a:prstGeom prst="ellipse">
            <a:avLst/>
          </a:prstGeom>
          <a:solidFill>
            <a:srgbClr val="D64545"/>
          </a:solidFill>
          <a:ln/>
        </p:spPr>
      </p:sp>
      <p:sp>
        <p:nvSpPr>
          <p:cNvPr id="11" name="Text 9"/>
          <p:cNvSpPr txBox="1"/>
          <p:nvPr/>
        </p:nvSpPr>
        <p:spPr>
          <a:xfrm>
            <a:off x="868680" y="389991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645920" y="3593592"/>
            <a:ext cx="9692640" cy="365760"/>
          </a:xfrm>
          <a:prstGeom prst="rect">
            <a:avLst/>
          </a:prstGeom>
          <a:noFill/>
          <a:ln/>
        </p:spPr>
        <p:txBody>
          <a:bodyPr wrap="square" lIns="0" tIns="0" rIns="0" bIns="0" rtlCol="0" anchor="ctr"/>
          <a:lstStyle/>
          <a:p>
            <a:pPr marL="0" indent="0">
              <a:buNone/>
            </a:pPr>
            <a:r>
              <a:rPr lang="en-US" sz="1600" b="1" dirty="0">
                <a:solidFill>
                  <a:srgbClr val="1B2A41"/>
                </a:solidFill>
                <a:latin typeface="Cambria" pitchFamily="34" charset="0"/>
                <a:ea typeface="Cambria" pitchFamily="34" charset="-122"/>
                <a:cs typeface="Cambria" pitchFamily="34" charset="-120"/>
              </a:rPr>
              <a:t>The Problem</a:t>
            </a:r>
            <a:endParaRPr lang="en-US" sz="1600" dirty="0"/>
          </a:p>
        </p:txBody>
      </p:sp>
      <p:sp>
        <p:nvSpPr>
          <p:cNvPr id="13" name="Text 11"/>
          <p:cNvSpPr txBox="1"/>
          <p:nvPr/>
        </p:nvSpPr>
        <p:spPr>
          <a:xfrm>
            <a:off x="1645920" y="3959352"/>
            <a:ext cx="9692640" cy="822960"/>
          </a:xfrm>
          <a:prstGeom prst="rect">
            <a:avLst/>
          </a:prstGeom>
          <a:noFill/>
          <a:ln/>
        </p:spPr>
        <p:txBody>
          <a:bodyPr wrap="square" lIns="0" tIns="0" rIns="0" bIns="0" rtlCol="0" anchor="ctr"/>
          <a:lstStyle/>
          <a:p>
            <a:pPr marL="0" indent="0">
              <a:lnSpc>
                <a:spcPts val="1600"/>
              </a:lnSpc>
              <a:buNone/>
            </a:pPr>
            <a:r>
              <a:rPr lang="en-US" sz="1250" dirty="0">
                <a:solidFill>
                  <a:srgbClr val="6B7A89"/>
                </a:solidFill>
                <a:latin typeface="Calibri" pitchFamily="34" charset="0"/>
                <a:ea typeface="Calibri" pitchFamily="34" charset="-122"/>
                <a:cs typeface="Calibri" pitchFamily="34" charset="-120"/>
              </a:rPr>
              <a:t>Key questions stay unanswered: Does complaint volume follow a pattern? Which products or issues drive dissatisfaction? How consistently are disputes resolved, and where do response delays occur? These gaps carry real customer experience and regulatory risk.</a:t>
            </a:r>
            <a:endParaRPr lang="en-US" sz="1250" dirty="0"/>
          </a:p>
        </p:txBody>
      </p:sp>
      <p:sp>
        <p:nvSpPr>
          <p:cNvPr id="14" name="Shape 12"/>
          <p:cNvSpPr/>
          <p:nvPr/>
        </p:nvSpPr>
        <p:spPr>
          <a:xfrm>
            <a:off x="548640" y="5074920"/>
            <a:ext cx="11064240" cy="1444752"/>
          </a:xfrm>
          <a:prstGeom prst="roundRect">
            <a:avLst>
              <a:gd name="adj" fmla="val 5063"/>
            </a:avLst>
          </a:prstGeom>
          <a:solidFill>
            <a:srgbClr val="EAF1F5"/>
          </a:solidFill>
          <a:ln/>
          <a:effectLst>
            <a:outerShdw blurRad="88900" dist="25400" dir="5400000" algn="bl" rotWithShape="0">
              <a:srgbClr val="1B2A41">
                <a:alpha val="12000"/>
              </a:srgbClr>
            </a:outerShdw>
          </a:effectLst>
        </p:spPr>
      </p:sp>
      <p:sp>
        <p:nvSpPr>
          <p:cNvPr id="15" name="Shape 13"/>
          <p:cNvSpPr/>
          <p:nvPr/>
        </p:nvSpPr>
        <p:spPr>
          <a:xfrm>
            <a:off x="868680" y="5545836"/>
            <a:ext cx="502920" cy="502920"/>
          </a:xfrm>
          <a:prstGeom prst="ellipse">
            <a:avLst/>
          </a:prstGeom>
          <a:solidFill>
            <a:srgbClr val="F2A541"/>
          </a:solidFill>
          <a:ln/>
        </p:spPr>
      </p:sp>
      <p:sp>
        <p:nvSpPr>
          <p:cNvPr id="16" name="Text 14"/>
          <p:cNvSpPr txBox="1"/>
          <p:nvPr/>
        </p:nvSpPr>
        <p:spPr>
          <a:xfrm>
            <a:off x="868680" y="554583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645920" y="5239512"/>
            <a:ext cx="9692640" cy="365760"/>
          </a:xfrm>
          <a:prstGeom prst="rect">
            <a:avLst/>
          </a:prstGeom>
          <a:noFill/>
          <a:ln/>
        </p:spPr>
        <p:txBody>
          <a:bodyPr wrap="square" lIns="0" tIns="0" rIns="0" bIns="0" rtlCol="0" anchor="ctr"/>
          <a:lstStyle/>
          <a:p>
            <a:pPr marL="0" indent="0">
              <a:buNone/>
            </a:pPr>
            <a:r>
              <a:rPr lang="en-US" sz="1600" b="1" dirty="0">
                <a:solidFill>
                  <a:srgbClr val="1B2A41"/>
                </a:solidFill>
                <a:latin typeface="Cambria" pitchFamily="34" charset="0"/>
                <a:ea typeface="Cambria" pitchFamily="34" charset="-122"/>
                <a:cs typeface="Cambria" pitchFamily="34" charset="-120"/>
              </a:rPr>
              <a:t>Expected Outcome</a:t>
            </a:r>
            <a:endParaRPr lang="en-US" sz="1600" dirty="0"/>
          </a:p>
        </p:txBody>
      </p:sp>
      <p:sp>
        <p:nvSpPr>
          <p:cNvPr id="18" name="Text 16"/>
          <p:cNvSpPr txBox="1"/>
          <p:nvPr/>
        </p:nvSpPr>
        <p:spPr>
          <a:xfrm>
            <a:off x="1645920" y="5605272"/>
            <a:ext cx="9692640" cy="822960"/>
          </a:xfrm>
          <a:prstGeom prst="rect">
            <a:avLst/>
          </a:prstGeom>
          <a:noFill/>
          <a:ln/>
        </p:spPr>
        <p:txBody>
          <a:bodyPr wrap="square" lIns="0" tIns="0" rIns="0" bIns="0" rtlCol="0" anchor="ctr"/>
          <a:lstStyle/>
          <a:p>
            <a:pPr marL="0" indent="0">
              <a:lnSpc>
                <a:spcPts val="1600"/>
              </a:lnSpc>
              <a:buNone/>
            </a:pPr>
            <a:r>
              <a:rPr lang="en-US" sz="1250" dirty="0">
                <a:solidFill>
                  <a:srgbClr val="6B7A89"/>
                </a:solidFill>
                <a:latin typeface="Calibri" pitchFamily="34" charset="0"/>
                <a:ea typeface="Calibri" pitchFamily="34" charset="-122"/>
                <a:cs typeface="Calibri" pitchFamily="34" charset="-120"/>
              </a:rPr>
              <a:t>This project analyzes the data to uncover evidence-based insights seasonality, top problem areas, resolution consistency, and untimely-response drivers, so teams can prioritize improvements based on data, not assumptions.</a:t>
            </a:r>
            <a:endParaRPr lang="en-US" sz="1250" dirty="0"/>
          </a:p>
        </p:txBody>
      </p:sp>
      <p:sp>
        <p:nvSpPr>
          <p:cNvPr id="19" name="Text 17"/>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B7A89"/>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20" name="Text 18"/>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200" b="1" kern="0" spc="200" dirty="0">
                <a:solidFill>
                  <a:srgbClr val="0F7B8A"/>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621792"/>
            <a:ext cx="10607040" cy="822960"/>
          </a:xfrm>
          <a:prstGeom prst="rect">
            <a:avLst/>
          </a:prstGeom>
          <a:noFill/>
          <a:ln/>
        </p:spPr>
        <p:txBody>
          <a:bodyPr wrap="square" lIns="0" tIns="0" rIns="0" bIns="0" rtlCol="0" anchor="ctr"/>
          <a:lstStyle/>
          <a:p>
            <a:pPr marL="0" indent="0">
              <a:lnSpc>
                <a:spcPts val="3200"/>
              </a:lnSpc>
              <a:buNone/>
            </a:pPr>
            <a:r>
              <a:rPr lang="en-US" sz="2800" b="1" dirty="0">
                <a:solidFill>
                  <a:srgbClr val="1B2A41"/>
                </a:solidFill>
                <a:latin typeface="Cambria" pitchFamily="34" charset="0"/>
                <a:ea typeface="Cambria" pitchFamily="34" charset="-122"/>
                <a:cs typeface="Cambria" pitchFamily="34" charset="-120"/>
              </a:rPr>
              <a:t>Four Questions This Analysis Answers</a:t>
            </a:r>
            <a:endParaRPr lang="en-US" sz="2800" dirty="0"/>
          </a:p>
        </p:txBody>
      </p:sp>
      <p:sp>
        <p:nvSpPr>
          <p:cNvPr id="4" name="Shape 2"/>
          <p:cNvSpPr/>
          <p:nvPr/>
        </p:nvSpPr>
        <p:spPr>
          <a:xfrm>
            <a:off x="548640" y="1874520"/>
            <a:ext cx="5440680" cy="1828800"/>
          </a:xfrm>
          <a:prstGeom prst="roundRect">
            <a:avLst>
              <a:gd name="adj" fmla="val 4000"/>
            </a:avLst>
          </a:prstGeom>
          <a:solidFill>
            <a:srgbClr val="EAF1F5"/>
          </a:solidFill>
          <a:ln/>
          <a:effectLst>
            <a:outerShdw blurRad="88900" dist="25400" dir="5400000" algn="bl" rotWithShape="0">
              <a:srgbClr val="1B2A41">
                <a:alpha val="12000"/>
              </a:srgbClr>
            </a:outerShdw>
          </a:effectLst>
        </p:spPr>
      </p:sp>
      <p:sp>
        <p:nvSpPr>
          <p:cNvPr id="5" name="Shape 3"/>
          <p:cNvSpPr/>
          <p:nvPr/>
        </p:nvSpPr>
        <p:spPr>
          <a:xfrm>
            <a:off x="868680" y="2194560"/>
            <a:ext cx="548640" cy="548640"/>
          </a:xfrm>
          <a:prstGeom prst="ellipse">
            <a:avLst/>
          </a:prstGeom>
          <a:solidFill>
            <a:srgbClr val="0F7B8A"/>
          </a:solidFill>
          <a:ln/>
        </p:spPr>
      </p:sp>
      <p:sp>
        <p:nvSpPr>
          <p:cNvPr id="6" name="Text 4"/>
          <p:cNvSpPr txBox="1"/>
          <p:nvPr/>
        </p:nvSpPr>
        <p:spPr>
          <a:xfrm>
            <a:off x="868680" y="21945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868680" y="2834640"/>
            <a:ext cx="4846320" cy="365760"/>
          </a:xfrm>
          <a:prstGeom prst="rect">
            <a:avLst/>
          </a:prstGeom>
          <a:noFill/>
          <a:ln/>
        </p:spPr>
        <p:txBody>
          <a:bodyPr wrap="square" lIns="0" tIns="0" rIns="0" bIns="0" rtlCol="0" anchor="ctr"/>
          <a:lstStyle/>
          <a:p>
            <a:pPr marL="0" indent="0">
              <a:buNone/>
            </a:pPr>
            <a:r>
              <a:rPr lang="en-US" sz="1550" b="1" dirty="0">
                <a:solidFill>
                  <a:srgbClr val="1B2A41"/>
                </a:solidFill>
                <a:latin typeface="Cambria" pitchFamily="34" charset="0"/>
                <a:ea typeface="Cambria" pitchFamily="34" charset="-122"/>
                <a:cs typeface="Cambria" pitchFamily="34" charset="-120"/>
              </a:rPr>
              <a:t>Seasonal Patterns</a:t>
            </a:r>
            <a:endParaRPr lang="en-US" sz="1550" dirty="0"/>
          </a:p>
        </p:txBody>
      </p:sp>
      <p:sp>
        <p:nvSpPr>
          <p:cNvPr id="8" name="Text 6"/>
          <p:cNvSpPr txBox="1"/>
          <p:nvPr/>
        </p:nvSpPr>
        <p:spPr>
          <a:xfrm>
            <a:off x="868680" y="3172968"/>
            <a:ext cx="4846320" cy="457200"/>
          </a:xfrm>
          <a:prstGeom prst="rect">
            <a:avLst/>
          </a:prstGeom>
          <a:noFill/>
          <a:ln/>
        </p:spPr>
        <p:txBody>
          <a:bodyPr wrap="square" lIns="0" tIns="0" rIns="0" bIns="0" rtlCol="0" anchor="ctr"/>
          <a:lstStyle/>
          <a:p>
            <a:pPr marL="0" indent="0">
              <a:lnSpc>
                <a:spcPts val="1500"/>
              </a:lnSpc>
              <a:buNone/>
            </a:pPr>
            <a:r>
              <a:rPr lang="en-US" sz="1200" dirty="0">
                <a:solidFill>
                  <a:srgbClr val="6B7A89"/>
                </a:solidFill>
                <a:latin typeface="Calibri" pitchFamily="34" charset="0"/>
                <a:ea typeface="Calibri" pitchFamily="34" charset="-122"/>
                <a:cs typeface="Calibri" pitchFamily="34" charset="-120"/>
              </a:rPr>
              <a:t>Does complaint volume rise or fall predictably by month or season?</a:t>
            </a:r>
            <a:endParaRPr lang="en-US" sz="1200" dirty="0"/>
          </a:p>
        </p:txBody>
      </p:sp>
      <p:sp>
        <p:nvSpPr>
          <p:cNvPr id="9" name="Shape 7"/>
          <p:cNvSpPr/>
          <p:nvPr/>
        </p:nvSpPr>
        <p:spPr>
          <a:xfrm>
            <a:off x="6172200" y="1874520"/>
            <a:ext cx="5440680" cy="1828800"/>
          </a:xfrm>
          <a:prstGeom prst="roundRect">
            <a:avLst>
              <a:gd name="adj" fmla="val 4000"/>
            </a:avLst>
          </a:prstGeom>
          <a:solidFill>
            <a:srgbClr val="EAF1F5"/>
          </a:solidFill>
          <a:ln/>
          <a:effectLst>
            <a:outerShdw blurRad="88900" dist="25400" dir="5400000" algn="bl" rotWithShape="0">
              <a:srgbClr val="1B2A41">
                <a:alpha val="12000"/>
              </a:srgbClr>
            </a:outerShdw>
          </a:effectLst>
        </p:spPr>
      </p:sp>
      <p:sp>
        <p:nvSpPr>
          <p:cNvPr id="10" name="Shape 8"/>
          <p:cNvSpPr/>
          <p:nvPr/>
        </p:nvSpPr>
        <p:spPr>
          <a:xfrm>
            <a:off x="6492240" y="2194560"/>
            <a:ext cx="548640" cy="548640"/>
          </a:xfrm>
          <a:prstGeom prst="ellipse">
            <a:avLst/>
          </a:prstGeom>
          <a:solidFill>
            <a:srgbClr val="0F7B8A"/>
          </a:solidFill>
          <a:ln/>
        </p:spPr>
      </p:sp>
      <p:sp>
        <p:nvSpPr>
          <p:cNvPr id="11" name="Text 9"/>
          <p:cNvSpPr txBox="1"/>
          <p:nvPr/>
        </p:nvSpPr>
        <p:spPr>
          <a:xfrm>
            <a:off x="6492240" y="21945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6492240" y="2834640"/>
            <a:ext cx="4846320" cy="365760"/>
          </a:xfrm>
          <a:prstGeom prst="rect">
            <a:avLst/>
          </a:prstGeom>
          <a:noFill/>
          <a:ln/>
        </p:spPr>
        <p:txBody>
          <a:bodyPr wrap="square" lIns="0" tIns="0" rIns="0" bIns="0" rtlCol="0" anchor="ctr"/>
          <a:lstStyle/>
          <a:p>
            <a:pPr marL="0" indent="0">
              <a:buNone/>
            </a:pPr>
            <a:r>
              <a:rPr lang="en-US" sz="1550" b="1" dirty="0">
                <a:solidFill>
                  <a:srgbClr val="1B2A41"/>
                </a:solidFill>
                <a:latin typeface="Cambria" pitchFamily="34" charset="0"/>
                <a:ea typeface="Cambria" pitchFamily="34" charset="-122"/>
                <a:cs typeface="Cambria" pitchFamily="34" charset="-120"/>
              </a:rPr>
              <a:t>Top Products &amp; Issues</a:t>
            </a:r>
            <a:endParaRPr lang="en-US" sz="1550" dirty="0"/>
          </a:p>
        </p:txBody>
      </p:sp>
      <p:sp>
        <p:nvSpPr>
          <p:cNvPr id="13" name="Text 11"/>
          <p:cNvSpPr txBox="1"/>
          <p:nvPr/>
        </p:nvSpPr>
        <p:spPr>
          <a:xfrm>
            <a:off x="6492240" y="3172968"/>
            <a:ext cx="4846320" cy="457200"/>
          </a:xfrm>
          <a:prstGeom prst="rect">
            <a:avLst/>
          </a:prstGeom>
          <a:noFill/>
          <a:ln/>
        </p:spPr>
        <p:txBody>
          <a:bodyPr wrap="square" lIns="0" tIns="0" rIns="0" bIns="0" rtlCol="0" anchor="ctr"/>
          <a:lstStyle/>
          <a:p>
            <a:pPr marL="0" indent="0">
              <a:lnSpc>
                <a:spcPts val="1500"/>
              </a:lnSpc>
              <a:buNone/>
            </a:pPr>
            <a:r>
              <a:rPr lang="en-US" sz="1200" dirty="0">
                <a:solidFill>
                  <a:srgbClr val="6B7A89"/>
                </a:solidFill>
                <a:latin typeface="Calibri" pitchFamily="34" charset="0"/>
                <a:ea typeface="Calibri" pitchFamily="34" charset="-122"/>
                <a:cs typeface="Calibri" pitchFamily="34" charset="-120"/>
              </a:rPr>
              <a:t>Which products and issues generate the most complaints?</a:t>
            </a:r>
            <a:endParaRPr lang="en-US" sz="1200" dirty="0"/>
          </a:p>
        </p:txBody>
      </p:sp>
      <p:sp>
        <p:nvSpPr>
          <p:cNvPr id="14" name="Shape 12"/>
          <p:cNvSpPr/>
          <p:nvPr/>
        </p:nvSpPr>
        <p:spPr>
          <a:xfrm>
            <a:off x="548640" y="3977640"/>
            <a:ext cx="5440680" cy="1828800"/>
          </a:xfrm>
          <a:prstGeom prst="roundRect">
            <a:avLst>
              <a:gd name="adj" fmla="val 4000"/>
            </a:avLst>
          </a:prstGeom>
          <a:solidFill>
            <a:srgbClr val="EAF1F5"/>
          </a:solidFill>
          <a:ln/>
          <a:effectLst>
            <a:outerShdw blurRad="88900" dist="25400" dir="5400000" algn="bl" rotWithShape="0">
              <a:srgbClr val="1B2A41">
                <a:alpha val="12000"/>
              </a:srgbClr>
            </a:outerShdw>
          </a:effectLst>
        </p:spPr>
      </p:sp>
      <p:sp>
        <p:nvSpPr>
          <p:cNvPr id="15" name="Shape 13"/>
          <p:cNvSpPr/>
          <p:nvPr/>
        </p:nvSpPr>
        <p:spPr>
          <a:xfrm>
            <a:off x="868680" y="4297680"/>
            <a:ext cx="548640" cy="548640"/>
          </a:xfrm>
          <a:prstGeom prst="ellipse">
            <a:avLst/>
          </a:prstGeom>
          <a:solidFill>
            <a:srgbClr val="0F7B8A"/>
          </a:solidFill>
          <a:ln/>
        </p:spPr>
      </p:sp>
      <p:sp>
        <p:nvSpPr>
          <p:cNvPr id="16" name="Text 14"/>
          <p:cNvSpPr txBox="1"/>
          <p:nvPr/>
        </p:nvSpPr>
        <p:spPr>
          <a:xfrm>
            <a:off x="868680" y="42976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868680" y="4937760"/>
            <a:ext cx="4846320" cy="365760"/>
          </a:xfrm>
          <a:prstGeom prst="rect">
            <a:avLst/>
          </a:prstGeom>
          <a:noFill/>
          <a:ln/>
        </p:spPr>
        <p:txBody>
          <a:bodyPr wrap="square" lIns="0" tIns="0" rIns="0" bIns="0" rtlCol="0" anchor="ctr"/>
          <a:lstStyle/>
          <a:p>
            <a:pPr marL="0" indent="0">
              <a:buNone/>
            </a:pPr>
            <a:r>
              <a:rPr lang="en-US" sz="1550" b="1" dirty="0">
                <a:solidFill>
                  <a:srgbClr val="1B2A41"/>
                </a:solidFill>
                <a:latin typeface="Cambria" pitchFamily="34" charset="0"/>
                <a:ea typeface="Cambria" pitchFamily="34" charset="-122"/>
                <a:cs typeface="Cambria" pitchFamily="34" charset="-120"/>
              </a:rPr>
              <a:t>Resolution Behavior</a:t>
            </a:r>
            <a:endParaRPr lang="en-US" sz="1550" dirty="0"/>
          </a:p>
        </p:txBody>
      </p:sp>
      <p:sp>
        <p:nvSpPr>
          <p:cNvPr id="18" name="Text 16"/>
          <p:cNvSpPr txBox="1"/>
          <p:nvPr/>
        </p:nvSpPr>
        <p:spPr>
          <a:xfrm>
            <a:off x="868680" y="5276088"/>
            <a:ext cx="4846320" cy="457200"/>
          </a:xfrm>
          <a:prstGeom prst="rect">
            <a:avLst/>
          </a:prstGeom>
          <a:noFill/>
          <a:ln/>
        </p:spPr>
        <p:txBody>
          <a:bodyPr wrap="square" lIns="0" tIns="0" rIns="0" bIns="0" rtlCol="0" anchor="ctr"/>
          <a:lstStyle/>
          <a:p>
            <a:pPr marL="0" indent="0">
              <a:lnSpc>
                <a:spcPts val="1500"/>
              </a:lnSpc>
              <a:buNone/>
            </a:pPr>
            <a:r>
              <a:rPr lang="en-US" sz="1200" dirty="0">
                <a:solidFill>
                  <a:srgbClr val="6B7A89"/>
                </a:solidFill>
                <a:latin typeface="Calibri" pitchFamily="34" charset="0"/>
                <a:ea typeface="Calibri" pitchFamily="34" charset="-122"/>
                <a:cs typeface="Calibri" pitchFamily="34" charset="-120"/>
              </a:rPr>
              <a:t>How consistently and effectively are disputes resolved?</a:t>
            </a:r>
            <a:endParaRPr lang="en-US" sz="1200" dirty="0"/>
          </a:p>
        </p:txBody>
      </p:sp>
      <p:sp>
        <p:nvSpPr>
          <p:cNvPr id="19" name="Shape 17"/>
          <p:cNvSpPr/>
          <p:nvPr/>
        </p:nvSpPr>
        <p:spPr>
          <a:xfrm>
            <a:off x="6172200" y="3977640"/>
            <a:ext cx="5440680" cy="1828800"/>
          </a:xfrm>
          <a:prstGeom prst="roundRect">
            <a:avLst>
              <a:gd name="adj" fmla="val 4000"/>
            </a:avLst>
          </a:prstGeom>
          <a:solidFill>
            <a:srgbClr val="EAF1F5"/>
          </a:solidFill>
          <a:ln/>
          <a:effectLst>
            <a:outerShdw blurRad="88900" dist="25400" dir="5400000" algn="bl" rotWithShape="0">
              <a:srgbClr val="1B2A41">
                <a:alpha val="12000"/>
              </a:srgbClr>
            </a:outerShdw>
          </a:effectLst>
        </p:spPr>
      </p:sp>
      <p:sp>
        <p:nvSpPr>
          <p:cNvPr id="20" name="Shape 18"/>
          <p:cNvSpPr/>
          <p:nvPr/>
        </p:nvSpPr>
        <p:spPr>
          <a:xfrm>
            <a:off x="6492240" y="4297680"/>
            <a:ext cx="548640" cy="548640"/>
          </a:xfrm>
          <a:prstGeom prst="ellipse">
            <a:avLst/>
          </a:prstGeom>
          <a:solidFill>
            <a:srgbClr val="0F7B8A"/>
          </a:solidFill>
          <a:ln/>
        </p:spPr>
      </p:sp>
      <p:sp>
        <p:nvSpPr>
          <p:cNvPr id="21" name="Text 19"/>
          <p:cNvSpPr txBox="1"/>
          <p:nvPr/>
        </p:nvSpPr>
        <p:spPr>
          <a:xfrm>
            <a:off x="6492240" y="42976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txBox="1"/>
          <p:nvPr/>
        </p:nvSpPr>
        <p:spPr>
          <a:xfrm>
            <a:off x="6492240" y="4937760"/>
            <a:ext cx="4846320" cy="365760"/>
          </a:xfrm>
          <a:prstGeom prst="rect">
            <a:avLst/>
          </a:prstGeom>
          <a:noFill/>
          <a:ln/>
        </p:spPr>
        <p:txBody>
          <a:bodyPr wrap="square" lIns="0" tIns="0" rIns="0" bIns="0" rtlCol="0" anchor="ctr"/>
          <a:lstStyle/>
          <a:p>
            <a:pPr marL="0" indent="0">
              <a:buNone/>
            </a:pPr>
            <a:r>
              <a:rPr lang="en-US" sz="1550" b="1" dirty="0">
                <a:solidFill>
                  <a:srgbClr val="1B2A41"/>
                </a:solidFill>
                <a:latin typeface="Cambria" pitchFamily="34" charset="0"/>
                <a:ea typeface="Cambria" pitchFamily="34" charset="-122"/>
                <a:cs typeface="Cambria" pitchFamily="34" charset="-120"/>
              </a:rPr>
              <a:t>Untimely Response Drivers</a:t>
            </a:r>
            <a:endParaRPr lang="en-US" sz="1550" dirty="0"/>
          </a:p>
        </p:txBody>
      </p:sp>
      <p:sp>
        <p:nvSpPr>
          <p:cNvPr id="23" name="Text 21"/>
          <p:cNvSpPr txBox="1"/>
          <p:nvPr/>
        </p:nvSpPr>
        <p:spPr>
          <a:xfrm>
            <a:off x="6492240" y="5276088"/>
            <a:ext cx="4846320" cy="457200"/>
          </a:xfrm>
          <a:prstGeom prst="rect">
            <a:avLst/>
          </a:prstGeom>
          <a:noFill/>
          <a:ln/>
        </p:spPr>
        <p:txBody>
          <a:bodyPr wrap="square" lIns="0" tIns="0" rIns="0" bIns="0" rtlCol="0" anchor="ctr"/>
          <a:lstStyle/>
          <a:p>
            <a:pPr marL="0" indent="0">
              <a:lnSpc>
                <a:spcPts val="1500"/>
              </a:lnSpc>
              <a:buNone/>
            </a:pPr>
            <a:r>
              <a:rPr lang="en-US" sz="1200" dirty="0">
                <a:solidFill>
                  <a:srgbClr val="6B7A89"/>
                </a:solidFill>
                <a:latin typeface="Calibri" pitchFamily="34" charset="0"/>
                <a:ea typeface="Calibri" pitchFamily="34" charset="-122"/>
                <a:cs typeface="Calibri" pitchFamily="34" charset="-120"/>
              </a:rPr>
              <a:t>Which channels, products, issues, or states correlate with late responses?</a:t>
            </a:r>
            <a:endParaRPr lang="en-US" sz="1200" dirty="0"/>
          </a:p>
        </p:txBody>
      </p:sp>
      <p:sp>
        <p:nvSpPr>
          <p:cNvPr id="24" name="Text 22"/>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B7A89"/>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25" name="Text 23"/>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200" b="1" kern="0" spc="200" dirty="0">
                <a:solidFill>
                  <a:srgbClr val="0F7B8A"/>
                </a:solidFill>
                <a:latin typeface="Calibri" pitchFamily="34" charset="0"/>
                <a:ea typeface="Calibri" pitchFamily="34" charset="-122"/>
                <a:cs typeface="Calibri" pitchFamily="34" charset="-120"/>
              </a:rPr>
              <a:t>PATTERNS</a:t>
            </a:r>
            <a:endParaRPr lang="en-US" sz="1200" dirty="0"/>
          </a:p>
        </p:txBody>
      </p:sp>
      <p:sp>
        <p:nvSpPr>
          <p:cNvPr id="3" name="Text 1"/>
          <p:cNvSpPr txBox="1"/>
          <p:nvPr/>
        </p:nvSpPr>
        <p:spPr>
          <a:xfrm>
            <a:off x="548640" y="621792"/>
            <a:ext cx="10607040" cy="822960"/>
          </a:xfrm>
          <a:prstGeom prst="rect">
            <a:avLst/>
          </a:prstGeom>
          <a:noFill/>
          <a:ln/>
        </p:spPr>
        <p:txBody>
          <a:bodyPr wrap="square" lIns="0" tIns="0" rIns="0" bIns="0" rtlCol="0" anchor="ctr"/>
          <a:lstStyle/>
          <a:p>
            <a:pPr marL="0" indent="0">
              <a:lnSpc>
                <a:spcPts val="3200"/>
              </a:lnSpc>
              <a:buNone/>
            </a:pPr>
            <a:r>
              <a:rPr lang="en-US" sz="2800" b="1" dirty="0">
                <a:solidFill>
                  <a:srgbClr val="1B2A41"/>
                </a:solidFill>
                <a:latin typeface="Cambria" pitchFamily="34" charset="0"/>
                <a:ea typeface="Cambria" pitchFamily="34" charset="-122"/>
                <a:cs typeface="Cambria" pitchFamily="34" charset="-120"/>
              </a:rPr>
              <a:t>Complaint Volume Spikes Sharply At July 2023</a:t>
            </a:r>
            <a:endParaRPr lang="en-US" sz="2800" dirty="0"/>
          </a:p>
        </p:txBody>
      </p:sp>
      <p:sp>
        <p:nvSpPr>
          <p:cNvPr id="4" name="Shape 2"/>
          <p:cNvSpPr/>
          <p:nvPr/>
        </p:nvSpPr>
        <p:spPr>
          <a:xfrm>
            <a:off x="548640" y="1828800"/>
            <a:ext cx="3749040" cy="4114800"/>
          </a:xfrm>
          <a:prstGeom prst="roundRect">
            <a:avLst>
              <a:gd name="adj" fmla="val 1951"/>
            </a:avLst>
          </a:prstGeom>
          <a:solidFill>
            <a:srgbClr val="0E4F66"/>
          </a:solidFill>
          <a:ln/>
          <a:effectLst>
            <a:outerShdw blurRad="88900" dist="25400" dir="5400000" algn="bl" rotWithShape="0">
              <a:srgbClr val="1B2A41">
                <a:alpha val="12000"/>
              </a:srgbClr>
            </a:outerShdw>
          </a:effectLst>
        </p:spPr>
      </p:sp>
      <p:sp>
        <p:nvSpPr>
          <p:cNvPr id="5" name="Text 3"/>
          <p:cNvSpPr txBox="1"/>
          <p:nvPr/>
        </p:nvSpPr>
        <p:spPr>
          <a:xfrm>
            <a:off x="822960" y="2103120"/>
            <a:ext cx="3200400" cy="914400"/>
          </a:xfrm>
          <a:prstGeom prst="rect">
            <a:avLst/>
          </a:prstGeom>
          <a:noFill/>
          <a:ln/>
        </p:spPr>
        <p:txBody>
          <a:bodyPr wrap="square" lIns="0" tIns="0" rIns="0" bIns="0" rtlCol="0" anchor="ctr"/>
          <a:lstStyle/>
          <a:p>
            <a:pPr marL="0" indent="0">
              <a:buNone/>
            </a:pPr>
            <a:r>
              <a:rPr lang="en-US" sz="5200" b="1" dirty="0">
                <a:solidFill>
                  <a:srgbClr val="F2A541"/>
                </a:solidFill>
                <a:latin typeface="Cambria" pitchFamily="34" charset="0"/>
                <a:ea typeface="Cambria" pitchFamily="34" charset="-122"/>
                <a:cs typeface="Cambria" pitchFamily="34" charset="-120"/>
              </a:rPr>
              <a:t>1,749</a:t>
            </a:r>
            <a:endParaRPr lang="en-US" sz="5200" dirty="0"/>
          </a:p>
        </p:txBody>
      </p:sp>
      <p:sp>
        <p:nvSpPr>
          <p:cNvPr id="6" name="Text 4"/>
          <p:cNvSpPr txBox="1"/>
          <p:nvPr/>
        </p:nvSpPr>
        <p:spPr>
          <a:xfrm>
            <a:off x="822960" y="2971800"/>
            <a:ext cx="3200400" cy="548640"/>
          </a:xfrm>
          <a:prstGeom prst="rect">
            <a:avLst/>
          </a:prstGeom>
          <a:noFill/>
          <a:ln/>
        </p:spPr>
        <p:txBody>
          <a:bodyPr wrap="square" lIns="0" tIns="0" rIns="0" bIns="0" rtlCol="0" anchor="ctr"/>
          <a:lstStyle/>
          <a:p>
            <a:pPr marL="0" indent="0">
              <a:lnSpc>
                <a:spcPts val="1600"/>
              </a:lnSpc>
              <a:buNone/>
            </a:pPr>
            <a:r>
              <a:rPr lang="en-US" sz="1300" dirty="0">
                <a:solidFill>
                  <a:srgbClr val="CADCE2"/>
                </a:solidFill>
                <a:latin typeface="Calibri" pitchFamily="34" charset="0"/>
                <a:ea typeface="Calibri" pitchFamily="34" charset="-122"/>
                <a:cs typeface="Calibri" pitchFamily="34" charset="-120"/>
              </a:rPr>
              <a:t>Peak monthly complaints, recorded in July</a:t>
            </a:r>
            <a:endParaRPr lang="en-US" sz="1300" dirty="0"/>
          </a:p>
        </p:txBody>
      </p:sp>
      <p:sp>
        <p:nvSpPr>
          <p:cNvPr id="7" name="Text 5"/>
          <p:cNvSpPr txBox="1"/>
          <p:nvPr/>
        </p:nvSpPr>
        <p:spPr>
          <a:xfrm>
            <a:off x="822960" y="3703320"/>
            <a:ext cx="3200400" cy="2011680"/>
          </a:xfrm>
          <a:prstGeom prst="rect">
            <a:avLst/>
          </a:prstGeom>
          <a:noFill/>
          <a:ln/>
        </p:spPr>
        <p:txBody>
          <a:bodyPr wrap="square" lIns="0" tIns="0" rIns="0" bIns="0" rtlCol="0" anchor="ctr"/>
          <a:lstStyle/>
          <a:p>
            <a:pPr marL="342900" indent="-342900">
              <a:lnSpc>
                <a:spcPts val="1500"/>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Volume stayed stable (≈1,000–1,200) from January through June</a:t>
            </a:r>
            <a:endParaRPr lang="en-US" sz="1150" dirty="0"/>
          </a:p>
          <a:p>
            <a:pPr marL="342900" indent="-342900">
              <a:lnSpc>
                <a:spcPts val="1500"/>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Jumped sharply to 1,749 in July — the year's peak</a:t>
            </a:r>
            <a:endParaRPr lang="en-US" sz="1150" dirty="0"/>
          </a:p>
          <a:p>
            <a:pPr marL="342900" indent="-342900">
              <a:lnSpc>
                <a:spcPts val="1500"/>
              </a:lnSpc>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Dropped to its lowest point, 717, the very next month in August</a:t>
            </a:r>
            <a:endParaRPr lang="en-US" sz="1150" dirty="0"/>
          </a:p>
        </p:txBody>
      </p:sp>
      <p:graphicFrame>
        <p:nvGraphicFramePr>
          <p:cNvPr id="8" name="Chart 0"/>
          <p:cNvGraphicFramePr/>
          <p:nvPr/>
        </p:nvGraphicFramePr>
        <p:xfrm>
          <a:off x="4572000" y="1828800"/>
          <a:ext cx="667512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B7A89"/>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10" name="Text 7"/>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200" b="1" kern="0" spc="200" dirty="0">
                <a:solidFill>
                  <a:srgbClr val="0F7B8A"/>
                </a:solidFill>
                <a:latin typeface="Calibri" pitchFamily="34" charset="0"/>
                <a:ea typeface="Calibri" pitchFamily="34" charset="-122"/>
                <a:cs typeface="Calibri" pitchFamily="34" charset="-120"/>
              </a:rPr>
              <a:t>TOP PRODUCTS</a:t>
            </a:r>
            <a:endParaRPr lang="en-US" sz="1200" dirty="0"/>
          </a:p>
        </p:txBody>
      </p:sp>
      <p:sp>
        <p:nvSpPr>
          <p:cNvPr id="3" name="Text 1"/>
          <p:cNvSpPr txBox="1"/>
          <p:nvPr/>
        </p:nvSpPr>
        <p:spPr>
          <a:xfrm>
            <a:off x="548640" y="621792"/>
            <a:ext cx="10607040" cy="822960"/>
          </a:xfrm>
          <a:prstGeom prst="rect">
            <a:avLst/>
          </a:prstGeom>
          <a:noFill/>
          <a:ln/>
        </p:spPr>
        <p:txBody>
          <a:bodyPr wrap="square" lIns="0" tIns="0" rIns="0" bIns="0" rtlCol="0" anchor="ctr"/>
          <a:lstStyle/>
          <a:p>
            <a:pPr marL="0" indent="0">
              <a:lnSpc>
                <a:spcPts val="3200"/>
              </a:lnSpc>
              <a:buNone/>
            </a:pPr>
            <a:r>
              <a:rPr lang="en-US" sz="2800" b="1" dirty="0">
                <a:solidFill>
                  <a:srgbClr val="1B2A41"/>
                </a:solidFill>
                <a:latin typeface="Cambria" pitchFamily="34" charset="0"/>
                <a:ea typeface="Cambria" pitchFamily="34" charset="-122"/>
                <a:cs typeface="Cambria" pitchFamily="34" charset="-120"/>
              </a:rPr>
              <a:t>Bank Accounts Drive the Most Complaints</a:t>
            </a:r>
            <a:endParaRPr lang="en-US" sz="2800" dirty="0"/>
          </a:p>
        </p:txBody>
      </p:sp>
      <p:sp>
        <p:nvSpPr>
          <p:cNvPr id="4" name="Shape 2"/>
          <p:cNvSpPr/>
          <p:nvPr/>
        </p:nvSpPr>
        <p:spPr>
          <a:xfrm>
            <a:off x="548640" y="1828800"/>
            <a:ext cx="3749040" cy="4114800"/>
          </a:xfrm>
          <a:prstGeom prst="roundRect">
            <a:avLst>
              <a:gd name="adj" fmla="val 1951"/>
            </a:avLst>
          </a:prstGeom>
          <a:solidFill>
            <a:srgbClr val="EAF1F5"/>
          </a:solidFill>
          <a:ln/>
          <a:effectLst>
            <a:outerShdw blurRad="88900" dist="25400" dir="5400000" algn="bl" rotWithShape="0">
              <a:srgbClr val="1B2A41">
                <a:alpha val="12000"/>
              </a:srgbClr>
            </a:outerShdw>
          </a:effectLst>
        </p:spPr>
      </p:sp>
      <p:sp>
        <p:nvSpPr>
          <p:cNvPr id="5" name="Text 3"/>
          <p:cNvSpPr txBox="1"/>
          <p:nvPr/>
        </p:nvSpPr>
        <p:spPr>
          <a:xfrm>
            <a:off x="822960" y="2103120"/>
            <a:ext cx="3200400" cy="914400"/>
          </a:xfrm>
          <a:prstGeom prst="rect">
            <a:avLst/>
          </a:prstGeom>
          <a:noFill/>
          <a:ln/>
        </p:spPr>
        <p:txBody>
          <a:bodyPr wrap="square" lIns="0" tIns="0" rIns="0" bIns="0" rtlCol="0" anchor="ctr"/>
          <a:lstStyle/>
          <a:p>
            <a:pPr marL="0" indent="0">
              <a:buNone/>
            </a:pPr>
            <a:r>
              <a:rPr lang="en-US" sz="4800" b="1" dirty="0">
                <a:solidFill>
                  <a:srgbClr val="0F7B8A"/>
                </a:solidFill>
                <a:latin typeface="Cambria" pitchFamily="34" charset="0"/>
                <a:ea typeface="Cambria" pitchFamily="34" charset="-122"/>
                <a:cs typeface="Cambria" pitchFamily="34" charset="-120"/>
              </a:rPr>
              <a:t>4,085</a:t>
            </a:r>
            <a:endParaRPr lang="en-US" sz="4800" dirty="0"/>
          </a:p>
        </p:txBody>
      </p:sp>
      <p:sp>
        <p:nvSpPr>
          <p:cNvPr id="6" name="Text 4"/>
          <p:cNvSpPr txBox="1"/>
          <p:nvPr/>
        </p:nvSpPr>
        <p:spPr>
          <a:xfrm>
            <a:off x="822960" y="2926080"/>
            <a:ext cx="3200400" cy="640080"/>
          </a:xfrm>
          <a:prstGeom prst="rect">
            <a:avLst/>
          </a:prstGeom>
          <a:noFill/>
          <a:ln/>
        </p:spPr>
        <p:txBody>
          <a:bodyPr wrap="square" lIns="0" tIns="0" rIns="0" bIns="0" rtlCol="0" anchor="ctr"/>
          <a:lstStyle/>
          <a:p>
            <a:pPr marL="0" indent="0">
              <a:lnSpc>
                <a:spcPts val="1600"/>
              </a:lnSpc>
              <a:buNone/>
            </a:pPr>
            <a:r>
              <a:rPr lang="en-US" sz="1300" dirty="0">
                <a:solidFill>
                  <a:srgbClr val="1B2A41"/>
                </a:solidFill>
                <a:latin typeface="Calibri" pitchFamily="34" charset="0"/>
                <a:ea typeface="Calibri" pitchFamily="34" charset="-122"/>
                <a:cs typeface="Calibri" pitchFamily="34" charset="-120"/>
              </a:rPr>
              <a:t>Bank Account complaints — the most of any product</a:t>
            </a:r>
            <a:endParaRPr lang="en-US" sz="1300" dirty="0"/>
          </a:p>
        </p:txBody>
      </p:sp>
      <p:sp>
        <p:nvSpPr>
          <p:cNvPr id="7" name="Text 5"/>
          <p:cNvSpPr txBox="1"/>
          <p:nvPr/>
        </p:nvSpPr>
        <p:spPr>
          <a:xfrm>
            <a:off x="822960" y="3749040"/>
            <a:ext cx="3200400" cy="1920240"/>
          </a:xfrm>
          <a:prstGeom prst="rect">
            <a:avLst/>
          </a:prstGeom>
          <a:noFill/>
          <a:ln/>
        </p:spPr>
        <p:txBody>
          <a:bodyPr wrap="square" lIns="0" tIns="0" rIns="0" bIns="0" rtlCol="0" anchor="ctr"/>
          <a:lstStyle/>
          <a:p>
            <a:pPr marL="342900" indent="-342900">
              <a:lnSpc>
                <a:spcPts val="1500"/>
              </a:lnSpc>
              <a:spcAft>
                <a:spcPts val="1000"/>
              </a:spcAft>
              <a:buSzPct val="100000"/>
              <a:buChar char="●"/>
            </a:pPr>
            <a:r>
              <a:rPr lang="en-US" sz="1150" dirty="0">
                <a:solidFill>
                  <a:srgbClr val="6B7A89"/>
                </a:solidFill>
                <a:latin typeface="Calibri" pitchFamily="34" charset="0"/>
                <a:ea typeface="Calibri" pitchFamily="34" charset="-122"/>
                <a:cs typeface="Calibri" pitchFamily="34" charset="-120"/>
              </a:rPr>
              <a:t>Cards rank second at 2,398 complaints</a:t>
            </a:r>
            <a:endParaRPr lang="en-US" sz="1150" dirty="0"/>
          </a:p>
          <a:p>
            <a:pPr marL="342900" indent="-342900">
              <a:lnSpc>
                <a:spcPts val="1500"/>
              </a:lnSpc>
              <a:spcAft>
                <a:spcPts val="1000"/>
              </a:spcAft>
              <a:buSzPct val="100000"/>
              <a:buChar char="●"/>
            </a:pPr>
            <a:r>
              <a:rPr lang="en-US" sz="1150" dirty="0">
                <a:solidFill>
                  <a:srgbClr val="6B7A89"/>
                </a:solidFill>
                <a:latin typeface="Calibri" pitchFamily="34" charset="0"/>
                <a:ea typeface="Calibri" pitchFamily="34" charset="-122"/>
                <a:cs typeface="Calibri" pitchFamily="34" charset="-120"/>
              </a:rPr>
              <a:t>Together, Bank Accounts and Cards account for the majority of all complaints</a:t>
            </a:r>
            <a:endParaRPr lang="en-US" sz="1150" dirty="0"/>
          </a:p>
          <a:p>
            <a:pPr marL="342900" indent="-342900">
              <a:lnSpc>
                <a:spcPts val="1500"/>
              </a:lnSpc>
              <a:spcAft>
                <a:spcPts val="1000"/>
              </a:spcAft>
              <a:buSzPct val="100000"/>
              <a:buChar char="●"/>
            </a:pPr>
            <a:r>
              <a:rPr lang="en-US" sz="1150" dirty="0">
                <a:solidFill>
                  <a:srgbClr val="6B7A89"/>
                </a:solidFill>
                <a:latin typeface="Calibri" pitchFamily="34" charset="0"/>
                <a:ea typeface="Calibri" pitchFamily="34" charset="-122"/>
                <a:cs typeface="Calibri" pitchFamily="34" charset="-120"/>
              </a:rPr>
              <a:t>Loans generated the fewest complaints — just 26</a:t>
            </a:r>
            <a:endParaRPr lang="en-US" sz="1150" dirty="0"/>
          </a:p>
        </p:txBody>
      </p:sp>
      <p:graphicFrame>
        <p:nvGraphicFramePr>
          <p:cNvPr id="8" name="Chart 0"/>
          <p:cNvGraphicFramePr/>
          <p:nvPr/>
        </p:nvGraphicFramePr>
        <p:xfrm>
          <a:off x="4572000" y="1828800"/>
          <a:ext cx="667512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B7A89"/>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10" name="Text 7"/>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200" b="1" kern="0" spc="200" dirty="0">
                <a:solidFill>
                  <a:srgbClr val="0F7B8A"/>
                </a:solidFill>
                <a:latin typeface="Calibri" pitchFamily="34" charset="0"/>
                <a:ea typeface="Calibri" pitchFamily="34" charset="-122"/>
                <a:cs typeface="Calibri" pitchFamily="34" charset="-120"/>
              </a:rPr>
              <a:t>TOP ISSUES</a:t>
            </a:r>
            <a:endParaRPr lang="en-US" sz="1200" dirty="0"/>
          </a:p>
        </p:txBody>
      </p:sp>
      <p:sp>
        <p:nvSpPr>
          <p:cNvPr id="3" name="Text 1"/>
          <p:cNvSpPr txBox="1"/>
          <p:nvPr/>
        </p:nvSpPr>
        <p:spPr>
          <a:xfrm>
            <a:off x="548640" y="621792"/>
            <a:ext cx="10607040" cy="822960"/>
          </a:xfrm>
          <a:prstGeom prst="rect">
            <a:avLst/>
          </a:prstGeom>
          <a:noFill/>
          <a:ln/>
        </p:spPr>
        <p:txBody>
          <a:bodyPr wrap="square" lIns="0" tIns="0" rIns="0" bIns="0" rtlCol="0" anchor="ctr"/>
          <a:lstStyle/>
          <a:p>
            <a:pPr marL="0" indent="0">
              <a:lnSpc>
                <a:spcPts val="3200"/>
              </a:lnSpc>
              <a:buNone/>
            </a:pPr>
            <a:r>
              <a:rPr lang="en-US" sz="2800" b="1" dirty="0">
                <a:solidFill>
                  <a:srgbClr val="1B2A41"/>
                </a:solidFill>
                <a:latin typeface="Cambria" pitchFamily="34" charset="0"/>
                <a:ea typeface="Cambria" pitchFamily="34" charset="-122"/>
                <a:cs typeface="Cambria" pitchFamily="34" charset="-120"/>
              </a:rPr>
              <a:t>Customer Service Issues Dominate Complaints</a:t>
            </a:r>
            <a:endParaRPr lang="en-US" sz="2800" dirty="0"/>
          </a:p>
        </p:txBody>
      </p:sp>
      <p:sp>
        <p:nvSpPr>
          <p:cNvPr id="4" name="Shape 2"/>
          <p:cNvSpPr/>
          <p:nvPr/>
        </p:nvSpPr>
        <p:spPr>
          <a:xfrm>
            <a:off x="548640" y="1828800"/>
            <a:ext cx="3749040" cy="4114800"/>
          </a:xfrm>
          <a:prstGeom prst="roundRect">
            <a:avLst>
              <a:gd name="adj" fmla="val 1951"/>
            </a:avLst>
          </a:prstGeom>
          <a:solidFill>
            <a:srgbClr val="EAF1F5"/>
          </a:solidFill>
          <a:ln/>
          <a:effectLst>
            <a:outerShdw blurRad="88900" dist="25400" dir="5400000" algn="bl" rotWithShape="0">
              <a:srgbClr val="1B2A41">
                <a:alpha val="12000"/>
              </a:srgbClr>
            </a:outerShdw>
          </a:effectLst>
        </p:spPr>
      </p:sp>
      <p:sp>
        <p:nvSpPr>
          <p:cNvPr id="5" name="Text 3"/>
          <p:cNvSpPr txBox="1"/>
          <p:nvPr/>
        </p:nvSpPr>
        <p:spPr>
          <a:xfrm>
            <a:off x="822960" y="2103120"/>
            <a:ext cx="3200400" cy="914400"/>
          </a:xfrm>
          <a:prstGeom prst="rect">
            <a:avLst/>
          </a:prstGeom>
          <a:noFill/>
          <a:ln/>
        </p:spPr>
        <p:txBody>
          <a:bodyPr wrap="square" lIns="0" tIns="0" rIns="0" bIns="0" rtlCol="0" anchor="ctr"/>
          <a:lstStyle/>
          <a:p>
            <a:pPr marL="0" indent="0">
              <a:buNone/>
            </a:pPr>
            <a:r>
              <a:rPr lang="en-US" sz="4800" b="1" dirty="0">
                <a:solidFill>
                  <a:srgbClr val="0F7B8A"/>
                </a:solidFill>
                <a:latin typeface="Cambria" pitchFamily="34" charset="0"/>
                <a:ea typeface="Cambria" pitchFamily="34" charset="-122"/>
                <a:cs typeface="Cambria" pitchFamily="34" charset="-120"/>
              </a:rPr>
              <a:t>3,586</a:t>
            </a:r>
            <a:endParaRPr lang="en-US" sz="4800" dirty="0"/>
          </a:p>
        </p:txBody>
      </p:sp>
      <p:sp>
        <p:nvSpPr>
          <p:cNvPr id="6" name="Text 4"/>
          <p:cNvSpPr txBox="1"/>
          <p:nvPr/>
        </p:nvSpPr>
        <p:spPr>
          <a:xfrm>
            <a:off x="822960" y="2926080"/>
            <a:ext cx="3200400" cy="731520"/>
          </a:xfrm>
          <a:prstGeom prst="rect">
            <a:avLst/>
          </a:prstGeom>
          <a:noFill/>
          <a:ln/>
        </p:spPr>
        <p:txBody>
          <a:bodyPr wrap="square" lIns="0" tIns="0" rIns="0" bIns="0" rtlCol="0" anchor="ctr"/>
          <a:lstStyle/>
          <a:p>
            <a:pPr marL="0" indent="0">
              <a:lnSpc>
                <a:spcPts val="1600"/>
              </a:lnSpc>
              <a:buNone/>
            </a:pPr>
            <a:r>
              <a:rPr lang="en-US" sz="1300" dirty="0">
                <a:solidFill>
                  <a:srgbClr val="1B2A41"/>
                </a:solidFill>
                <a:latin typeface="Calibri" pitchFamily="34" charset="0"/>
                <a:ea typeface="Calibri" pitchFamily="34" charset="-122"/>
                <a:cs typeface="Calibri" pitchFamily="34" charset="-120"/>
              </a:rPr>
              <a:t>Customer Service &amp; Account Management complaints</a:t>
            </a:r>
            <a:endParaRPr lang="en-US" sz="1300" dirty="0"/>
          </a:p>
        </p:txBody>
      </p:sp>
      <p:sp>
        <p:nvSpPr>
          <p:cNvPr id="7" name="Text 5"/>
          <p:cNvSpPr txBox="1"/>
          <p:nvPr/>
        </p:nvSpPr>
        <p:spPr>
          <a:xfrm>
            <a:off x="822960" y="3886200"/>
            <a:ext cx="3200400" cy="1645920"/>
          </a:xfrm>
          <a:prstGeom prst="rect">
            <a:avLst/>
          </a:prstGeom>
          <a:noFill/>
          <a:ln/>
        </p:spPr>
        <p:txBody>
          <a:bodyPr wrap="square" lIns="0" tIns="0" rIns="0" bIns="0" rtlCol="0" anchor="ctr"/>
          <a:lstStyle/>
          <a:p>
            <a:pPr marL="342900" indent="-342900">
              <a:lnSpc>
                <a:spcPts val="1500"/>
              </a:lnSpc>
              <a:spcAft>
                <a:spcPts val="1000"/>
              </a:spcAft>
              <a:buSzPct val="100000"/>
              <a:buChar char="●"/>
            </a:pPr>
            <a:r>
              <a:rPr lang="en-US" sz="1150" dirty="0">
                <a:solidFill>
                  <a:srgbClr val="6B7A89"/>
                </a:solidFill>
                <a:latin typeface="Calibri" pitchFamily="34" charset="0"/>
                <a:ea typeface="Calibri" pitchFamily="34" charset="-122"/>
                <a:cs typeface="Calibri" pitchFamily="34" charset="-120"/>
              </a:rPr>
              <a:t>Nearly 3x the next-highest issue, Credit Reporting (1,382)</a:t>
            </a:r>
            <a:endParaRPr lang="en-US" sz="1150" dirty="0"/>
          </a:p>
          <a:p>
            <a:pPr marL="342900" indent="-342900">
              <a:lnSpc>
                <a:spcPts val="1500"/>
              </a:lnSpc>
              <a:spcAft>
                <a:spcPts val="1000"/>
              </a:spcAft>
              <a:buSzPct val="100000"/>
              <a:buChar char="●"/>
            </a:pPr>
            <a:r>
              <a:rPr lang="en-US" sz="1150" dirty="0">
                <a:solidFill>
                  <a:srgbClr val="6B7A89"/>
                </a:solidFill>
                <a:latin typeface="Calibri" pitchFamily="34" charset="0"/>
                <a:ea typeface="Calibri" pitchFamily="34" charset="-122"/>
                <a:cs typeface="Calibri" pitchFamily="34" charset="-120"/>
              </a:rPr>
              <a:t>Bank Accounts &amp; Overdrafts saw the fewest reported issues — just 177</a:t>
            </a:r>
            <a:endParaRPr lang="en-US" sz="1150" dirty="0"/>
          </a:p>
        </p:txBody>
      </p:sp>
      <p:graphicFrame>
        <p:nvGraphicFramePr>
          <p:cNvPr id="8" name="Chart 0"/>
          <p:cNvGraphicFramePr/>
          <p:nvPr/>
        </p:nvGraphicFramePr>
        <p:xfrm>
          <a:off x="4572000" y="1691640"/>
          <a:ext cx="667512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B7A89"/>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10" name="Text 7"/>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200" b="1" kern="0" spc="200" dirty="0">
                <a:solidFill>
                  <a:srgbClr val="0F7B8A"/>
                </a:solidFill>
                <a:latin typeface="Calibri" pitchFamily="34" charset="0"/>
                <a:ea typeface="Calibri" pitchFamily="34" charset="-122"/>
                <a:cs typeface="Calibri" pitchFamily="34" charset="-120"/>
              </a:rPr>
              <a:t>RESOLUTION</a:t>
            </a:r>
            <a:endParaRPr lang="en-US" sz="1200" dirty="0"/>
          </a:p>
        </p:txBody>
      </p:sp>
      <p:sp>
        <p:nvSpPr>
          <p:cNvPr id="3" name="Text 1"/>
          <p:cNvSpPr txBox="1"/>
          <p:nvPr/>
        </p:nvSpPr>
        <p:spPr>
          <a:xfrm>
            <a:off x="548640" y="621792"/>
            <a:ext cx="10607040" cy="822960"/>
          </a:xfrm>
          <a:prstGeom prst="rect">
            <a:avLst/>
          </a:prstGeom>
          <a:noFill/>
          <a:ln/>
        </p:spPr>
        <p:txBody>
          <a:bodyPr wrap="square" lIns="0" tIns="0" rIns="0" bIns="0" rtlCol="0" anchor="ctr"/>
          <a:lstStyle/>
          <a:p>
            <a:pPr marL="0" indent="0">
              <a:lnSpc>
                <a:spcPts val="3200"/>
              </a:lnSpc>
              <a:buNone/>
            </a:pPr>
            <a:r>
              <a:rPr lang="en-US" sz="2800" b="1" dirty="0">
                <a:solidFill>
                  <a:srgbClr val="1B2A41"/>
                </a:solidFill>
                <a:latin typeface="Cambria" pitchFamily="34" charset="0"/>
                <a:ea typeface="Cambria" pitchFamily="34" charset="-122"/>
                <a:cs typeface="Cambria" pitchFamily="34" charset="-120"/>
              </a:rPr>
              <a:t>Most Complaints Close on Time, But Gaps Remain</a:t>
            </a:r>
            <a:endParaRPr lang="en-US" sz="2800" dirty="0"/>
          </a:p>
        </p:txBody>
      </p:sp>
      <p:graphicFrame>
        <p:nvGraphicFramePr>
          <p:cNvPr id="4" name="Chart 0"/>
          <p:cNvGraphicFramePr/>
          <p:nvPr/>
        </p:nvGraphicFramePr>
        <p:xfrm>
          <a:off x="640080" y="1828800"/>
          <a:ext cx="51206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400800" y="1920240"/>
            <a:ext cx="4846320" cy="1143000"/>
          </a:xfrm>
          <a:prstGeom prst="roundRect">
            <a:avLst>
              <a:gd name="adj" fmla="val 6400"/>
            </a:avLst>
          </a:prstGeom>
          <a:solidFill>
            <a:srgbClr val="EAF1F5"/>
          </a:solidFill>
          <a:ln/>
          <a:effectLst>
            <a:outerShdw blurRad="88900" dist="25400" dir="5400000" algn="bl" rotWithShape="0">
              <a:srgbClr val="1B2A41">
                <a:alpha val="12000"/>
              </a:srgbClr>
            </a:outerShdw>
          </a:effectLst>
        </p:spPr>
      </p:sp>
      <p:sp>
        <p:nvSpPr>
          <p:cNvPr id="6" name="Text 3"/>
          <p:cNvSpPr txBox="1"/>
          <p:nvPr/>
        </p:nvSpPr>
        <p:spPr>
          <a:xfrm>
            <a:off x="6629400" y="2057400"/>
            <a:ext cx="1463040" cy="868680"/>
          </a:xfrm>
          <a:prstGeom prst="rect">
            <a:avLst/>
          </a:prstGeom>
          <a:noFill/>
          <a:ln/>
        </p:spPr>
        <p:txBody>
          <a:bodyPr wrap="square" lIns="0" tIns="0" rIns="0" bIns="0" rtlCol="0" anchor="ctr"/>
          <a:lstStyle/>
          <a:p>
            <a:pPr marL="0" indent="0">
              <a:buNone/>
            </a:pPr>
            <a:r>
              <a:rPr lang="en-US" sz="3400" b="1" dirty="0">
                <a:solidFill>
                  <a:srgbClr val="0F7B8A"/>
                </a:solidFill>
                <a:latin typeface="Cambria" pitchFamily="34" charset="0"/>
                <a:ea typeface="Cambria" pitchFamily="34" charset="-122"/>
                <a:cs typeface="Cambria" pitchFamily="34" charset="-120"/>
              </a:rPr>
              <a:t>78%</a:t>
            </a:r>
            <a:endParaRPr lang="en-US" sz="3400" dirty="0"/>
          </a:p>
        </p:txBody>
      </p:sp>
      <p:sp>
        <p:nvSpPr>
          <p:cNvPr id="7" name="Text 4"/>
          <p:cNvSpPr txBox="1"/>
          <p:nvPr/>
        </p:nvSpPr>
        <p:spPr>
          <a:xfrm>
            <a:off x="8229600" y="2057400"/>
            <a:ext cx="2834640" cy="868680"/>
          </a:xfrm>
          <a:prstGeom prst="rect">
            <a:avLst/>
          </a:prstGeom>
          <a:noFill/>
          <a:ln/>
        </p:spPr>
        <p:txBody>
          <a:bodyPr wrap="square" lIns="0" tIns="0" rIns="0" bIns="0" rtlCol="0" anchor="ctr"/>
          <a:lstStyle/>
          <a:p>
            <a:pPr marL="0" indent="0">
              <a:lnSpc>
                <a:spcPts val="1500"/>
              </a:lnSpc>
              <a:buNone/>
            </a:pPr>
            <a:r>
              <a:rPr lang="en-US" sz="1250" dirty="0">
                <a:solidFill>
                  <a:srgbClr val="1B2A41"/>
                </a:solidFill>
                <a:latin typeface="Calibri" pitchFamily="34" charset="0"/>
                <a:ea typeface="Calibri" pitchFamily="34" charset="-122"/>
                <a:cs typeface="Calibri" pitchFamily="34" charset="-120"/>
              </a:rPr>
              <a:t>Timely — closed within the required window</a:t>
            </a:r>
            <a:endParaRPr lang="en-US" sz="1250" dirty="0"/>
          </a:p>
        </p:txBody>
      </p:sp>
      <p:sp>
        <p:nvSpPr>
          <p:cNvPr id="8" name="Shape 5"/>
          <p:cNvSpPr/>
          <p:nvPr/>
        </p:nvSpPr>
        <p:spPr>
          <a:xfrm>
            <a:off x="6400800" y="3264408"/>
            <a:ext cx="4846320" cy="1143000"/>
          </a:xfrm>
          <a:prstGeom prst="roundRect">
            <a:avLst>
              <a:gd name="adj" fmla="val 6400"/>
            </a:avLst>
          </a:prstGeom>
          <a:solidFill>
            <a:srgbClr val="EAF1F5"/>
          </a:solidFill>
          <a:ln/>
          <a:effectLst>
            <a:outerShdw blurRad="88900" dist="25400" dir="5400000" algn="bl" rotWithShape="0">
              <a:srgbClr val="1B2A41">
                <a:alpha val="12000"/>
              </a:srgbClr>
            </a:outerShdw>
          </a:effectLst>
        </p:spPr>
      </p:sp>
      <p:sp>
        <p:nvSpPr>
          <p:cNvPr id="9" name="Text 6"/>
          <p:cNvSpPr txBox="1"/>
          <p:nvPr/>
        </p:nvSpPr>
        <p:spPr>
          <a:xfrm>
            <a:off x="6629400" y="3401568"/>
            <a:ext cx="1463040" cy="868680"/>
          </a:xfrm>
          <a:prstGeom prst="rect">
            <a:avLst/>
          </a:prstGeom>
          <a:noFill/>
          <a:ln/>
        </p:spPr>
        <p:txBody>
          <a:bodyPr wrap="square" lIns="0" tIns="0" rIns="0" bIns="0" rtlCol="0" anchor="ctr"/>
          <a:lstStyle/>
          <a:p>
            <a:pPr marL="0" indent="0">
              <a:buNone/>
            </a:pPr>
            <a:r>
              <a:rPr lang="en-US" sz="3400" b="1" dirty="0">
                <a:solidFill>
                  <a:srgbClr val="F2A541"/>
                </a:solidFill>
                <a:latin typeface="Cambria" pitchFamily="34" charset="0"/>
                <a:ea typeface="Cambria" pitchFamily="34" charset="-122"/>
                <a:cs typeface="Cambria" pitchFamily="34" charset="-120"/>
              </a:rPr>
              <a:t>16%</a:t>
            </a:r>
            <a:endParaRPr lang="en-US" sz="3400" dirty="0"/>
          </a:p>
        </p:txBody>
      </p:sp>
      <p:sp>
        <p:nvSpPr>
          <p:cNvPr id="10" name="Text 7"/>
          <p:cNvSpPr txBox="1"/>
          <p:nvPr/>
        </p:nvSpPr>
        <p:spPr>
          <a:xfrm>
            <a:off x="8229600" y="3401568"/>
            <a:ext cx="2834640" cy="868680"/>
          </a:xfrm>
          <a:prstGeom prst="rect">
            <a:avLst/>
          </a:prstGeom>
          <a:noFill/>
          <a:ln/>
        </p:spPr>
        <p:txBody>
          <a:bodyPr wrap="square" lIns="0" tIns="0" rIns="0" bIns="0" rtlCol="0" anchor="ctr"/>
          <a:lstStyle/>
          <a:p>
            <a:pPr marL="0" indent="0">
              <a:lnSpc>
                <a:spcPts val="1500"/>
              </a:lnSpc>
              <a:buNone/>
            </a:pPr>
            <a:r>
              <a:rPr lang="en-US" sz="1250" dirty="0">
                <a:solidFill>
                  <a:srgbClr val="1B2A41"/>
                </a:solidFill>
                <a:latin typeface="Calibri" pitchFamily="34" charset="0"/>
                <a:ea typeface="Calibri" pitchFamily="34" charset="-122"/>
                <a:cs typeface="Calibri" pitchFamily="34" charset="-120"/>
              </a:rPr>
              <a:t>Pending — still awaiting resolution</a:t>
            </a:r>
            <a:endParaRPr lang="en-US" sz="1250" dirty="0"/>
          </a:p>
        </p:txBody>
      </p:sp>
      <p:sp>
        <p:nvSpPr>
          <p:cNvPr id="11" name="Shape 8"/>
          <p:cNvSpPr/>
          <p:nvPr/>
        </p:nvSpPr>
        <p:spPr>
          <a:xfrm>
            <a:off x="6400800" y="4608576"/>
            <a:ext cx="4846320" cy="1143000"/>
          </a:xfrm>
          <a:prstGeom prst="roundRect">
            <a:avLst>
              <a:gd name="adj" fmla="val 6400"/>
            </a:avLst>
          </a:prstGeom>
          <a:solidFill>
            <a:srgbClr val="EAF1F5"/>
          </a:solidFill>
          <a:ln/>
          <a:effectLst>
            <a:outerShdw blurRad="88900" dist="25400" dir="5400000" algn="bl" rotWithShape="0">
              <a:srgbClr val="1B2A41">
                <a:alpha val="12000"/>
              </a:srgbClr>
            </a:outerShdw>
          </a:effectLst>
        </p:spPr>
      </p:sp>
      <p:sp>
        <p:nvSpPr>
          <p:cNvPr id="12" name="Text 9"/>
          <p:cNvSpPr txBox="1"/>
          <p:nvPr/>
        </p:nvSpPr>
        <p:spPr>
          <a:xfrm>
            <a:off x="6629400" y="4745736"/>
            <a:ext cx="1463040" cy="868680"/>
          </a:xfrm>
          <a:prstGeom prst="rect">
            <a:avLst/>
          </a:prstGeom>
          <a:noFill/>
          <a:ln/>
        </p:spPr>
        <p:txBody>
          <a:bodyPr wrap="square" lIns="0" tIns="0" rIns="0" bIns="0" rtlCol="0" anchor="ctr"/>
          <a:lstStyle/>
          <a:p>
            <a:pPr marL="0" indent="0">
              <a:buNone/>
            </a:pPr>
            <a:r>
              <a:rPr lang="en-US" sz="3400" b="1" dirty="0">
                <a:solidFill>
                  <a:srgbClr val="D64545"/>
                </a:solidFill>
                <a:latin typeface="Cambria" pitchFamily="34" charset="0"/>
                <a:ea typeface="Cambria" pitchFamily="34" charset="-122"/>
                <a:cs typeface="Cambria" pitchFamily="34" charset="-120"/>
              </a:rPr>
              <a:t>6%</a:t>
            </a:r>
            <a:endParaRPr lang="en-US" sz="3400" dirty="0"/>
          </a:p>
        </p:txBody>
      </p:sp>
      <p:sp>
        <p:nvSpPr>
          <p:cNvPr id="13" name="Text 10"/>
          <p:cNvSpPr txBox="1"/>
          <p:nvPr/>
        </p:nvSpPr>
        <p:spPr>
          <a:xfrm>
            <a:off x="8229600" y="4745736"/>
            <a:ext cx="2834640" cy="868680"/>
          </a:xfrm>
          <a:prstGeom prst="rect">
            <a:avLst/>
          </a:prstGeom>
          <a:noFill/>
          <a:ln/>
        </p:spPr>
        <p:txBody>
          <a:bodyPr wrap="square" lIns="0" tIns="0" rIns="0" bIns="0" rtlCol="0" anchor="ctr"/>
          <a:lstStyle/>
          <a:p>
            <a:pPr marL="0" indent="0">
              <a:lnSpc>
                <a:spcPts val="1500"/>
              </a:lnSpc>
              <a:buNone/>
            </a:pPr>
            <a:r>
              <a:rPr lang="en-US" sz="1250" dirty="0">
                <a:solidFill>
                  <a:srgbClr val="1B2A41"/>
                </a:solidFill>
                <a:latin typeface="Calibri" pitchFamily="34" charset="0"/>
                <a:ea typeface="Calibri" pitchFamily="34" charset="-122"/>
                <a:cs typeface="Calibri" pitchFamily="34" charset="-120"/>
              </a:rPr>
              <a:t>Not timely — response window missed</a:t>
            </a:r>
            <a:endParaRPr lang="en-US" sz="1250" dirty="0"/>
          </a:p>
        </p:txBody>
      </p:sp>
      <p:sp>
        <p:nvSpPr>
          <p:cNvPr id="14" name="Text 11"/>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B7A89"/>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15" name="Text 12"/>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200" b="1" kern="0" spc="200" dirty="0">
                <a:solidFill>
                  <a:srgbClr val="0F7B8A"/>
                </a:solidFill>
                <a:latin typeface="Calibri" pitchFamily="34" charset="0"/>
                <a:ea typeface="Calibri" pitchFamily="34" charset="-122"/>
                <a:cs typeface="Calibri" pitchFamily="34" charset="-120"/>
              </a:rPr>
              <a:t>GEOGRAPHY</a:t>
            </a:r>
            <a:endParaRPr lang="en-US" sz="1200" dirty="0"/>
          </a:p>
        </p:txBody>
      </p:sp>
      <p:sp>
        <p:nvSpPr>
          <p:cNvPr id="3" name="Text 1"/>
          <p:cNvSpPr txBox="1"/>
          <p:nvPr/>
        </p:nvSpPr>
        <p:spPr>
          <a:xfrm>
            <a:off x="548640" y="621792"/>
            <a:ext cx="10607040" cy="822960"/>
          </a:xfrm>
          <a:prstGeom prst="rect">
            <a:avLst/>
          </a:prstGeom>
          <a:noFill/>
          <a:ln/>
        </p:spPr>
        <p:txBody>
          <a:bodyPr wrap="square" lIns="0" tIns="0" rIns="0" bIns="0" rtlCol="0" anchor="ctr"/>
          <a:lstStyle/>
          <a:p>
            <a:pPr marL="0" indent="0">
              <a:lnSpc>
                <a:spcPts val="3200"/>
              </a:lnSpc>
              <a:buNone/>
            </a:pPr>
            <a:r>
              <a:rPr lang="en-US" sz="2800" b="1" dirty="0">
                <a:solidFill>
                  <a:srgbClr val="1B2A41"/>
                </a:solidFill>
                <a:latin typeface="Cambria" pitchFamily="34" charset="0"/>
                <a:ea typeface="Cambria" pitchFamily="34" charset="-122"/>
                <a:cs typeface="Cambria" pitchFamily="34" charset="-120"/>
              </a:rPr>
              <a:t>California Leads Complaint Volume Nationwide</a:t>
            </a:r>
            <a:endParaRPr lang="en-US" sz="2800" dirty="0"/>
          </a:p>
        </p:txBody>
      </p:sp>
      <p:sp>
        <p:nvSpPr>
          <p:cNvPr id="4" name="Shape 2"/>
          <p:cNvSpPr/>
          <p:nvPr/>
        </p:nvSpPr>
        <p:spPr>
          <a:xfrm>
            <a:off x="548640" y="1874520"/>
            <a:ext cx="11064240" cy="1417320"/>
          </a:xfrm>
          <a:prstGeom prst="roundRect">
            <a:avLst>
              <a:gd name="adj" fmla="val 5161"/>
            </a:avLst>
          </a:prstGeom>
          <a:solidFill>
            <a:srgbClr val="0E4F66"/>
          </a:solidFill>
          <a:ln/>
          <a:effectLst>
            <a:outerShdw blurRad="88900" dist="25400" dir="5400000" algn="bl" rotWithShape="0">
              <a:srgbClr val="1B2A41">
                <a:alpha val="12000"/>
              </a:srgbClr>
            </a:outerShdw>
          </a:effectLst>
        </p:spPr>
      </p:sp>
      <p:sp>
        <p:nvSpPr>
          <p:cNvPr id="5" name="Shape 3"/>
          <p:cNvSpPr/>
          <p:nvPr/>
        </p:nvSpPr>
        <p:spPr>
          <a:xfrm>
            <a:off x="914400" y="2240280"/>
            <a:ext cx="685800" cy="685800"/>
          </a:xfrm>
          <a:prstGeom prst="ellipse">
            <a:avLst/>
          </a:prstGeom>
          <a:solidFill>
            <a:srgbClr val="D64545"/>
          </a:solidFill>
          <a:ln/>
        </p:spPr>
      </p:sp>
      <p:sp>
        <p:nvSpPr>
          <p:cNvPr id="6" name="Text 4"/>
          <p:cNvSpPr txBox="1"/>
          <p:nvPr/>
        </p:nvSpPr>
        <p:spPr>
          <a:xfrm>
            <a:off x="914400" y="224028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920240" y="2039112"/>
            <a:ext cx="822960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California</a:t>
            </a:r>
            <a:endParaRPr lang="en-US" sz="2000" dirty="0"/>
          </a:p>
        </p:txBody>
      </p:sp>
      <p:sp>
        <p:nvSpPr>
          <p:cNvPr id="8" name="Text 6"/>
          <p:cNvSpPr txBox="1"/>
          <p:nvPr/>
        </p:nvSpPr>
        <p:spPr>
          <a:xfrm>
            <a:off x="1920240" y="2496312"/>
            <a:ext cx="8229600" cy="457200"/>
          </a:xfrm>
          <a:prstGeom prst="rect">
            <a:avLst/>
          </a:prstGeom>
          <a:noFill/>
          <a:ln/>
        </p:spPr>
        <p:txBody>
          <a:bodyPr wrap="square" lIns="0" tIns="0" rIns="0" bIns="0" rtlCol="0" anchor="ctr"/>
          <a:lstStyle/>
          <a:p>
            <a:pPr marL="0" indent="0">
              <a:buNone/>
            </a:pPr>
            <a:r>
              <a:rPr lang="en-US" sz="1400" dirty="0">
                <a:solidFill>
                  <a:srgbClr val="CADCE2"/>
                </a:solidFill>
                <a:latin typeface="Calibri" pitchFamily="34" charset="0"/>
                <a:ea typeface="Calibri" pitchFamily="34" charset="-122"/>
                <a:cs typeface="Calibri" pitchFamily="34" charset="-120"/>
              </a:rPr>
              <a:t>1,827 complaints — the highest of any state</a:t>
            </a:r>
            <a:endParaRPr lang="en-US" sz="1400" dirty="0"/>
          </a:p>
        </p:txBody>
      </p:sp>
      <p:sp>
        <p:nvSpPr>
          <p:cNvPr id="9" name="Shape 7"/>
          <p:cNvSpPr/>
          <p:nvPr/>
        </p:nvSpPr>
        <p:spPr>
          <a:xfrm>
            <a:off x="548640" y="3493008"/>
            <a:ext cx="11064240" cy="1188720"/>
          </a:xfrm>
          <a:prstGeom prst="roundRect">
            <a:avLst>
              <a:gd name="adj" fmla="val 6154"/>
            </a:avLst>
          </a:prstGeom>
          <a:solidFill>
            <a:srgbClr val="EAF1F5"/>
          </a:solidFill>
          <a:ln/>
          <a:effectLst>
            <a:outerShdw blurRad="88900" dist="25400" dir="5400000" algn="bl" rotWithShape="0">
              <a:srgbClr val="1B2A41">
                <a:alpha val="12000"/>
              </a:srgbClr>
            </a:outerShdw>
          </a:effectLst>
        </p:spPr>
      </p:sp>
      <p:sp>
        <p:nvSpPr>
          <p:cNvPr id="10" name="Shape 8"/>
          <p:cNvSpPr/>
          <p:nvPr/>
        </p:nvSpPr>
        <p:spPr>
          <a:xfrm>
            <a:off x="914400" y="3744468"/>
            <a:ext cx="685800" cy="685800"/>
          </a:xfrm>
          <a:prstGeom prst="ellipse">
            <a:avLst/>
          </a:prstGeom>
          <a:solidFill>
            <a:srgbClr val="F2A541"/>
          </a:solidFill>
          <a:ln/>
        </p:spPr>
      </p:sp>
      <p:sp>
        <p:nvSpPr>
          <p:cNvPr id="11" name="Text 9"/>
          <p:cNvSpPr txBox="1"/>
          <p:nvPr/>
        </p:nvSpPr>
        <p:spPr>
          <a:xfrm>
            <a:off x="914400" y="3744468"/>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2–4</a:t>
            </a:r>
            <a:endParaRPr lang="en-US" sz="1600" dirty="0"/>
          </a:p>
        </p:txBody>
      </p:sp>
      <p:sp>
        <p:nvSpPr>
          <p:cNvPr id="12" name="Text 10"/>
          <p:cNvSpPr txBox="1"/>
          <p:nvPr/>
        </p:nvSpPr>
        <p:spPr>
          <a:xfrm>
            <a:off x="1920240" y="3657600"/>
            <a:ext cx="8229600" cy="411480"/>
          </a:xfrm>
          <a:prstGeom prst="rect">
            <a:avLst/>
          </a:prstGeom>
          <a:noFill/>
          <a:ln/>
        </p:spPr>
        <p:txBody>
          <a:bodyPr wrap="square" lIns="0" tIns="0" rIns="0" bIns="0" rtlCol="0" anchor="ctr"/>
          <a:lstStyle/>
          <a:p>
            <a:pPr marL="0" indent="0">
              <a:buNone/>
            </a:pPr>
            <a:r>
              <a:rPr lang="en-US" sz="1600" b="1" dirty="0">
                <a:solidFill>
                  <a:srgbClr val="1B2A41"/>
                </a:solidFill>
                <a:latin typeface="Cambria" pitchFamily="34" charset="0"/>
                <a:ea typeface="Cambria" pitchFamily="34" charset="-122"/>
                <a:cs typeface="Cambria" pitchFamily="34" charset="-120"/>
              </a:rPr>
              <a:t>Texas, Florida &amp; New York</a:t>
            </a:r>
            <a:endParaRPr lang="en-US" sz="1600" dirty="0"/>
          </a:p>
        </p:txBody>
      </p:sp>
      <p:sp>
        <p:nvSpPr>
          <p:cNvPr id="13" name="Text 11"/>
          <p:cNvSpPr txBox="1"/>
          <p:nvPr/>
        </p:nvSpPr>
        <p:spPr>
          <a:xfrm>
            <a:off x="1920240" y="4041648"/>
            <a:ext cx="8229600" cy="457200"/>
          </a:xfrm>
          <a:prstGeom prst="rect">
            <a:avLst/>
          </a:prstGeom>
          <a:noFill/>
          <a:ln/>
        </p:spPr>
        <p:txBody>
          <a:bodyPr wrap="square" lIns="0" tIns="0" rIns="0" bIns="0" rtlCol="0" anchor="ctr"/>
          <a:lstStyle/>
          <a:p>
            <a:pPr marL="0" indent="0">
              <a:buNone/>
            </a:pPr>
            <a:r>
              <a:rPr lang="en-US" sz="1250" dirty="0">
                <a:solidFill>
                  <a:srgbClr val="6B7A89"/>
                </a:solidFill>
                <a:latin typeface="Calibri" pitchFamily="34" charset="0"/>
                <a:ea typeface="Calibri" pitchFamily="34" charset="-122"/>
                <a:cs typeface="Calibri" pitchFamily="34" charset="-120"/>
              </a:rPr>
              <a:t>Moderately high complaint concentrations</a:t>
            </a:r>
            <a:endParaRPr lang="en-US" sz="1250" dirty="0"/>
          </a:p>
        </p:txBody>
      </p:sp>
      <p:sp>
        <p:nvSpPr>
          <p:cNvPr id="14" name="Shape 12"/>
          <p:cNvSpPr/>
          <p:nvPr/>
        </p:nvSpPr>
        <p:spPr>
          <a:xfrm>
            <a:off x="548640" y="4882896"/>
            <a:ext cx="11064240" cy="1188720"/>
          </a:xfrm>
          <a:prstGeom prst="roundRect">
            <a:avLst>
              <a:gd name="adj" fmla="val 6154"/>
            </a:avLst>
          </a:prstGeom>
          <a:solidFill>
            <a:srgbClr val="EAF1F5"/>
          </a:solidFill>
          <a:ln/>
          <a:effectLst>
            <a:outerShdw blurRad="88900" dist="25400" dir="5400000" algn="bl" rotWithShape="0">
              <a:srgbClr val="1B2A41">
                <a:alpha val="12000"/>
              </a:srgbClr>
            </a:outerShdw>
          </a:effectLst>
        </p:spPr>
      </p:sp>
      <p:sp>
        <p:nvSpPr>
          <p:cNvPr id="15" name="Shape 13"/>
          <p:cNvSpPr/>
          <p:nvPr/>
        </p:nvSpPr>
        <p:spPr>
          <a:xfrm>
            <a:off x="914400" y="5134356"/>
            <a:ext cx="685800" cy="685800"/>
          </a:xfrm>
          <a:prstGeom prst="ellipse">
            <a:avLst/>
          </a:prstGeom>
          <a:solidFill>
            <a:srgbClr val="3E6E8E"/>
          </a:solidFill>
          <a:ln/>
        </p:spPr>
      </p:sp>
      <p:sp>
        <p:nvSpPr>
          <p:cNvPr id="16" name="Text 14"/>
          <p:cNvSpPr txBox="1"/>
          <p:nvPr/>
        </p:nvSpPr>
        <p:spPr>
          <a:xfrm>
            <a:off x="914400" y="5134356"/>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920240" y="5047488"/>
            <a:ext cx="8229600" cy="411480"/>
          </a:xfrm>
          <a:prstGeom prst="rect">
            <a:avLst/>
          </a:prstGeom>
          <a:noFill/>
          <a:ln/>
        </p:spPr>
        <p:txBody>
          <a:bodyPr wrap="square" lIns="0" tIns="0" rIns="0" bIns="0" rtlCol="0" anchor="ctr"/>
          <a:lstStyle/>
          <a:p>
            <a:pPr marL="0" indent="0">
              <a:buNone/>
            </a:pPr>
            <a:r>
              <a:rPr lang="en-US" sz="1600" b="1" dirty="0">
                <a:solidFill>
                  <a:srgbClr val="1B2A41"/>
                </a:solidFill>
                <a:latin typeface="Cambria" pitchFamily="34" charset="0"/>
                <a:ea typeface="Cambria" pitchFamily="34" charset="-122"/>
                <a:cs typeface="Cambria" pitchFamily="34" charset="-120"/>
              </a:rPr>
              <a:t>Remaining 46 states</a:t>
            </a:r>
            <a:endParaRPr lang="en-US" sz="1600" dirty="0"/>
          </a:p>
        </p:txBody>
      </p:sp>
      <p:sp>
        <p:nvSpPr>
          <p:cNvPr id="18" name="Text 16"/>
          <p:cNvSpPr txBox="1"/>
          <p:nvPr/>
        </p:nvSpPr>
        <p:spPr>
          <a:xfrm>
            <a:off x="1920240" y="5431536"/>
            <a:ext cx="8229600" cy="457200"/>
          </a:xfrm>
          <a:prstGeom prst="rect">
            <a:avLst/>
          </a:prstGeom>
          <a:noFill/>
          <a:ln/>
        </p:spPr>
        <p:txBody>
          <a:bodyPr wrap="square" lIns="0" tIns="0" rIns="0" bIns="0" rtlCol="0" anchor="ctr"/>
          <a:lstStyle/>
          <a:p>
            <a:pPr marL="0" indent="0">
              <a:buNone/>
            </a:pPr>
            <a:r>
              <a:rPr lang="en-US" sz="1250" dirty="0">
                <a:solidFill>
                  <a:srgbClr val="6B7A89"/>
                </a:solidFill>
                <a:latin typeface="Calibri" pitchFamily="34" charset="0"/>
                <a:ea typeface="Calibri" pitchFamily="34" charset="-122"/>
                <a:cs typeface="Calibri" pitchFamily="34" charset="-120"/>
              </a:rPr>
              <a:t>Relatively low, dispersed complaint volume</a:t>
            </a:r>
            <a:endParaRPr lang="en-US" sz="1250" dirty="0"/>
          </a:p>
        </p:txBody>
      </p:sp>
      <p:sp>
        <p:nvSpPr>
          <p:cNvPr id="19" name="Text 17"/>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B7A89"/>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20" name="Text 18"/>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200" b="1" kern="0" spc="200" dirty="0">
                <a:solidFill>
                  <a:srgbClr val="0F7B8A"/>
                </a:solidFill>
                <a:latin typeface="Calibri" pitchFamily="34" charset="0"/>
                <a:ea typeface="Calibri" pitchFamily="34" charset="-122"/>
                <a:cs typeface="Calibri" pitchFamily="34" charset="-120"/>
              </a:rPr>
              <a:t>ROOT CAUSE</a:t>
            </a:r>
            <a:endParaRPr lang="en-US" sz="1200" dirty="0"/>
          </a:p>
        </p:txBody>
      </p:sp>
      <p:sp>
        <p:nvSpPr>
          <p:cNvPr id="3" name="Text 1"/>
          <p:cNvSpPr txBox="1"/>
          <p:nvPr/>
        </p:nvSpPr>
        <p:spPr>
          <a:xfrm>
            <a:off x="548640" y="621792"/>
            <a:ext cx="10607040" cy="822960"/>
          </a:xfrm>
          <a:prstGeom prst="rect">
            <a:avLst/>
          </a:prstGeom>
          <a:noFill/>
          <a:ln/>
        </p:spPr>
        <p:txBody>
          <a:bodyPr wrap="square" lIns="0" tIns="0" rIns="0" bIns="0" rtlCol="0" anchor="ctr"/>
          <a:lstStyle/>
          <a:p>
            <a:pPr marL="0" indent="0">
              <a:lnSpc>
                <a:spcPts val="3200"/>
              </a:lnSpc>
              <a:buNone/>
            </a:pPr>
            <a:r>
              <a:rPr lang="en-US" sz="2800" b="1" dirty="0">
                <a:solidFill>
                  <a:srgbClr val="1B2A41"/>
                </a:solidFill>
                <a:latin typeface="Cambria" pitchFamily="34" charset="0"/>
                <a:ea typeface="Cambria" pitchFamily="34" charset="-122"/>
                <a:cs typeface="Cambria" pitchFamily="34" charset="-120"/>
              </a:rPr>
              <a:t>What's Really Driving Untimely Responses</a:t>
            </a:r>
            <a:endParaRPr lang="en-US" sz="2800" dirty="0"/>
          </a:p>
        </p:txBody>
      </p:sp>
      <p:sp>
        <p:nvSpPr>
          <p:cNvPr id="4" name="Shape 2"/>
          <p:cNvSpPr/>
          <p:nvPr/>
        </p:nvSpPr>
        <p:spPr>
          <a:xfrm>
            <a:off x="548640" y="1783080"/>
            <a:ext cx="5440680" cy="1325880"/>
          </a:xfrm>
          <a:prstGeom prst="roundRect">
            <a:avLst>
              <a:gd name="adj" fmla="val 5517"/>
            </a:avLst>
          </a:prstGeom>
          <a:solidFill>
            <a:srgbClr val="EAF1F5"/>
          </a:solidFill>
          <a:ln/>
          <a:effectLst>
            <a:outerShdw blurRad="88900" dist="25400" dir="5400000" algn="bl" rotWithShape="0">
              <a:srgbClr val="1B2A41">
                <a:alpha val="12000"/>
              </a:srgbClr>
            </a:outerShdw>
          </a:effectLst>
        </p:spPr>
      </p:sp>
      <p:sp>
        <p:nvSpPr>
          <p:cNvPr id="5" name="Text 3"/>
          <p:cNvSpPr txBox="1"/>
          <p:nvPr/>
        </p:nvSpPr>
        <p:spPr>
          <a:xfrm>
            <a:off x="822960" y="1911096"/>
            <a:ext cx="3657600" cy="274320"/>
          </a:xfrm>
          <a:prstGeom prst="rect">
            <a:avLst/>
          </a:prstGeom>
          <a:noFill/>
          <a:ln/>
        </p:spPr>
        <p:txBody>
          <a:bodyPr wrap="square" lIns="0" tIns="0" rIns="0" bIns="0" rtlCol="0" anchor="ctr"/>
          <a:lstStyle/>
          <a:p>
            <a:pPr marL="0" indent="0">
              <a:buNone/>
            </a:pPr>
            <a:r>
              <a:rPr lang="en-US" sz="1050" b="1" kern="0" spc="150" dirty="0">
                <a:solidFill>
                  <a:srgbClr val="0F7B8A"/>
                </a:solidFill>
                <a:latin typeface="Calibri" pitchFamily="34" charset="0"/>
                <a:ea typeface="Calibri" pitchFamily="34" charset="-122"/>
                <a:cs typeface="Calibri" pitchFamily="34" charset="-120"/>
              </a:rPr>
              <a:t>CHANNEL</a:t>
            </a:r>
            <a:endParaRPr lang="en-US" sz="1050" dirty="0"/>
          </a:p>
        </p:txBody>
      </p:sp>
      <p:sp>
        <p:nvSpPr>
          <p:cNvPr id="6" name="Text 4"/>
          <p:cNvSpPr txBox="1"/>
          <p:nvPr/>
        </p:nvSpPr>
        <p:spPr>
          <a:xfrm>
            <a:off x="822960" y="2167128"/>
            <a:ext cx="3291840" cy="502920"/>
          </a:xfrm>
          <a:prstGeom prst="rect">
            <a:avLst/>
          </a:prstGeom>
          <a:noFill/>
          <a:ln/>
        </p:spPr>
        <p:txBody>
          <a:bodyPr wrap="square" lIns="0" tIns="0" rIns="0" bIns="0" rtlCol="0" anchor="ctr"/>
          <a:lstStyle/>
          <a:p>
            <a:pPr marL="0" indent="0">
              <a:buNone/>
            </a:pPr>
            <a:r>
              <a:rPr lang="en-US" sz="1500" b="1" dirty="0">
                <a:solidFill>
                  <a:srgbClr val="1B2A41"/>
                </a:solidFill>
                <a:latin typeface="Cambria" pitchFamily="34" charset="0"/>
                <a:ea typeface="Cambria" pitchFamily="34" charset="-122"/>
                <a:cs typeface="Cambria" pitchFamily="34" charset="-120"/>
              </a:rPr>
              <a:t>Web</a:t>
            </a:r>
            <a:endParaRPr lang="en-US" sz="1500" dirty="0"/>
          </a:p>
        </p:txBody>
      </p:sp>
      <p:sp>
        <p:nvSpPr>
          <p:cNvPr id="7" name="Text 5"/>
          <p:cNvSpPr txBox="1"/>
          <p:nvPr/>
        </p:nvSpPr>
        <p:spPr>
          <a:xfrm>
            <a:off x="822960" y="2679192"/>
            <a:ext cx="3291840" cy="365760"/>
          </a:xfrm>
          <a:prstGeom prst="rect">
            <a:avLst/>
          </a:prstGeom>
          <a:noFill/>
          <a:ln/>
        </p:spPr>
        <p:txBody>
          <a:bodyPr wrap="square" lIns="0" tIns="0" rIns="0" bIns="0" rtlCol="0" anchor="ctr"/>
          <a:lstStyle/>
          <a:p>
            <a:pPr marL="0" indent="0">
              <a:buNone/>
            </a:pPr>
            <a:r>
              <a:rPr lang="en-US" sz="1050" dirty="0">
                <a:solidFill>
                  <a:srgbClr val="6B7A89"/>
                </a:solidFill>
                <a:latin typeface="Calibri" pitchFamily="34" charset="0"/>
                <a:ea typeface="Calibri" pitchFamily="34" charset="-122"/>
                <a:cs typeface="Calibri" pitchFamily="34" charset="-120"/>
              </a:rPr>
              <a:t>Highest-risk submission channel</a:t>
            </a:r>
            <a:endParaRPr lang="en-US" sz="1050" dirty="0"/>
          </a:p>
        </p:txBody>
      </p:sp>
      <p:sp>
        <p:nvSpPr>
          <p:cNvPr id="8" name="Text 6"/>
          <p:cNvSpPr txBox="1"/>
          <p:nvPr/>
        </p:nvSpPr>
        <p:spPr>
          <a:xfrm>
            <a:off x="4206240" y="1783080"/>
            <a:ext cx="1691640" cy="1325880"/>
          </a:xfrm>
          <a:prstGeom prst="rect">
            <a:avLst/>
          </a:prstGeom>
          <a:noFill/>
          <a:ln/>
        </p:spPr>
        <p:txBody>
          <a:bodyPr wrap="square" lIns="0" tIns="0" rIns="0" bIns="0" rtlCol="0" anchor="ctr"/>
          <a:lstStyle/>
          <a:p>
            <a:pPr marL="0" indent="0" algn="r">
              <a:buNone/>
            </a:pPr>
            <a:r>
              <a:rPr lang="en-US" sz="2200" b="1" dirty="0">
                <a:solidFill>
                  <a:srgbClr val="0F7B8A"/>
                </a:solidFill>
                <a:latin typeface="Cambria" pitchFamily="34" charset="0"/>
                <a:ea typeface="Cambria" pitchFamily="34" charset="-122"/>
                <a:cs typeface="Cambria" pitchFamily="34" charset="-120"/>
              </a:rPr>
              <a:t>4.35%</a:t>
            </a:r>
            <a:endParaRPr lang="en-US" sz="2200" dirty="0"/>
          </a:p>
        </p:txBody>
      </p:sp>
      <p:sp>
        <p:nvSpPr>
          <p:cNvPr id="9" name="Shape 7"/>
          <p:cNvSpPr/>
          <p:nvPr/>
        </p:nvSpPr>
        <p:spPr>
          <a:xfrm>
            <a:off x="6172200" y="1783080"/>
            <a:ext cx="5440680" cy="1325880"/>
          </a:xfrm>
          <a:prstGeom prst="roundRect">
            <a:avLst>
              <a:gd name="adj" fmla="val 5517"/>
            </a:avLst>
          </a:prstGeom>
          <a:solidFill>
            <a:srgbClr val="EAF1F5"/>
          </a:solidFill>
          <a:ln/>
          <a:effectLst>
            <a:outerShdw blurRad="88900" dist="25400" dir="5400000" algn="bl" rotWithShape="0">
              <a:srgbClr val="1B2A41">
                <a:alpha val="12000"/>
              </a:srgbClr>
            </a:outerShdw>
          </a:effectLst>
        </p:spPr>
      </p:sp>
      <p:sp>
        <p:nvSpPr>
          <p:cNvPr id="10" name="Text 8"/>
          <p:cNvSpPr txBox="1"/>
          <p:nvPr/>
        </p:nvSpPr>
        <p:spPr>
          <a:xfrm>
            <a:off x="6446520" y="1911096"/>
            <a:ext cx="3657600" cy="274320"/>
          </a:xfrm>
          <a:prstGeom prst="rect">
            <a:avLst/>
          </a:prstGeom>
          <a:noFill/>
          <a:ln/>
        </p:spPr>
        <p:txBody>
          <a:bodyPr wrap="square" lIns="0" tIns="0" rIns="0" bIns="0" rtlCol="0" anchor="ctr"/>
          <a:lstStyle/>
          <a:p>
            <a:pPr marL="0" indent="0">
              <a:buNone/>
            </a:pPr>
            <a:r>
              <a:rPr lang="en-US" sz="1050" b="1" kern="0" spc="150" dirty="0">
                <a:solidFill>
                  <a:srgbClr val="D64545"/>
                </a:solidFill>
                <a:latin typeface="Calibri" pitchFamily="34" charset="0"/>
                <a:ea typeface="Calibri" pitchFamily="34" charset="-122"/>
                <a:cs typeface="Calibri" pitchFamily="34" charset="-120"/>
              </a:rPr>
              <a:t>PRODUCT</a:t>
            </a:r>
            <a:endParaRPr lang="en-US" sz="1050" dirty="0"/>
          </a:p>
        </p:txBody>
      </p:sp>
      <p:sp>
        <p:nvSpPr>
          <p:cNvPr id="11" name="Text 9"/>
          <p:cNvSpPr txBox="1"/>
          <p:nvPr/>
        </p:nvSpPr>
        <p:spPr>
          <a:xfrm>
            <a:off x="6446520" y="2167128"/>
            <a:ext cx="3291840" cy="502920"/>
          </a:xfrm>
          <a:prstGeom prst="rect">
            <a:avLst/>
          </a:prstGeom>
          <a:noFill/>
          <a:ln/>
        </p:spPr>
        <p:txBody>
          <a:bodyPr wrap="square" lIns="0" tIns="0" rIns="0" bIns="0" rtlCol="0" anchor="ctr"/>
          <a:lstStyle/>
          <a:p>
            <a:pPr marL="0" indent="0">
              <a:buNone/>
            </a:pPr>
            <a:r>
              <a:rPr lang="en-US" sz="1500" b="1" dirty="0">
                <a:solidFill>
                  <a:srgbClr val="1B2A41"/>
                </a:solidFill>
                <a:latin typeface="Cambria" pitchFamily="34" charset="0"/>
                <a:ea typeface="Cambria" pitchFamily="34" charset="-122"/>
                <a:cs typeface="Cambria" pitchFamily="34" charset="-120"/>
              </a:rPr>
              <a:t>Debt Collection</a:t>
            </a:r>
            <a:endParaRPr lang="en-US" sz="1500" dirty="0"/>
          </a:p>
        </p:txBody>
      </p:sp>
      <p:sp>
        <p:nvSpPr>
          <p:cNvPr id="12" name="Text 10"/>
          <p:cNvSpPr txBox="1"/>
          <p:nvPr/>
        </p:nvSpPr>
        <p:spPr>
          <a:xfrm>
            <a:off x="6446520" y="2679192"/>
            <a:ext cx="3291840" cy="365760"/>
          </a:xfrm>
          <a:prstGeom prst="rect">
            <a:avLst/>
          </a:prstGeom>
          <a:noFill/>
          <a:ln/>
        </p:spPr>
        <p:txBody>
          <a:bodyPr wrap="square" lIns="0" tIns="0" rIns="0" bIns="0" rtlCol="0" anchor="ctr"/>
          <a:lstStyle/>
          <a:p>
            <a:pPr marL="0" indent="0">
              <a:buNone/>
            </a:pPr>
            <a:r>
              <a:rPr lang="en-US" sz="1050" dirty="0">
                <a:solidFill>
                  <a:srgbClr val="6B7A89"/>
                </a:solidFill>
                <a:latin typeface="Calibri" pitchFamily="34" charset="0"/>
                <a:ea typeface="Calibri" pitchFamily="34" charset="-122"/>
                <a:cs typeface="Calibri" pitchFamily="34" charset="-120"/>
              </a:rPr>
              <a:t>Highest-risk product category</a:t>
            </a:r>
            <a:endParaRPr lang="en-US" sz="1050" dirty="0"/>
          </a:p>
        </p:txBody>
      </p:sp>
      <p:sp>
        <p:nvSpPr>
          <p:cNvPr id="13" name="Text 11"/>
          <p:cNvSpPr txBox="1"/>
          <p:nvPr/>
        </p:nvSpPr>
        <p:spPr>
          <a:xfrm>
            <a:off x="9829800" y="1783080"/>
            <a:ext cx="1691640" cy="1325880"/>
          </a:xfrm>
          <a:prstGeom prst="rect">
            <a:avLst/>
          </a:prstGeom>
          <a:noFill/>
          <a:ln/>
        </p:spPr>
        <p:txBody>
          <a:bodyPr wrap="square" lIns="0" tIns="0" rIns="0" bIns="0" rtlCol="0" anchor="ctr"/>
          <a:lstStyle/>
          <a:p>
            <a:pPr marL="0" indent="0" algn="r">
              <a:buNone/>
            </a:pPr>
            <a:r>
              <a:rPr lang="en-US" sz="2200" b="1" dirty="0">
                <a:solidFill>
                  <a:srgbClr val="D64545"/>
                </a:solidFill>
                <a:latin typeface="Cambria" pitchFamily="34" charset="0"/>
                <a:ea typeface="Cambria" pitchFamily="34" charset="-122"/>
                <a:cs typeface="Cambria" pitchFamily="34" charset="-120"/>
              </a:rPr>
              <a:t>6.44%</a:t>
            </a:r>
            <a:endParaRPr lang="en-US" sz="2200" dirty="0"/>
          </a:p>
        </p:txBody>
      </p:sp>
      <p:sp>
        <p:nvSpPr>
          <p:cNvPr id="14" name="Shape 12"/>
          <p:cNvSpPr/>
          <p:nvPr/>
        </p:nvSpPr>
        <p:spPr>
          <a:xfrm>
            <a:off x="548640" y="3246120"/>
            <a:ext cx="5440680" cy="1325880"/>
          </a:xfrm>
          <a:prstGeom prst="roundRect">
            <a:avLst>
              <a:gd name="adj" fmla="val 5517"/>
            </a:avLst>
          </a:prstGeom>
          <a:solidFill>
            <a:srgbClr val="EAF1F5"/>
          </a:solidFill>
          <a:ln/>
          <a:effectLst>
            <a:outerShdw blurRad="88900" dist="25400" dir="5400000" algn="bl" rotWithShape="0">
              <a:srgbClr val="1B2A41">
                <a:alpha val="12000"/>
              </a:srgbClr>
            </a:outerShdw>
          </a:effectLst>
        </p:spPr>
      </p:sp>
      <p:sp>
        <p:nvSpPr>
          <p:cNvPr id="15" name="Text 13"/>
          <p:cNvSpPr txBox="1"/>
          <p:nvPr/>
        </p:nvSpPr>
        <p:spPr>
          <a:xfrm>
            <a:off x="822960" y="3374136"/>
            <a:ext cx="3657600" cy="274320"/>
          </a:xfrm>
          <a:prstGeom prst="rect">
            <a:avLst/>
          </a:prstGeom>
          <a:noFill/>
          <a:ln/>
        </p:spPr>
        <p:txBody>
          <a:bodyPr wrap="square" lIns="0" tIns="0" rIns="0" bIns="0" rtlCol="0" anchor="ctr"/>
          <a:lstStyle/>
          <a:p>
            <a:pPr marL="0" indent="0">
              <a:buNone/>
            </a:pPr>
            <a:r>
              <a:rPr lang="en-US" sz="1050" b="1" kern="0" spc="150" dirty="0">
                <a:solidFill>
                  <a:srgbClr val="D64545"/>
                </a:solidFill>
                <a:latin typeface="Calibri" pitchFamily="34" charset="0"/>
                <a:ea typeface="Calibri" pitchFamily="34" charset="-122"/>
                <a:cs typeface="Calibri" pitchFamily="34" charset="-120"/>
              </a:rPr>
              <a:t>ISSUE</a:t>
            </a:r>
            <a:endParaRPr lang="en-US" sz="1050" dirty="0"/>
          </a:p>
        </p:txBody>
      </p:sp>
      <p:sp>
        <p:nvSpPr>
          <p:cNvPr id="16" name="Text 14"/>
          <p:cNvSpPr txBox="1"/>
          <p:nvPr/>
        </p:nvSpPr>
        <p:spPr>
          <a:xfrm>
            <a:off x="822960" y="3630168"/>
            <a:ext cx="3291840" cy="502920"/>
          </a:xfrm>
          <a:prstGeom prst="rect">
            <a:avLst/>
          </a:prstGeom>
          <a:noFill/>
          <a:ln/>
        </p:spPr>
        <p:txBody>
          <a:bodyPr wrap="square" lIns="0" tIns="0" rIns="0" bIns="0" rtlCol="0" anchor="ctr"/>
          <a:lstStyle/>
          <a:p>
            <a:pPr marL="0" indent="0">
              <a:buNone/>
            </a:pPr>
            <a:r>
              <a:rPr lang="en-US" sz="1500" b="1" dirty="0">
                <a:solidFill>
                  <a:srgbClr val="1B2A41"/>
                </a:solidFill>
                <a:latin typeface="Cambria" pitchFamily="34" charset="0"/>
                <a:ea typeface="Cambria" pitchFamily="34" charset="-122"/>
                <a:cs typeface="Cambria" pitchFamily="34" charset="-120"/>
              </a:rPr>
              <a:t>Debt Collection &amp; Credit Reporting</a:t>
            </a:r>
            <a:endParaRPr lang="en-US" sz="1500" dirty="0"/>
          </a:p>
        </p:txBody>
      </p:sp>
      <p:sp>
        <p:nvSpPr>
          <p:cNvPr id="17" name="Text 15"/>
          <p:cNvSpPr txBox="1"/>
          <p:nvPr/>
        </p:nvSpPr>
        <p:spPr>
          <a:xfrm>
            <a:off x="822960" y="4142232"/>
            <a:ext cx="3291840" cy="365760"/>
          </a:xfrm>
          <a:prstGeom prst="rect">
            <a:avLst/>
          </a:prstGeom>
          <a:noFill/>
          <a:ln/>
        </p:spPr>
        <p:txBody>
          <a:bodyPr wrap="square" lIns="0" tIns="0" rIns="0" bIns="0" rtlCol="0" anchor="ctr"/>
          <a:lstStyle/>
          <a:p>
            <a:pPr marL="0" indent="0">
              <a:buNone/>
            </a:pPr>
            <a:r>
              <a:rPr lang="en-US" sz="1050" dirty="0">
                <a:solidFill>
                  <a:srgbClr val="6B7A89"/>
                </a:solidFill>
                <a:latin typeface="Calibri" pitchFamily="34" charset="0"/>
                <a:ea typeface="Calibri" pitchFamily="34" charset="-122"/>
                <a:cs typeface="Calibri" pitchFamily="34" charset="-120"/>
              </a:rPr>
              <a:t>Highest-risk issue categories</a:t>
            </a:r>
            <a:endParaRPr lang="en-US" sz="1050" dirty="0"/>
          </a:p>
        </p:txBody>
      </p:sp>
      <p:sp>
        <p:nvSpPr>
          <p:cNvPr id="18" name="Text 16"/>
          <p:cNvSpPr txBox="1"/>
          <p:nvPr/>
        </p:nvSpPr>
        <p:spPr>
          <a:xfrm>
            <a:off x="4206240" y="3246120"/>
            <a:ext cx="1691640" cy="1325880"/>
          </a:xfrm>
          <a:prstGeom prst="rect">
            <a:avLst/>
          </a:prstGeom>
          <a:noFill/>
          <a:ln/>
        </p:spPr>
        <p:txBody>
          <a:bodyPr wrap="square" lIns="0" tIns="0" rIns="0" bIns="0" rtlCol="0" anchor="ctr"/>
          <a:lstStyle/>
          <a:p>
            <a:pPr marL="0" indent="0" algn="r">
              <a:buNone/>
            </a:pPr>
            <a:r>
              <a:rPr lang="en-US" sz="2200" b="1" dirty="0">
                <a:solidFill>
                  <a:srgbClr val="D64545"/>
                </a:solidFill>
                <a:latin typeface="Cambria" pitchFamily="34" charset="0"/>
                <a:ea typeface="Cambria" pitchFamily="34" charset="-122"/>
                <a:cs typeface="Cambria" pitchFamily="34" charset="-120"/>
              </a:rPr>
              <a:t>6.07–6.67%</a:t>
            </a:r>
            <a:endParaRPr lang="en-US" sz="2200" dirty="0"/>
          </a:p>
        </p:txBody>
      </p:sp>
      <p:sp>
        <p:nvSpPr>
          <p:cNvPr id="19" name="Shape 17"/>
          <p:cNvSpPr/>
          <p:nvPr/>
        </p:nvSpPr>
        <p:spPr>
          <a:xfrm>
            <a:off x="6172200" y="3246120"/>
            <a:ext cx="5440680" cy="1325880"/>
          </a:xfrm>
          <a:prstGeom prst="roundRect">
            <a:avLst>
              <a:gd name="adj" fmla="val 5517"/>
            </a:avLst>
          </a:prstGeom>
          <a:solidFill>
            <a:srgbClr val="EAF1F5"/>
          </a:solidFill>
          <a:ln/>
          <a:effectLst>
            <a:outerShdw blurRad="88900" dist="25400" dir="5400000" algn="bl" rotWithShape="0">
              <a:srgbClr val="1B2A41">
                <a:alpha val="12000"/>
              </a:srgbClr>
            </a:outerShdw>
          </a:effectLst>
        </p:spPr>
      </p:sp>
      <p:sp>
        <p:nvSpPr>
          <p:cNvPr id="20" name="Text 18"/>
          <p:cNvSpPr txBox="1"/>
          <p:nvPr/>
        </p:nvSpPr>
        <p:spPr>
          <a:xfrm>
            <a:off x="6446520" y="3374136"/>
            <a:ext cx="3657600" cy="274320"/>
          </a:xfrm>
          <a:prstGeom prst="rect">
            <a:avLst/>
          </a:prstGeom>
          <a:noFill/>
          <a:ln/>
        </p:spPr>
        <p:txBody>
          <a:bodyPr wrap="square" lIns="0" tIns="0" rIns="0" bIns="0" rtlCol="0" anchor="ctr"/>
          <a:lstStyle/>
          <a:p>
            <a:pPr marL="0" indent="0">
              <a:buNone/>
            </a:pPr>
            <a:r>
              <a:rPr lang="en-US" sz="1050" b="1" kern="0" spc="150" dirty="0">
                <a:solidFill>
                  <a:srgbClr val="3E6E8E"/>
                </a:solidFill>
                <a:latin typeface="Calibri" pitchFamily="34" charset="0"/>
                <a:ea typeface="Calibri" pitchFamily="34" charset="-122"/>
                <a:cs typeface="Calibri" pitchFamily="34" charset="-120"/>
              </a:rPr>
              <a:t>STATE</a:t>
            </a:r>
            <a:endParaRPr lang="en-US" sz="1050" dirty="0"/>
          </a:p>
        </p:txBody>
      </p:sp>
      <p:sp>
        <p:nvSpPr>
          <p:cNvPr id="21" name="Text 19"/>
          <p:cNvSpPr txBox="1"/>
          <p:nvPr/>
        </p:nvSpPr>
        <p:spPr>
          <a:xfrm>
            <a:off x="6446520" y="3630168"/>
            <a:ext cx="3291840" cy="502920"/>
          </a:xfrm>
          <a:prstGeom prst="rect">
            <a:avLst/>
          </a:prstGeom>
          <a:noFill/>
          <a:ln/>
        </p:spPr>
        <p:txBody>
          <a:bodyPr wrap="square" lIns="0" tIns="0" rIns="0" bIns="0" rtlCol="0" anchor="ctr"/>
          <a:lstStyle/>
          <a:p>
            <a:pPr marL="0" indent="0">
              <a:buNone/>
            </a:pPr>
            <a:r>
              <a:rPr lang="en-US" sz="1500" b="1" dirty="0">
                <a:solidFill>
                  <a:srgbClr val="1B2A41"/>
                </a:solidFill>
                <a:latin typeface="Cambria" pitchFamily="34" charset="0"/>
                <a:ea typeface="Cambria" pitchFamily="34" charset="-122"/>
                <a:cs typeface="Cambria" pitchFamily="34" charset="-120"/>
              </a:rPr>
              <a:t>Indiana, Iowa, Oregon</a:t>
            </a:r>
            <a:endParaRPr lang="en-US" sz="1500" dirty="0"/>
          </a:p>
        </p:txBody>
      </p:sp>
      <p:sp>
        <p:nvSpPr>
          <p:cNvPr id="22" name="Text 20"/>
          <p:cNvSpPr txBox="1"/>
          <p:nvPr/>
        </p:nvSpPr>
        <p:spPr>
          <a:xfrm>
            <a:off x="6446520" y="4142232"/>
            <a:ext cx="3291840" cy="365760"/>
          </a:xfrm>
          <a:prstGeom prst="rect">
            <a:avLst/>
          </a:prstGeom>
          <a:noFill/>
          <a:ln/>
        </p:spPr>
        <p:txBody>
          <a:bodyPr wrap="square" lIns="0" tIns="0" rIns="0" bIns="0" rtlCol="0" anchor="ctr"/>
          <a:lstStyle/>
          <a:p>
            <a:pPr marL="0" indent="0">
              <a:buNone/>
            </a:pPr>
            <a:r>
              <a:rPr lang="en-US" sz="1050" dirty="0">
                <a:solidFill>
                  <a:srgbClr val="6B7A89"/>
                </a:solidFill>
                <a:latin typeface="Calibri" pitchFamily="34" charset="0"/>
                <a:ea typeface="Calibri" pitchFamily="34" charset="-122"/>
                <a:cs typeface="Calibri" pitchFamily="34" charset="-120"/>
              </a:rPr>
              <a:t>Highest-risk states by rate</a:t>
            </a:r>
            <a:endParaRPr lang="en-US" sz="1050" dirty="0"/>
          </a:p>
        </p:txBody>
      </p:sp>
      <p:sp>
        <p:nvSpPr>
          <p:cNvPr id="23" name="Text 21"/>
          <p:cNvSpPr txBox="1"/>
          <p:nvPr/>
        </p:nvSpPr>
        <p:spPr>
          <a:xfrm>
            <a:off x="9829800" y="3246120"/>
            <a:ext cx="1691640" cy="1325880"/>
          </a:xfrm>
          <a:prstGeom prst="rect">
            <a:avLst/>
          </a:prstGeom>
          <a:noFill/>
          <a:ln/>
        </p:spPr>
        <p:txBody>
          <a:bodyPr wrap="square" lIns="0" tIns="0" rIns="0" bIns="0" rtlCol="0" anchor="ctr"/>
          <a:lstStyle/>
          <a:p>
            <a:pPr marL="0" indent="0" algn="r">
              <a:buNone/>
            </a:pPr>
            <a:r>
              <a:rPr lang="en-US" sz="2200" b="1" dirty="0">
                <a:solidFill>
                  <a:srgbClr val="3E6E8E"/>
                </a:solidFill>
                <a:latin typeface="Cambria" pitchFamily="34" charset="0"/>
                <a:ea typeface="Cambria" pitchFamily="34" charset="-122"/>
                <a:cs typeface="Cambria" pitchFamily="34" charset="-120"/>
              </a:rPr>
              <a:t>~5.3–5.6%</a:t>
            </a:r>
            <a:endParaRPr lang="en-US" sz="2200" dirty="0"/>
          </a:p>
        </p:txBody>
      </p:sp>
      <p:sp>
        <p:nvSpPr>
          <p:cNvPr id="24" name="Shape 22"/>
          <p:cNvSpPr/>
          <p:nvPr/>
        </p:nvSpPr>
        <p:spPr>
          <a:xfrm>
            <a:off x="548640" y="4983480"/>
            <a:ext cx="11064240" cy="1417320"/>
          </a:xfrm>
          <a:prstGeom prst="roundRect">
            <a:avLst>
              <a:gd name="adj" fmla="val 5161"/>
            </a:avLst>
          </a:prstGeom>
          <a:solidFill>
            <a:srgbClr val="0E4F66"/>
          </a:solidFill>
          <a:ln/>
          <a:effectLst>
            <a:outerShdw blurRad="88900" dist="25400" dir="5400000" algn="bl" rotWithShape="0">
              <a:srgbClr val="1B2A41">
                <a:alpha val="12000"/>
              </a:srgbClr>
            </a:outerShdw>
          </a:effectLst>
        </p:spPr>
      </p:sp>
      <p:sp>
        <p:nvSpPr>
          <p:cNvPr id="25" name="Shape 23"/>
          <p:cNvSpPr/>
          <p:nvPr/>
        </p:nvSpPr>
        <p:spPr>
          <a:xfrm>
            <a:off x="868680" y="5230368"/>
            <a:ext cx="502920" cy="502920"/>
          </a:xfrm>
          <a:prstGeom prst="ellipse">
            <a:avLst/>
          </a:prstGeom>
          <a:solidFill>
            <a:srgbClr val="F2A541"/>
          </a:solidFill>
          <a:ln/>
        </p:spPr>
      </p:sp>
      <p:sp>
        <p:nvSpPr>
          <p:cNvPr id="26" name="Text 24"/>
          <p:cNvSpPr txBox="1"/>
          <p:nvPr/>
        </p:nvSpPr>
        <p:spPr>
          <a:xfrm>
            <a:off x="868680" y="5230368"/>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7" name="Text 25"/>
          <p:cNvSpPr txBox="1"/>
          <p:nvPr/>
        </p:nvSpPr>
        <p:spPr>
          <a:xfrm>
            <a:off x="1600200" y="5120640"/>
            <a:ext cx="9692640" cy="320040"/>
          </a:xfrm>
          <a:prstGeom prst="rect">
            <a:avLst/>
          </a:prstGeom>
          <a:noFill/>
          <a:ln/>
        </p:spPr>
        <p:txBody>
          <a:bodyPr wrap="square" lIns="0" tIns="0" rIns="0" bIns="0" rtlCol="0" anchor="ctr"/>
          <a:lstStyle/>
          <a:p>
            <a:pPr marL="0" indent="0">
              <a:buNone/>
            </a:pPr>
            <a:r>
              <a:rPr lang="en-US" sz="1400" b="1" dirty="0">
                <a:solidFill>
                  <a:srgbClr val="F2A541"/>
                </a:solidFill>
                <a:latin typeface="Cambria" pitchFamily="34" charset="0"/>
                <a:ea typeface="Cambria" pitchFamily="34" charset="-122"/>
                <a:cs typeface="Cambria" pitchFamily="34" charset="-120"/>
              </a:rPr>
              <a:t>Correcting an earlier assumption</a:t>
            </a:r>
            <a:endParaRPr lang="en-US" sz="1400" dirty="0"/>
          </a:p>
        </p:txBody>
      </p:sp>
      <p:sp>
        <p:nvSpPr>
          <p:cNvPr id="28" name="Text 26"/>
          <p:cNvSpPr txBox="1"/>
          <p:nvPr/>
        </p:nvSpPr>
        <p:spPr>
          <a:xfrm>
            <a:off x="1600200" y="5468112"/>
            <a:ext cx="9692640" cy="822960"/>
          </a:xfrm>
          <a:prstGeom prst="rect">
            <a:avLst/>
          </a:prstGeom>
          <a:noFill/>
          <a:ln/>
        </p:spPr>
        <p:txBody>
          <a:bodyPr wrap="square" lIns="0" tIns="0" rIns="0" bIns="0" rtlCol="0" anchor="ctr"/>
          <a:lstStyle/>
          <a:p>
            <a:pPr marL="0" indent="0">
              <a:lnSpc>
                <a:spcPts val="1600"/>
              </a:lnSpc>
              <a:buNone/>
            </a:pPr>
            <a:r>
              <a:rPr lang="en-US" sz="1200" dirty="0">
                <a:solidFill>
                  <a:srgbClr val="E7EEF1"/>
                </a:solidFill>
                <a:latin typeface="Calibri" pitchFamily="34" charset="0"/>
                <a:ea typeface="Calibri" pitchFamily="34" charset="-122"/>
                <a:cs typeface="Calibri" pitchFamily="34" charset="-120"/>
              </a:rPr>
              <a:t>California has the highest complaint volume overall, but its untimely rate (4.47%) sits near the company average — it is not a top-risk state. Once measured as a rate rather than a raw count, Indiana, Iowa, and Oregon are the states that actually warrant attention.</a:t>
            </a:r>
            <a:endParaRPr lang="en-US" sz="1200" dirty="0"/>
          </a:p>
        </p:txBody>
      </p:sp>
      <p:sp>
        <p:nvSpPr>
          <p:cNvPr id="29" name="Text 27"/>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6B7A89"/>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30" name="Text 28"/>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6B7A8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4F66"/>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marL="0" indent="0">
              <a:buNone/>
            </a:pPr>
            <a:r>
              <a:rPr lang="en-US" sz="1200" b="1" kern="0" spc="200" dirty="0">
                <a:solidFill>
                  <a:srgbClr val="8FBFC9"/>
                </a:solidFill>
                <a:latin typeface="Calibri" pitchFamily="34" charset="0"/>
                <a:ea typeface="Calibri" pitchFamily="34" charset="-122"/>
                <a:cs typeface="Calibri" pitchFamily="34" charset="-120"/>
              </a:rPr>
              <a:t>NEXT STEPS</a:t>
            </a:r>
            <a:endParaRPr lang="en-US" sz="1200" dirty="0"/>
          </a:p>
        </p:txBody>
      </p:sp>
      <p:sp>
        <p:nvSpPr>
          <p:cNvPr id="3" name="Text 1"/>
          <p:cNvSpPr txBox="1"/>
          <p:nvPr/>
        </p:nvSpPr>
        <p:spPr>
          <a:xfrm>
            <a:off x="548640" y="621792"/>
            <a:ext cx="10607040" cy="822960"/>
          </a:xfrm>
          <a:prstGeom prst="rect">
            <a:avLst/>
          </a:prstGeom>
          <a:noFill/>
          <a:ln/>
        </p:spPr>
        <p:txBody>
          <a:bodyPr wrap="square" lIns="0" tIns="0" rIns="0" bIns="0" rtlCol="0" anchor="ctr"/>
          <a:lstStyle/>
          <a:p>
            <a:pPr marL="0" indent="0">
              <a:lnSpc>
                <a:spcPts val="3200"/>
              </a:lnSpc>
              <a:buNone/>
            </a:pPr>
            <a:r>
              <a:rPr lang="en-US" sz="2800" b="1" dirty="0">
                <a:solidFill>
                  <a:srgbClr val="FFFFFF"/>
                </a:solidFill>
                <a:latin typeface="Cambria" pitchFamily="34" charset="0"/>
                <a:ea typeface="Cambria" pitchFamily="34" charset="-122"/>
                <a:cs typeface="Cambria" pitchFamily="34" charset="-120"/>
              </a:rPr>
              <a:t>Insight &amp; Recommendations</a:t>
            </a:r>
            <a:endParaRPr lang="en-US" sz="2800" dirty="0"/>
          </a:p>
        </p:txBody>
      </p:sp>
      <p:sp>
        <p:nvSpPr>
          <p:cNvPr id="4" name="Shape 2"/>
          <p:cNvSpPr/>
          <p:nvPr/>
        </p:nvSpPr>
        <p:spPr>
          <a:xfrm>
            <a:off x="548640" y="1783080"/>
            <a:ext cx="5440680" cy="1554480"/>
          </a:xfrm>
          <a:prstGeom prst="roundRect">
            <a:avLst>
              <a:gd name="adj" fmla="val 4706"/>
            </a:avLst>
          </a:prstGeom>
          <a:solidFill>
            <a:srgbClr val="16405A"/>
          </a:solidFill>
          <a:ln/>
          <a:effectLst>
            <a:outerShdw blurRad="88900" dist="25400" dir="5400000" algn="bl" rotWithShape="0">
              <a:srgbClr val="1B2A41">
                <a:alpha val="12000"/>
              </a:srgbClr>
            </a:outerShdw>
          </a:effectLst>
        </p:spPr>
      </p:sp>
      <p:sp>
        <p:nvSpPr>
          <p:cNvPr id="5" name="Shape 3"/>
          <p:cNvSpPr/>
          <p:nvPr/>
        </p:nvSpPr>
        <p:spPr>
          <a:xfrm>
            <a:off x="822960" y="2057400"/>
            <a:ext cx="502920" cy="502920"/>
          </a:xfrm>
          <a:prstGeom prst="ellipse">
            <a:avLst/>
          </a:prstGeom>
          <a:solidFill>
            <a:srgbClr val="F2A541"/>
          </a:solidFill>
          <a:ln/>
        </p:spPr>
      </p:sp>
      <p:sp>
        <p:nvSpPr>
          <p:cNvPr id="6" name="Text 4"/>
          <p:cNvSpPr txBox="1"/>
          <p:nvPr/>
        </p:nvSpPr>
        <p:spPr>
          <a:xfrm>
            <a:off x="822960" y="2057400"/>
            <a:ext cx="502920" cy="502920"/>
          </a:xfrm>
          <a:prstGeom prst="rect">
            <a:avLst/>
          </a:prstGeom>
          <a:noFill/>
          <a:ln/>
        </p:spPr>
        <p:txBody>
          <a:bodyPr wrap="square" lIns="0" tIns="0" rIns="0" bIns="0" rtlCol="0" anchor="ctr"/>
          <a:lstStyle/>
          <a:p>
            <a:pPr marL="0" indent="0" algn="ctr">
              <a:buNone/>
            </a:pPr>
            <a:r>
              <a:rPr lang="en-US" sz="1800" b="1" dirty="0">
                <a:solidFill>
                  <a:srgbClr val="0E4F66"/>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08760" y="1984248"/>
            <a:ext cx="4206240" cy="45720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Plan for seasonal surges</a:t>
            </a:r>
            <a:endParaRPr lang="en-US" sz="1450" dirty="0"/>
          </a:p>
        </p:txBody>
      </p:sp>
      <p:sp>
        <p:nvSpPr>
          <p:cNvPr id="8" name="Text 6"/>
          <p:cNvSpPr txBox="1"/>
          <p:nvPr/>
        </p:nvSpPr>
        <p:spPr>
          <a:xfrm>
            <a:off x="1508760" y="2404872"/>
            <a:ext cx="4206240" cy="822960"/>
          </a:xfrm>
          <a:prstGeom prst="rect">
            <a:avLst/>
          </a:prstGeom>
          <a:noFill/>
          <a:ln/>
        </p:spPr>
        <p:txBody>
          <a:bodyPr wrap="square" lIns="0" tIns="0" rIns="0" bIns="0" rtlCol="0" anchor="ctr"/>
          <a:lstStyle/>
          <a:p>
            <a:pPr marL="0" indent="0">
              <a:lnSpc>
                <a:spcPts val="1400"/>
              </a:lnSpc>
              <a:buNone/>
            </a:pPr>
            <a:r>
              <a:rPr lang="en-US" sz="1100" dirty="0">
                <a:solidFill>
                  <a:srgbClr val="CADCE2"/>
                </a:solidFill>
                <a:latin typeface="Calibri" pitchFamily="34" charset="0"/>
                <a:ea typeface="Calibri" pitchFamily="34" charset="-122"/>
                <a:cs typeface="Calibri" pitchFamily="34" charset="-120"/>
              </a:rPr>
              <a:t>Build extra intake and support capacity ahead of the July complaint spike.</a:t>
            </a:r>
            <a:endParaRPr lang="en-US" sz="1100" dirty="0"/>
          </a:p>
        </p:txBody>
      </p:sp>
      <p:sp>
        <p:nvSpPr>
          <p:cNvPr id="9" name="Shape 7"/>
          <p:cNvSpPr/>
          <p:nvPr/>
        </p:nvSpPr>
        <p:spPr>
          <a:xfrm>
            <a:off x="6172200" y="1783080"/>
            <a:ext cx="5440680" cy="1554480"/>
          </a:xfrm>
          <a:prstGeom prst="roundRect">
            <a:avLst>
              <a:gd name="adj" fmla="val 4706"/>
            </a:avLst>
          </a:prstGeom>
          <a:solidFill>
            <a:srgbClr val="16405A"/>
          </a:solidFill>
          <a:ln/>
          <a:effectLst>
            <a:outerShdw blurRad="88900" dist="25400" dir="5400000" algn="bl" rotWithShape="0">
              <a:srgbClr val="1B2A41">
                <a:alpha val="12000"/>
              </a:srgbClr>
            </a:outerShdw>
          </a:effectLst>
        </p:spPr>
      </p:sp>
      <p:sp>
        <p:nvSpPr>
          <p:cNvPr id="10" name="Shape 8"/>
          <p:cNvSpPr/>
          <p:nvPr/>
        </p:nvSpPr>
        <p:spPr>
          <a:xfrm>
            <a:off x="6446520" y="2057400"/>
            <a:ext cx="502920" cy="502920"/>
          </a:xfrm>
          <a:prstGeom prst="ellipse">
            <a:avLst/>
          </a:prstGeom>
          <a:solidFill>
            <a:srgbClr val="F2A541"/>
          </a:solidFill>
          <a:ln/>
        </p:spPr>
      </p:sp>
      <p:sp>
        <p:nvSpPr>
          <p:cNvPr id="11" name="Text 9"/>
          <p:cNvSpPr txBox="1"/>
          <p:nvPr/>
        </p:nvSpPr>
        <p:spPr>
          <a:xfrm>
            <a:off x="6446520" y="2057400"/>
            <a:ext cx="502920" cy="502920"/>
          </a:xfrm>
          <a:prstGeom prst="rect">
            <a:avLst/>
          </a:prstGeom>
          <a:noFill/>
          <a:ln/>
        </p:spPr>
        <p:txBody>
          <a:bodyPr wrap="square" lIns="0" tIns="0" rIns="0" bIns="0" rtlCol="0" anchor="ctr"/>
          <a:lstStyle/>
          <a:p>
            <a:pPr marL="0" indent="0" algn="ctr">
              <a:buNone/>
            </a:pPr>
            <a:r>
              <a:rPr lang="en-US" sz="1800" b="1" dirty="0">
                <a:solidFill>
                  <a:srgbClr val="0E4F66"/>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7132320" y="1984248"/>
            <a:ext cx="4206240" cy="45720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Prioritize Bank Accounts &amp; Customer Service</a:t>
            </a:r>
            <a:endParaRPr lang="en-US" sz="1450" dirty="0"/>
          </a:p>
        </p:txBody>
      </p:sp>
      <p:sp>
        <p:nvSpPr>
          <p:cNvPr id="13" name="Text 11"/>
          <p:cNvSpPr txBox="1"/>
          <p:nvPr/>
        </p:nvSpPr>
        <p:spPr>
          <a:xfrm>
            <a:off x="7132320" y="2404872"/>
            <a:ext cx="4206240" cy="822960"/>
          </a:xfrm>
          <a:prstGeom prst="rect">
            <a:avLst/>
          </a:prstGeom>
          <a:noFill/>
          <a:ln/>
        </p:spPr>
        <p:txBody>
          <a:bodyPr wrap="square" lIns="0" tIns="0" rIns="0" bIns="0" rtlCol="0" anchor="ctr"/>
          <a:lstStyle/>
          <a:p>
            <a:pPr marL="0" indent="0">
              <a:lnSpc>
                <a:spcPts val="1400"/>
              </a:lnSpc>
              <a:buNone/>
            </a:pPr>
            <a:r>
              <a:rPr lang="en-US" sz="1100" dirty="0">
                <a:solidFill>
                  <a:srgbClr val="CADCE2"/>
                </a:solidFill>
                <a:latin typeface="Calibri" pitchFamily="34" charset="0"/>
                <a:ea typeface="Calibri" pitchFamily="34" charset="-122"/>
                <a:cs typeface="Calibri" pitchFamily="34" charset="-120"/>
              </a:rPr>
              <a:t>These are the leading product and issue categories — the biggest lever for reducing total complaint volume.</a:t>
            </a:r>
            <a:endParaRPr lang="en-US" sz="1100" dirty="0"/>
          </a:p>
        </p:txBody>
      </p:sp>
      <p:sp>
        <p:nvSpPr>
          <p:cNvPr id="14" name="Shape 12"/>
          <p:cNvSpPr/>
          <p:nvPr/>
        </p:nvSpPr>
        <p:spPr>
          <a:xfrm>
            <a:off x="548640" y="3520440"/>
            <a:ext cx="5440680" cy="1554480"/>
          </a:xfrm>
          <a:prstGeom prst="roundRect">
            <a:avLst>
              <a:gd name="adj" fmla="val 4706"/>
            </a:avLst>
          </a:prstGeom>
          <a:solidFill>
            <a:srgbClr val="16405A"/>
          </a:solidFill>
          <a:ln/>
          <a:effectLst>
            <a:outerShdw blurRad="88900" dist="25400" dir="5400000" algn="bl" rotWithShape="0">
              <a:srgbClr val="1B2A41">
                <a:alpha val="12000"/>
              </a:srgbClr>
            </a:outerShdw>
          </a:effectLst>
        </p:spPr>
      </p:sp>
      <p:sp>
        <p:nvSpPr>
          <p:cNvPr id="15" name="Shape 13"/>
          <p:cNvSpPr/>
          <p:nvPr/>
        </p:nvSpPr>
        <p:spPr>
          <a:xfrm>
            <a:off x="822960" y="3794760"/>
            <a:ext cx="502920" cy="502920"/>
          </a:xfrm>
          <a:prstGeom prst="ellipse">
            <a:avLst/>
          </a:prstGeom>
          <a:solidFill>
            <a:srgbClr val="F2A541"/>
          </a:solidFill>
          <a:ln/>
        </p:spPr>
      </p:sp>
      <p:sp>
        <p:nvSpPr>
          <p:cNvPr id="16" name="Text 14"/>
          <p:cNvSpPr txBox="1"/>
          <p:nvPr/>
        </p:nvSpPr>
        <p:spPr>
          <a:xfrm>
            <a:off x="822960" y="3794760"/>
            <a:ext cx="502920" cy="502920"/>
          </a:xfrm>
          <a:prstGeom prst="rect">
            <a:avLst/>
          </a:prstGeom>
          <a:noFill/>
          <a:ln/>
        </p:spPr>
        <p:txBody>
          <a:bodyPr wrap="square" lIns="0" tIns="0" rIns="0" bIns="0" rtlCol="0" anchor="ctr"/>
          <a:lstStyle/>
          <a:p>
            <a:pPr marL="0" indent="0" algn="ctr">
              <a:buNone/>
            </a:pPr>
            <a:r>
              <a:rPr lang="en-US" sz="1800" b="1" dirty="0">
                <a:solidFill>
                  <a:srgbClr val="0E4F66"/>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508760" y="3721608"/>
            <a:ext cx="4206240" cy="45720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Shrink the pending backlog</a:t>
            </a:r>
            <a:endParaRPr lang="en-US" sz="1450" dirty="0"/>
          </a:p>
        </p:txBody>
      </p:sp>
      <p:sp>
        <p:nvSpPr>
          <p:cNvPr id="18" name="Text 16"/>
          <p:cNvSpPr txBox="1"/>
          <p:nvPr/>
        </p:nvSpPr>
        <p:spPr>
          <a:xfrm>
            <a:off x="1508760" y="4142232"/>
            <a:ext cx="4206240" cy="822960"/>
          </a:xfrm>
          <a:prstGeom prst="rect">
            <a:avLst/>
          </a:prstGeom>
          <a:noFill/>
          <a:ln/>
        </p:spPr>
        <p:txBody>
          <a:bodyPr wrap="square" lIns="0" tIns="0" rIns="0" bIns="0" rtlCol="0" anchor="ctr"/>
          <a:lstStyle/>
          <a:p>
            <a:pPr marL="0" indent="0">
              <a:lnSpc>
                <a:spcPts val="1400"/>
              </a:lnSpc>
              <a:buNone/>
            </a:pPr>
            <a:r>
              <a:rPr lang="en-US" sz="1100" dirty="0">
                <a:solidFill>
                  <a:srgbClr val="CADCE2"/>
                </a:solidFill>
                <a:latin typeface="Calibri" pitchFamily="34" charset="0"/>
                <a:ea typeface="Calibri" pitchFamily="34" charset="-122"/>
                <a:cs typeface="Calibri" pitchFamily="34" charset="-120"/>
              </a:rPr>
              <a:t>16% of complaints remain unresolved — close the gap between 'closed' and genuinely resolved.</a:t>
            </a:r>
            <a:endParaRPr lang="en-US" sz="1100" dirty="0"/>
          </a:p>
        </p:txBody>
      </p:sp>
      <p:sp>
        <p:nvSpPr>
          <p:cNvPr id="19" name="Shape 17"/>
          <p:cNvSpPr/>
          <p:nvPr/>
        </p:nvSpPr>
        <p:spPr>
          <a:xfrm>
            <a:off x="6172200" y="3520440"/>
            <a:ext cx="5440680" cy="1554480"/>
          </a:xfrm>
          <a:prstGeom prst="roundRect">
            <a:avLst>
              <a:gd name="adj" fmla="val 4706"/>
            </a:avLst>
          </a:prstGeom>
          <a:solidFill>
            <a:srgbClr val="16405A"/>
          </a:solidFill>
          <a:ln/>
          <a:effectLst>
            <a:outerShdw blurRad="88900" dist="25400" dir="5400000" algn="bl" rotWithShape="0">
              <a:srgbClr val="1B2A41">
                <a:alpha val="12000"/>
              </a:srgbClr>
            </a:outerShdw>
          </a:effectLst>
        </p:spPr>
      </p:sp>
      <p:sp>
        <p:nvSpPr>
          <p:cNvPr id="20" name="Shape 18"/>
          <p:cNvSpPr/>
          <p:nvPr/>
        </p:nvSpPr>
        <p:spPr>
          <a:xfrm>
            <a:off x="6446520" y="3794760"/>
            <a:ext cx="502920" cy="502920"/>
          </a:xfrm>
          <a:prstGeom prst="ellipse">
            <a:avLst/>
          </a:prstGeom>
          <a:solidFill>
            <a:srgbClr val="F2A541"/>
          </a:solidFill>
          <a:ln/>
        </p:spPr>
      </p:sp>
      <p:sp>
        <p:nvSpPr>
          <p:cNvPr id="21" name="Text 19"/>
          <p:cNvSpPr txBox="1"/>
          <p:nvPr/>
        </p:nvSpPr>
        <p:spPr>
          <a:xfrm>
            <a:off x="6446520" y="3794760"/>
            <a:ext cx="502920" cy="502920"/>
          </a:xfrm>
          <a:prstGeom prst="rect">
            <a:avLst/>
          </a:prstGeom>
          <a:noFill/>
          <a:ln/>
        </p:spPr>
        <p:txBody>
          <a:bodyPr wrap="square" lIns="0" tIns="0" rIns="0" bIns="0" rtlCol="0" anchor="ctr"/>
          <a:lstStyle/>
          <a:p>
            <a:pPr marL="0" indent="0" algn="ctr">
              <a:buNone/>
            </a:pPr>
            <a:r>
              <a:rPr lang="en-US" sz="1800" b="1" dirty="0">
                <a:solidFill>
                  <a:srgbClr val="0E4F66"/>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7132320" y="3721608"/>
            <a:ext cx="4206240" cy="45720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Audit Debt Collection, Credit Reporting &amp; Web intake</a:t>
            </a:r>
            <a:endParaRPr lang="en-US" sz="1450" dirty="0"/>
          </a:p>
        </p:txBody>
      </p:sp>
      <p:sp>
        <p:nvSpPr>
          <p:cNvPr id="23" name="Text 21"/>
          <p:cNvSpPr txBox="1"/>
          <p:nvPr/>
        </p:nvSpPr>
        <p:spPr>
          <a:xfrm>
            <a:off x="7132320" y="4142232"/>
            <a:ext cx="4206240" cy="822960"/>
          </a:xfrm>
          <a:prstGeom prst="rect">
            <a:avLst/>
          </a:prstGeom>
          <a:noFill/>
          <a:ln/>
        </p:spPr>
        <p:txBody>
          <a:bodyPr wrap="square" lIns="0" tIns="0" rIns="0" bIns="0" rtlCol="0" anchor="ctr"/>
          <a:lstStyle/>
          <a:p>
            <a:pPr marL="0" indent="0">
              <a:lnSpc>
                <a:spcPts val="1400"/>
              </a:lnSpc>
              <a:buNone/>
            </a:pPr>
            <a:r>
              <a:rPr lang="en-US" sz="1100" dirty="0">
                <a:solidFill>
                  <a:srgbClr val="CADCE2"/>
                </a:solidFill>
                <a:latin typeface="Calibri" pitchFamily="34" charset="0"/>
                <a:ea typeface="Calibri" pitchFamily="34" charset="-122"/>
                <a:cs typeface="Calibri" pitchFamily="34" charset="-120"/>
              </a:rPr>
              <a:t>These — not California alone — are the real, rate-confirmed drivers of untimely responses.</a:t>
            </a:r>
            <a:endParaRPr lang="en-US" sz="1100" dirty="0"/>
          </a:p>
        </p:txBody>
      </p:sp>
      <p:sp>
        <p:nvSpPr>
          <p:cNvPr id="24" name="Text 22"/>
          <p:cNvSpPr txBox="1"/>
          <p:nvPr/>
        </p:nvSpPr>
        <p:spPr>
          <a:xfrm>
            <a:off x="548640" y="6263640"/>
            <a:ext cx="11064240" cy="365760"/>
          </a:xfrm>
          <a:prstGeom prst="rect">
            <a:avLst/>
          </a:prstGeom>
          <a:noFill/>
          <a:ln/>
        </p:spPr>
        <p:txBody>
          <a:bodyPr wrap="square" lIns="0" tIns="0" rIns="0" bIns="0" rtlCol="0" anchor="ctr"/>
          <a:lstStyle/>
          <a:p>
            <a:pPr marL="0" indent="0">
              <a:buNone/>
            </a:pPr>
            <a:r>
              <a:rPr lang="en-US" sz="1150" i="1" dirty="0">
                <a:solidFill>
                  <a:srgbClr val="8FBFC9"/>
                </a:solidFill>
                <a:latin typeface="Calibri" pitchFamily="34" charset="0"/>
                <a:ea typeface="Calibri" pitchFamily="34" charset="-122"/>
                <a:cs typeface="Calibri" pitchFamily="34" charset="-120"/>
              </a:rPr>
              <a:t>Evidence-based insight — so improvement decisions are prioritized by data, not assumptions.</a:t>
            </a:r>
            <a:endParaRPr lang="en-US" sz="1150" dirty="0"/>
          </a:p>
        </p:txBody>
      </p:sp>
      <p:sp>
        <p:nvSpPr>
          <p:cNvPr id="25" name="Text 23"/>
          <p:cNvSpPr txBox="1"/>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BFD8DE"/>
                </a:solidFill>
                <a:latin typeface="Calibri" pitchFamily="34" charset="0"/>
                <a:ea typeface="Calibri" pitchFamily="34" charset="-122"/>
                <a:cs typeface="Calibri" pitchFamily="34" charset="-120"/>
              </a:rPr>
              <a:t>CFPB Complaint Analytics  |  Bank of America, 2017–2023</a:t>
            </a:r>
            <a:endParaRPr lang="en-US" sz="900" dirty="0"/>
          </a:p>
        </p:txBody>
      </p:sp>
      <p:sp>
        <p:nvSpPr>
          <p:cNvPr id="26" name="Text 24"/>
          <p:cNvSpPr txBox="1"/>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BFD8D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CFPB Complaint Analytics">
  <a:themeElements>
    <a:clrScheme name="CFPB Complaint Analytics">
      <a:dk1>
        <a:srgbClr val="1B2A41"/>
      </a:dk1>
      <a:lt1>
        <a:srgbClr val="FFFFFF"/>
      </a:lt1>
      <a:dk2>
        <a:srgbClr val="0E4F66"/>
      </a:dk2>
      <a:lt2>
        <a:srgbClr val="EAF1F5"/>
      </a:lt2>
      <a:accent1>
        <a:srgbClr val="0F7B8A"/>
      </a:accent1>
      <a:accent2>
        <a:srgbClr val="F2A541"/>
      </a:accent2>
      <a:accent3>
        <a:srgbClr val="D64545"/>
      </a:accent3>
      <a:accent4>
        <a:srgbClr val="3E6E8E"/>
      </a:accent4>
      <a:accent5>
        <a:srgbClr val="8FBFC9"/>
      </a:accent5>
      <a:accent6>
        <a:srgbClr val="6B7A89"/>
      </a:accent6>
      <a:hlink>
        <a:srgbClr val="0F7B8A"/>
      </a:hlink>
      <a:folHlink>
        <a:srgbClr val="0F7B8A"/>
      </a:folHlink>
    </a:clrScheme>
    <a:fontScheme name="CFPB Complaint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767</Words>
  <Application>Microsoft Office PowerPoint</Application>
  <PresentationFormat>Widescreen</PresentationFormat>
  <Paragraphs>140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CFPB Complaint Analytics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Muchammad Wildan Alkautsar</cp:lastModifiedBy>
  <cp:revision>2</cp:revision>
  <dcterms:created xsi:type="dcterms:W3CDTF">2026-10-24T02:18:27Z</dcterms:created>
  <dcterms:modified xsi:type="dcterms:W3CDTF">2026-10-25T00:11:47Z</dcterms:modified>
</cp:coreProperties>
</file>