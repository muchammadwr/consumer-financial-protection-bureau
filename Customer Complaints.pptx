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5" r:id="rId9"/>
    <p:sldId id="264"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344095-6B10-41B3-A9CB-EA6052753B03}" v="38" dt="2026-10-23T06:19:25.9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chammad Wildan Alkautsar" userId="360672ed2ee56274" providerId="LiveId" clId="{F5771622-C242-4EFB-9359-41E4DFBD7538}"/>
    <pc:docChg chg="undo custSel addSld modSld sldOrd">
      <pc:chgData name="Muchammad Wildan Alkautsar" userId="360672ed2ee56274" providerId="LiveId" clId="{F5771622-C242-4EFB-9359-41E4DFBD7538}" dt="2026-10-23T06:19:58.941" v="1250" actId="14100"/>
      <pc:docMkLst>
        <pc:docMk/>
      </pc:docMkLst>
      <pc:sldChg chg="modSp new mod">
        <pc:chgData name="Muchammad Wildan Alkautsar" userId="360672ed2ee56274" providerId="LiveId" clId="{F5771622-C242-4EFB-9359-41E4DFBD7538}" dt="2026-10-23T03:00:45.606" v="203" actId="20577"/>
        <pc:sldMkLst>
          <pc:docMk/>
          <pc:sldMk cId="321270606" sldId="256"/>
        </pc:sldMkLst>
        <pc:spChg chg="mod">
          <ac:chgData name="Muchammad Wildan Alkautsar" userId="360672ed2ee56274" providerId="LiveId" clId="{F5771622-C242-4EFB-9359-41E4DFBD7538}" dt="2026-10-23T03:00:37.106" v="192"/>
          <ac:spMkLst>
            <pc:docMk/>
            <pc:sldMk cId="321270606" sldId="256"/>
            <ac:spMk id="2" creationId="{D884F553-DD88-2E9D-E42A-A12013576E53}"/>
          </ac:spMkLst>
        </pc:spChg>
        <pc:spChg chg="mod">
          <ac:chgData name="Muchammad Wildan Alkautsar" userId="360672ed2ee56274" providerId="LiveId" clId="{F5771622-C242-4EFB-9359-41E4DFBD7538}" dt="2026-10-23T03:00:45.606" v="203" actId="20577"/>
          <ac:spMkLst>
            <pc:docMk/>
            <pc:sldMk cId="321270606" sldId="256"/>
            <ac:spMk id="3" creationId="{D67AC211-04A6-C4D0-5C08-B229328B532D}"/>
          </ac:spMkLst>
        </pc:spChg>
      </pc:sldChg>
      <pc:sldChg chg="modSp new mod">
        <pc:chgData name="Muchammad Wildan Alkautsar" userId="360672ed2ee56274" providerId="LiveId" clId="{F5771622-C242-4EFB-9359-41E4DFBD7538}" dt="2026-10-23T03:18:21.115" v="217" actId="21"/>
        <pc:sldMkLst>
          <pc:docMk/>
          <pc:sldMk cId="1232623252" sldId="257"/>
        </pc:sldMkLst>
        <pc:spChg chg="mod">
          <ac:chgData name="Muchammad Wildan Alkautsar" userId="360672ed2ee56274" providerId="LiveId" clId="{F5771622-C242-4EFB-9359-41E4DFBD7538}" dt="2026-10-23T02:59:16.149" v="91" actId="20577"/>
          <ac:spMkLst>
            <pc:docMk/>
            <pc:sldMk cId="1232623252" sldId="257"/>
            <ac:spMk id="2" creationId="{7A705A5D-98B0-5ED1-024C-EBA432E01A47}"/>
          </ac:spMkLst>
        </pc:spChg>
        <pc:spChg chg="mod">
          <ac:chgData name="Muchammad Wildan Alkautsar" userId="360672ed2ee56274" providerId="LiveId" clId="{F5771622-C242-4EFB-9359-41E4DFBD7538}" dt="2026-10-23T03:18:21.115" v="217" actId="21"/>
          <ac:spMkLst>
            <pc:docMk/>
            <pc:sldMk cId="1232623252" sldId="257"/>
            <ac:spMk id="3" creationId="{E8D8C802-0989-CED2-5E5E-103135B24D05}"/>
          </ac:spMkLst>
        </pc:spChg>
      </pc:sldChg>
      <pc:sldChg chg="modSp new mod">
        <pc:chgData name="Muchammad Wildan Alkautsar" userId="360672ed2ee56274" providerId="LiveId" clId="{F5771622-C242-4EFB-9359-41E4DFBD7538}" dt="2026-10-23T05:58:38.254" v="255" actId="5793"/>
        <pc:sldMkLst>
          <pc:docMk/>
          <pc:sldMk cId="3697288859" sldId="258"/>
        </pc:sldMkLst>
        <pc:spChg chg="mod">
          <ac:chgData name="Muchammad Wildan Alkautsar" userId="360672ed2ee56274" providerId="LiveId" clId="{F5771622-C242-4EFB-9359-41E4DFBD7538}" dt="2026-10-23T02:59:22.287" v="102" actId="20577"/>
          <ac:spMkLst>
            <pc:docMk/>
            <pc:sldMk cId="3697288859" sldId="258"/>
            <ac:spMk id="2" creationId="{CC476CF7-9830-75D7-5EBD-5D333D2FB1EB}"/>
          </ac:spMkLst>
        </pc:spChg>
        <pc:spChg chg="mod">
          <ac:chgData name="Muchammad Wildan Alkautsar" userId="360672ed2ee56274" providerId="LiveId" clId="{F5771622-C242-4EFB-9359-41E4DFBD7538}" dt="2026-10-23T05:58:38.254" v="255" actId="5793"/>
          <ac:spMkLst>
            <pc:docMk/>
            <pc:sldMk cId="3697288859" sldId="258"/>
            <ac:spMk id="3" creationId="{0CB0B2DD-A56E-F36A-9121-591862DAB4ED}"/>
          </ac:spMkLst>
        </pc:spChg>
      </pc:sldChg>
      <pc:sldChg chg="addSp delSp modSp new mod">
        <pc:chgData name="Muchammad Wildan Alkautsar" userId="360672ed2ee56274" providerId="LiveId" clId="{F5771622-C242-4EFB-9359-41E4DFBD7538}" dt="2026-10-23T06:19:14.811" v="1200" actId="27918"/>
        <pc:sldMkLst>
          <pc:docMk/>
          <pc:sldMk cId="4210473730" sldId="259"/>
        </pc:sldMkLst>
        <pc:spChg chg="mod">
          <ac:chgData name="Muchammad Wildan Alkautsar" userId="360672ed2ee56274" providerId="LiveId" clId="{F5771622-C242-4EFB-9359-41E4DFBD7538}" dt="2026-10-23T03:18:54.374" v="227" actId="404"/>
          <ac:spMkLst>
            <pc:docMk/>
            <pc:sldMk cId="4210473730" sldId="259"/>
            <ac:spMk id="2" creationId="{40956A59-7D1E-DDCF-33AB-92F66D24EC27}"/>
          </ac:spMkLst>
        </pc:spChg>
        <pc:spChg chg="mod">
          <ac:chgData name="Muchammad Wildan Alkautsar" userId="360672ed2ee56274" providerId="LiveId" clId="{F5771622-C242-4EFB-9359-41E4DFBD7538}" dt="2026-10-23T06:02:33.682" v="563" actId="20577"/>
          <ac:spMkLst>
            <pc:docMk/>
            <pc:sldMk cId="4210473730" sldId="259"/>
            <ac:spMk id="3" creationId="{AC70E7F9-72AE-AAC2-3EA6-6C5A35F8C3F9}"/>
          </ac:spMkLst>
        </pc:spChg>
        <pc:graphicFrameChg chg="add mod">
          <ac:chgData name="Muchammad Wildan Alkautsar" userId="360672ed2ee56274" providerId="LiveId" clId="{F5771622-C242-4EFB-9359-41E4DFBD7538}" dt="2026-10-23T05:58:45.671" v="258"/>
          <ac:graphicFrameMkLst>
            <pc:docMk/>
            <pc:sldMk cId="4210473730" sldId="259"/>
            <ac:graphicFrameMk id="4" creationId="{0DC7C6C2-7AB8-4463-8A14-D88D69708E91}"/>
          </ac:graphicFrameMkLst>
        </pc:graphicFrameChg>
        <pc:graphicFrameChg chg="add del mod">
          <ac:chgData name="Muchammad Wildan Alkautsar" userId="360672ed2ee56274" providerId="LiveId" clId="{F5771622-C242-4EFB-9359-41E4DFBD7538}" dt="2026-10-23T05:59:34.220" v="264" actId="478"/>
          <ac:graphicFrameMkLst>
            <pc:docMk/>
            <pc:sldMk cId="4210473730" sldId="259"/>
            <ac:graphicFrameMk id="5" creationId="{0DC7C6C2-7AB8-4463-8A14-D88D69708E91}"/>
          </ac:graphicFrameMkLst>
        </pc:graphicFrameChg>
        <pc:graphicFrameChg chg="add mod">
          <ac:chgData name="Muchammad Wildan Alkautsar" userId="360672ed2ee56274" providerId="LiveId" clId="{F5771622-C242-4EFB-9359-41E4DFBD7538}" dt="2026-10-23T06:00:15.955" v="268" actId="1076"/>
          <ac:graphicFrameMkLst>
            <pc:docMk/>
            <pc:sldMk cId="4210473730" sldId="259"/>
            <ac:graphicFrameMk id="6" creationId="{0DC7C6C2-7AB8-4463-8A14-D88D69708E91}"/>
          </ac:graphicFrameMkLst>
        </pc:graphicFrameChg>
      </pc:sldChg>
      <pc:sldChg chg="modSp new mod ord">
        <pc:chgData name="Muchammad Wildan Alkautsar" userId="360672ed2ee56274" providerId="LiveId" clId="{F5771622-C242-4EFB-9359-41E4DFBD7538}" dt="2026-10-23T06:13:46.515" v="1198"/>
        <pc:sldMkLst>
          <pc:docMk/>
          <pc:sldMk cId="2558241074" sldId="260"/>
        </pc:sldMkLst>
        <pc:spChg chg="mod">
          <ac:chgData name="Muchammad Wildan Alkautsar" userId="360672ed2ee56274" providerId="LiveId" clId="{F5771622-C242-4EFB-9359-41E4DFBD7538}" dt="2026-10-23T03:00:02.663" v="191" actId="20577"/>
          <ac:spMkLst>
            <pc:docMk/>
            <pc:sldMk cId="2558241074" sldId="260"/>
            <ac:spMk id="2" creationId="{D2E8A8E1-4889-4316-79B6-E4F3B8A6936C}"/>
          </ac:spMkLst>
        </pc:spChg>
      </pc:sldChg>
      <pc:sldChg chg="addSp delSp modSp new mod">
        <pc:chgData name="Muchammad Wildan Alkautsar" userId="360672ed2ee56274" providerId="LiveId" clId="{F5771622-C242-4EFB-9359-41E4DFBD7538}" dt="2026-10-23T06:19:14.829" v="1201" actId="27918"/>
        <pc:sldMkLst>
          <pc:docMk/>
          <pc:sldMk cId="4151726159" sldId="261"/>
        </pc:sldMkLst>
        <pc:spChg chg="mod">
          <ac:chgData name="Muchammad Wildan Alkautsar" userId="360672ed2ee56274" providerId="LiveId" clId="{F5771622-C242-4EFB-9359-41E4DFBD7538}" dt="2026-10-23T03:19:26.799" v="232" actId="21"/>
          <ac:spMkLst>
            <pc:docMk/>
            <pc:sldMk cId="4151726159" sldId="261"/>
            <ac:spMk id="2" creationId="{2D99E438-B042-7F61-A881-9D372612C1A0}"/>
          </ac:spMkLst>
        </pc:spChg>
        <pc:spChg chg="add del mod">
          <ac:chgData name="Muchammad Wildan Alkautsar" userId="360672ed2ee56274" providerId="LiveId" clId="{F5771622-C242-4EFB-9359-41E4DFBD7538}" dt="2026-10-23T06:11:03.947" v="964" actId="5793"/>
          <ac:spMkLst>
            <pc:docMk/>
            <pc:sldMk cId="4151726159" sldId="261"/>
            <ac:spMk id="3" creationId="{C6068B58-F9A3-CD00-0FB3-843F7D14E208}"/>
          </ac:spMkLst>
        </pc:spChg>
        <pc:graphicFrameChg chg="add mod">
          <ac:chgData name="Muchammad Wildan Alkautsar" userId="360672ed2ee56274" providerId="LiveId" clId="{F5771622-C242-4EFB-9359-41E4DFBD7538}" dt="2026-10-23T06:09:40.798" v="769"/>
          <ac:graphicFrameMkLst>
            <pc:docMk/>
            <pc:sldMk cId="4151726159" sldId="261"/>
            <ac:graphicFrameMk id="4" creationId="{81236EF2-6FD5-41D5-BF21-AEEF94DE6B14}"/>
          </ac:graphicFrameMkLst>
        </pc:graphicFrameChg>
        <pc:graphicFrameChg chg="add mod">
          <ac:chgData name="Muchammad Wildan Alkautsar" userId="360672ed2ee56274" providerId="LiveId" clId="{F5771622-C242-4EFB-9359-41E4DFBD7538}" dt="2026-10-23T06:09:52.678" v="777" actId="1076"/>
          <ac:graphicFrameMkLst>
            <pc:docMk/>
            <pc:sldMk cId="4151726159" sldId="261"/>
            <ac:graphicFrameMk id="5" creationId="{81236EF2-6FD5-41D5-BF21-AEEF94DE6B14}"/>
          </ac:graphicFrameMkLst>
        </pc:graphicFrameChg>
      </pc:sldChg>
      <pc:sldChg chg="addSp modSp new mod">
        <pc:chgData name="Muchammad Wildan Alkautsar" userId="360672ed2ee56274" providerId="LiveId" clId="{F5771622-C242-4EFB-9359-41E4DFBD7538}" dt="2026-10-23T06:19:14.829" v="1202" actId="27918"/>
        <pc:sldMkLst>
          <pc:docMk/>
          <pc:sldMk cId="67317539" sldId="262"/>
        </pc:sldMkLst>
        <pc:spChg chg="mod">
          <ac:chgData name="Muchammad Wildan Alkautsar" userId="360672ed2ee56274" providerId="LiveId" clId="{F5771622-C242-4EFB-9359-41E4DFBD7538}" dt="2026-10-23T03:19:41.370" v="242"/>
          <ac:spMkLst>
            <pc:docMk/>
            <pc:sldMk cId="67317539" sldId="262"/>
            <ac:spMk id="2" creationId="{4ABED651-734E-F497-C2C7-97E3B8FCE0AB}"/>
          </ac:spMkLst>
        </pc:spChg>
        <pc:spChg chg="mod">
          <ac:chgData name="Muchammad Wildan Alkautsar" userId="360672ed2ee56274" providerId="LiveId" clId="{F5771622-C242-4EFB-9359-41E4DFBD7538}" dt="2026-10-23T06:13:25.258" v="1196" actId="20577"/>
          <ac:spMkLst>
            <pc:docMk/>
            <pc:sldMk cId="67317539" sldId="262"/>
            <ac:spMk id="3" creationId="{55FD1125-E9DA-36D7-55B8-94DFBBE2D50B}"/>
          </ac:spMkLst>
        </pc:spChg>
        <pc:graphicFrameChg chg="add mod">
          <ac:chgData name="Muchammad Wildan Alkautsar" userId="360672ed2ee56274" providerId="LiveId" clId="{F5771622-C242-4EFB-9359-41E4DFBD7538}" dt="2026-10-23T06:12:08.036" v="974" actId="14100"/>
          <ac:graphicFrameMkLst>
            <pc:docMk/>
            <pc:sldMk cId="67317539" sldId="262"/>
            <ac:graphicFrameMk id="4" creationId="{8E648C85-B3DA-417B-96E7-68F1A9554341}"/>
          </ac:graphicFrameMkLst>
        </pc:graphicFrameChg>
      </pc:sldChg>
      <pc:sldChg chg="addSp delSp modSp new mod">
        <pc:chgData name="Muchammad Wildan Alkautsar" userId="360672ed2ee56274" providerId="LiveId" clId="{F5771622-C242-4EFB-9359-41E4DFBD7538}" dt="2026-10-23T06:19:08.147" v="1199" actId="27918"/>
        <pc:sldMkLst>
          <pc:docMk/>
          <pc:sldMk cId="2368676930" sldId="263"/>
        </pc:sldMkLst>
        <pc:spChg chg="mod">
          <ac:chgData name="Muchammad Wildan Alkautsar" userId="360672ed2ee56274" providerId="LiveId" clId="{F5771622-C242-4EFB-9359-41E4DFBD7538}" dt="2026-10-23T03:20:02.284" v="246" actId="20577"/>
          <ac:spMkLst>
            <pc:docMk/>
            <pc:sldMk cId="2368676930" sldId="263"/>
            <ac:spMk id="2" creationId="{32D679F9-990B-45DB-BF0C-57561B7BDE0A}"/>
          </ac:spMkLst>
        </pc:spChg>
        <pc:spChg chg="add del mod">
          <ac:chgData name="Muchammad Wildan Alkautsar" userId="360672ed2ee56274" providerId="LiveId" clId="{F5771622-C242-4EFB-9359-41E4DFBD7538}" dt="2026-10-23T06:08:57.736" v="765" actId="14100"/>
          <ac:spMkLst>
            <pc:docMk/>
            <pc:sldMk cId="2368676930" sldId="263"/>
            <ac:spMk id="3" creationId="{F0CDBBAA-D06D-F7BF-3E65-80055B01ECCA}"/>
          </ac:spMkLst>
        </pc:spChg>
        <pc:graphicFrameChg chg="add mod">
          <ac:chgData name="Muchammad Wildan Alkautsar" userId="360672ed2ee56274" providerId="LiveId" clId="{F5771622-C242-4EFB-9359-41E4DFBD7538}" dt="2026-10-23T06:07:52.888" v="597"/>
          <ac:graphicFrameMkLst>
            <pc:docMk/>
            <pc:sldMk cId="2368676930" sldId="263"/>
            <ac:graphicFrameMk id="4" creationId="{E37088DD-E48D-42BD-AE79-F46E5C466AA8}"/>
          </ac:graphicFrameMkLst>
        </pc:graphicFrameChg>
        <pc:graphicFrameChg chg="add mod">
          <ac:chgData name="Muchammad Wildan Alkautsar" userId="360672ed2ee56274" providerId="LiveId" clId="{F5771622-C242-4EFB-9359-41E4DFBD7538}" dt="2026-10-23T06:07:55.990" v="600"/>
          <ac:graphicFrameMkLst>
            <pc:docMk/>
            <pc:sldMk cId="2368676930" sldId="263"/>
            <ac:graphicFrameMk id="5" creationId="{E37088DD-E48D-42BD-AE79-F46E5C466AA8}"/>
          </ac:graphicFrameMkLst>
        </pc:graphicFrameChg>
        <pc:graphicFrameChg chg="add mod">
          <ac:chgData name="Muchammad Wildan Alkautsar" userId="360672ed2ee56274" providerId="LiveId" clId="{F5771622-C242-4EFB-9359-41E4DFBD7538}" dt="2026-10-23T06:08:59.882" v="766" actId="1076"/>
          <ac:graphicFrameMkLst>
            <pc:docMk/>
            <pc:sldMk cId="2368676930" sldId="263"/>
            <ac:graphicFrameMk id="6" creationId="{E37088DD-E48D-42BD-AE79-F46E5C466AA8}"/>
          </ac:graphicFrameMkLst>
        </pc:graphicFrameChg>
      </pc:sldChg>
      <pc:sldChg chg="modSp new mod">
        <pc:chgData name="Muchammad Wildan Alkautsar" userId="360672ed2ee56274" providerId="LiveId" clId="{F5771622-C242-4EFB-9359-41E4DFBD7538}" dt="2026-10-23T03:20:27.573" v="254" actId="20577"/>
        <pc:sldMkLst>
          <pc:docMk/>
          <pc:sldMk cId="2577027290" sldId="264"/>
        </pc:sldMkLst>
        <pc:spChg chg="mod">
          <ac:chgData name="Muchammad Wildan Alkautsar" userId="360672ed2ee56274" providerId="LiveId" clId="{F5771622-C242-4EFB-9359-41E4DFBD7538}" dt="2026-10-23T03:20:27.573" v="254" actId="20577"/>
          <ac:spMkLst>
            <pc:docMk/>
            <pc:sldMk cId="2577027290" sldId="264"/>
            <ac:spMk id="2" creationId="{F66AC7E5-E65B-8AAC-AE87-747FD4630881}"/>
          </ac:spMkLst>
        </pc:spChg>
      </pc:sldChg>
      <pc:sldChg chg="addSp modSp new mod">
        <pc:chgData name="Muchammad Wildan Alkautsar" userId="360672ed2ee56274" providerId="LiveId" clId="{F5771622-C242-4EFB-9359-41E4DFBD7538}" dt="2026-10-23T06:19:58.941" v="1250" actId="14100"/>
        <pc:sldMkLst>
          <pc:docMk/>
          <pc:sldMk cId="2686190554" sldId="265"/>
        </pc:sldMkLst>
        <pc:spChg chg="mod">
          <ac:chgData name="Muchammad Wildan Alkautsar" userId="360672ed2ee56274" providerId="LiveId" clId="{F5771622-C242-4EFB-9359-41E4DFBD7538}" dt="2026-10-23T06:19:25.194" v="1244" actId="20577"/>
          <ac:spMkLst>
            <pc:docMk/>
            <pc:sldMk cId="2686190554" sldId="265"/>
            <ac:spMk id="2" creationId="{0734DDE7-DD84-4D5E-477B-50E561A7073C}"/>
          </ac:spMkLst>
        </pc:spChg>
        <pc:spChg chg="mod">
          <ac:chgData name="Muchammad Wildan Alkautsar" userId="360672ed2ee56274" providerId="LiveId" clId="{F5771622-C242-4EFB-9359-41E4DFBD7538}" dt="2026-10-23T06:19:58.941" v="1250" actId="14100"/>
          <ac:spMkLst>
            <pc:docMk/>
            <pc:sldMk cId="2686190554" sldId="265"/>
            <ac:spMk id="3" creationId="{8ED22B18-FE80-F818-5375-6671C77BFF18}"/>
          </ac:spMkLst>
        </pc:spChg>
        <pc:graphicFrameChg chg="add mod">
          <ac:chgData name="Muchammad Wildan Alkautsar" userId="360672ed2ee56274" providerId="LiveId" clId="{F5771622-C242-4EFB-9359-41E4DFBD7538}" dt="2026-10-23T06:19:45.458" v="1247" actId="14100"/>
          <ac:graphicFrameMkLst>
            <pc:docMk/>
            <pc:sldMk cId="2686190554" sldId="265"/>
            <ac:graphicFrameMk id="4" creationId="{E6C8A80E-CA02-4CAE-AB64-C008876E7005}"/>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360672ed2ee56274/Dokumen/Projects/customer-complaints/Work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360672ed2ee56274/Dokumen/Projects/customer-complaints/Work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360672ed2ee56274/Dokumen/Projects/customer-complaints/Workshe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360672ed2ee56274/Dokumen/Projects/customer-complaints/Worksheet.xlsx" TargetMode="External"/><Relationship Id="rId2" Type="http://schemas.microsoft.com/office/2011/relationships/chartColorStyle" Target="colors4.xml"/><Relationship Id="rId1" Type="http://schemas.microsoft.com/office/2011/relationships/chartStyle" Target="style4.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https://d.docs.live.net/360672ed2ee56274/Dokumen/Projects/customer-complaints/Workshee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[Worksheet.xlsx]pivot_table!PivotTable4</c:name>
    <c:fmtId val="2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Frequency</a:t>
            </a:r>
            <a:r>
              <a:rPr lang="en-US" baseline="0"/>
              <a:t> of Complaints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pivot_table!$B$25</c:f>
              <c:strCache>
                <c:ptCount val="1"/>
                <c:pt idx="0">
                  <c:v>Total</c:v>
                </c:pt>
              </c:strCache>
            </c:strRef>
          </c:tx>
          <c:spPr>
            <a:ln w="28575" cap="rnd">
              <a:solidFill>
                <a:schemeClr val="accent1"/>
              </a:solidFill>
              <a:round/>
            </a:ln>
            <a:effectLst/>
          </c:spPr>
          <c:marker>
            <c:symbol val="none"/>
          </c:marker>
          <c:dLbls>
            <c:dLbl>
              <c:idx val="6"/>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428-4C3D-8EE4-F181D277EC63}"/>
                </c:ext>
              </c:extLst>
            </c:dLbl>
            <c:dLbl>
              <c:idx val="7"/>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28-4C3D-8EE4-F181D277EC6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pivot_table!$A$26:$A$38</c:f>
              <c:multiLvlStrCache>
                <c:ptCount val="8"/>
                <c:lvl>
                  <c:pt idx="0">
                    <c:v>Jan</c:v>
                  </c:pt>
                  <c:pt idx="1">
                    <c:v>Feb</c:v>
                  </c:pt>
                  <c:pt idx="2">
                    <c:v>Mar</c:v>
                  </c:pt>
                  <c:pt idx="3">
                    <c:v>Apr</c:v>
                  </c:pt>
                  <c:pt idx="4">
                    <c:v>May</c:v>
                  </c:pt>
                  <c:pt idx="5">
                    <c:v>Jun</c:v>
                  </c:pt>
                  <c:pt idx="6">
                    <c:v>Jul</c:v>
                  </c:pt>
                  <c:pt idx="7">
                    <c:v>Aug</c:v>
                  </c:pt>
                </c:lvl>
                <c:lvl>
                  <c:pt idx="0">
                    <c:v>Qtr1</c:v>
                  </c:pt>
                  <c:pt idx="3">
                    <c:v>Qtr2</c:v>
                  </c:pt>
                  <c:pt idx="6">
                    <c:v>Qtr3</c:v>
                  </c:pt>
                </c:lvl>
                <c:lvl>
                  <c:pt idx="0">
                    <c:v>2023</c:v>
                  </c:pt>
                </c:lvl>
              </c:multiLvlStrCache>
            </c:multiLvlStrRef>
          </c:cat>
          <c:val>
            <c:numRef>
              <c:f>pivot_table!$B$26:$B$38</c:f>
              <c:numCache>
                <c:formatCode>General</c:formatCode>
                <c:ptCount val="8"/>
                <c:pt idx="0">
                  <c:v>1183</c:v>
                </c:pt>
                <c:pt idx="1">
                  <c:v>1092</c:v>
                </c:pt>
                <c:pt idx="2">
                  <c:v>1229</c:v>
                </c:pt>
                <c:pt idx="3">
                  <c:v>1058</c:v>
                </c:pt>
                <c:pt idx="4">
                  <c:v>1085</c:v>
                </c:pt>
                <c:pt idx="5">
                  <c:v>1018</c:v>
                </c:pt>
                <c:pt idx="6">
                  <c:v>1749</c:v>
                </c:pt>
                <c:pt idx="7">
                  <c:v>717</c:v>
                </c:pt>
              </c:numCache>
            </c:numRef>
          </c:val>
          <c:smooth val="0"/>
          <c:extLst>
            <c:ext xmlns:c16="http://schemas.microsoft.com/office/drawing/2014/chart" uri="{C3380CC4-5D6E-409C-BE32-E72D297353CC}">
              <c16:uniqueId val="{00000001-C428-4C3D-8EE4-F181D277EC63}"/>
            </c:ext>
          </c:extLst>
        </c:ser>
        <c:dLbls>
          <c:showLegendKey val="0"/>
          <c:showVal val="0"/>
          <c:showCatName val="0"/>
          <c:showSerName val="0"/>
          <c:showPercent val="0"/>
          <c:showBubbleSize val="0"/>
        </c:dLbls>
        <c:smooth val="0"/>
        <c:axId val="1560179824"/>
        <c:axId val="1185484096"/>
      </c:lineChart>
      <c:catAx>
        <c:axId val="1560179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5484096"/>
        <c:crosses val="autoZero"/>
        <c:auto val="1"/>
        <c:lblAlgn val="ctr"/>
        <c:lblOffset val="100"/>
        <c:noMultiLvlLbl val="0"/>
      </c:catAx>
      <c:valAx>
        <c:axId val="11854840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017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[Worksheet.xlsx]pivot_table!PivotTable5</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Product Category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pivot_table!$L$2</c:f>
              <c:strCache>
                <c:ptCount val="1"/>
                <c:pt idx="0">
                  <c:v>Total</c:v>
                </c:pt>
              </c:strCache>
            </c:strRef>
          </c:tx>
          <c:spPr>
            <a:solidFill>
              <a:schemeClr val="accent1"/>
            </a:solidFill>
            <a:ln>
              <a:noFill/>
            </a:ln>
            <a:effectLst/>
          </c:spPr>
          <c:invertIfNegative val="0"/>
          <c:cat>
            <c:strRef>
              <c:f>pivot_table!$K$3:$K$11</c:f>
              <c:strCache>
                <c:ptCount val="8"/>
                <c:pt idx="0">
                  <c:v>Loans</c:v>
                </c:pt>
                <c:pt idx="1">
                  <c:v>Auto Finance</c:v>
                </c:pt>
                <c:pt idx="2">
                  <c:v>Debt Collection</c:v>
                </c:pt>
                <c:pt idx="3">
                  <c:v>Mortgages</c:v>
                </c:pt>
                <c:pt idx="4">
                  <c:v>Money Transfer &amp; Services</c:v>
                </c:pt>
                <c:pt idx="5">
                  <c:v>Credit Reporting</c:v>
                </c:pt>
                <c:pt idx="6">
                  <c:v>Cards</c:v>
                </c:pt>
                <c:pt idx="7">
                  <c:v>Bank Accounts</c:v>
                </c:pt>
              </c:strCache>
            </c:strRef>
          </c:cat>
          <c:val>
            <c:numRef>
              <c:f>pivot_table!$L$3:$L$11</c:f>
              <c:numCache>
                <c:formatCode>General</c:formatCode>
                <c:ptCount val="8"/>
                <c:pt idx="0">
                  <c:v>26</c:v>
                </c:pt>
                <c:pt idx="1">
                  <c:v>101</c:v>
                </c:pt>
                <c:pt idx="2">
                  <c:v>243</c:v>
                </c:pt>
                <c:pt idx="3">
                  <c:v>359</c:v>
                </c:pt>
                <c:pt idx="4">
                  <c:v>607</c:v>
                </c:pt>
                <c:pt idx="5">
                  <c:v>1312</c:v>
                </c:pt>
                <c:pt idx="6">
                  <c:v>2398</c:v>
                </c:pt>
                <c:pt idx="7">
                  <c:v>4085</c:v>
                </c:pt>
              </c:numCache>
            </c:numRef>
          </c:val>
          <c:extLst>
            <c:ext xmlns:c16="http://schemas.microsoft.com/office/drawing/2014/chart" uri="{C3380CC4-5D6E-409C-BE32-E72D297353CC}">
              <c16:uniqueId val="{00000000-A8C9-4A3D-9E8C-A080C751A38F}"/>
            </c:ext>
          </c:extLst>
        </c:ser>
        <c:dLbls>
          <c:showLegendKey val="0"/>
          <c:showVal val="0"/>
          <c:showCatName val="0"/>
          <c:showSerName val="0"/>
          <c:showPercent val="0"/>
          <c:showBubbleSize val="0"/>
        </c:dLbls>
        <c:gapWidth val="50"/>
        <c:axId val="552481055"/>
        <c:axId val="817660767"/>
      </c:barChart>
      <c:catAx>
        <c:axId val="5524810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7660767"/>
        <c:crosses val="autoZero"/>
        <c:auto val="1"/>
        <c:lblAlgn val="ctr"/>
        <c:lblOffset val="100"/>
        <c:noMultiLvlLbl val="0"/>
      </c:catAx>
      <c:valAx>
        <c:axId val="81766076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24810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[Worksheet.xlsx]pivot_table!PivotTable7</c:name>
    <c:fmtId val="30"/>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a:t>Issue Category</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pivot_table!$P$2</c:f>
              <c:strCache>
                <c:ptCount val="1"/>
                <c:pt idx="0">
                  <c:v>Total</c:v>
                </c:pt>
              </c:strCache>
            </c:strRef>
          </c:tx>
          <c:spPr>
            <a:solidFill>
              <a:schemeClr val="accent1"/>
            </a:solidFill>
            <a:ln>
              <a:noFill/>
            </a:ln>
            <a:effectLst/>
          </c:spPr>
          <c:invertIfNegative val="0"/>
          <c:cat>
            <c:strRef>
              <c:f>pivot_table!$O$3:$O$13</c:f>
              <c:strCache>
                <c:ptCount val="10"/>
                <c:pt idx="0">
                  <c:v>Bank Accounts &amp; Overdrafts</c:v>
                </c:pt>
                <c:pt idx="1">
                  <c:v>Mortgages &amp; Home Loans</c:v>
                </c:pt>
                <c:pt idx="2">
                  <c:v>Debt Collection</c:v>
                </c:pt>
                <c:pt idx="3">
                  <c:v>Other Financial Issues</c:v>
                </c:pt>
                <c:pt idx="4">
                  <c:v>Fees &amp; Charges</c:v>
                </c:pt>
                <c:pt idx="5">
                  <c:v>Fraud &amp; Identity Theft</c:v>
                </c:pt>
                <c:pt idx="6">
                  <c:v>Credit Cards &amp; Credit Lines</c:v>
                </c:pt>
                <c:pt idx="7">
                  <c:v>Payments &amp; Transactions</c:v>
                </c:pt>
                <c:pt idx="8">
                  <c:v>Credit Reporting</c:v>
                </c:pt>
                <c:pt idx="9">
                  <c:v>Customer Service &amp; Account Management</c:v>
                </c:pt>
              </c:strCache>
            </c:strRef>
          </c:cat>
          <c:val>
            <c:numRef>
              <c:f>pivot_table!$P$3:$P$13</c:f>
              <c:numCache>
                <c:formatCode>General</c:formatCode>
                <c:ptCount val="10"/>
                <c:pt idx="0">
                  <c:v>177</c:v>
                </c:pt>
                <c:pt idx="1">
                  <c:v>184</c:v>
                </c:pt>
                <c:pt idx="2">
                  <c:v>207</c:v>
                </c:pt>
                <c:pt idx="3">
                  <c:v>304</c:v>
                </c:pt>
                <c:pt idx="4">
                  <c:v>337</c:v>
                </c:pt>
                <c:pt idx="5">
                  <c:v>485</c:v>
                </c:pt>
                <c:pt idx="6">
                  <c:v>1099</c:v>
                </c:pt>
                <c:pt idx="7">
                  <c:v>1167</c:v>
                </c:pt>
                <c:pt idx="8">
                  <c:v>1382</c:v>
                </c:pt>
                <c:pt idx="9">
                  <c:v>3586</c:v>
                </c:pt>
              </c:numCache>
            </c:numRef>
          </c:val>
          <c:extLst>
            <c:ext xmlns:c16="http://schemas.microsoft.com/office/drawing/2014/chart" uri="{C3380CC4-5D6E-409C-BE32-E72D297353CC}">
              <c16:uniqueId val="{00000000-006F-4F95-85AB-C42A69EF9048}"/>
            </c:ext>
          </c:extLst>
        </c:ser>
        <c:dLbls>
          <c:showLegendKey val="0"/>
          <c:showVal val="0"/>
          <c:showCatName val="0"/>
          <c:showSerName val="0"/>
          <c:showPercent val="0"/>
          <c:showBubbleSize val="0"/>
        </c:dLbls>
        <c:gapWidth val="50"/>
        <c:axId val="552499151"/>
        <c:axId val="817655007"/>
      </c:barChart>
      <c:catAx>
        <c:axId val="55249915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817655007"/>
        <c:crosses val="autoZero"/>
        <c:auto val="1"/>
        <c:lblAlgn val="ctr"/>
        <c:lblOffset val="100"/>
        <c:noMultiLvlLbl val="0"/>
      </c:catAx>
      <c:valAx>
        <c:axId val="8176550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5524991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[Worksheet.xlsx]pivot_table!PivotTable8</c:name>
    <c:fmtId val="2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Timely Response?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2"/>
          </a:solidFill>
          <a:ln w="19050">
            <a:solidFill>
              <a:schemeClr val="lt1"/>
            </a:solidFill>
          </a:ln>
          <a:effectLst/>
        </c:spPr>
        <c:dLbl>
          <c:idx val="0"/>
          <c:layout>
            <c:manualLayout>
              <c:x val="0.13055555555555545"/>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19050">
            <a:solidFill>
              <a:schemeClr val="lt1"/>
            </a:solidFill>
          </a:ln>
          <a:effectLst/>
        </c:spPr>
        <c:dLbl>
          <c:idx val="0"/>
          <c:layout>
            <c:manualLayout>
              <c:x val="-0.16666666666666671"/>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1"/>
          </a:solidFill>
          <a:ln w="19050">
            <a:solidFill>
              <a:schemeClr val="lt1"/>
            </a:solidFill>
          </a:ln>
          <a:effectLst/>
        </c:spPr>
        <c:dLbl>
          <c:idx val="0"/>
          <c:layout>
            <c:manualLayout>
              <c:x val="-0.16666666666666671"/>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dLbl>
          <c:idx val="0"/>
          <c:layout>
            <c:manualLayout>
              <c:x val="0.13055555555555545"/>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w="19050">
            <a:solidFill>
              <a:schemeClr val="lt1"/>
            </a:solidFill>
          </a:ln>
          <a:effectLst/>
        </c:spPr>
        <c:dLbl>
          <c:idx val="0"/>
          <c:layout>
            <c:manualLayout>
              <c:x val="-0.16666666666666671"/>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1"/>
          </a:solidFill>
          <a:ln w="19050">
            <a:solidFill>
              <a:schemeClr val="lt1"/>
            </a:solidFill>
          </a:ln>
          <a:effectLst/>
        </c:spPr>
        <c:dLbl>
          <c:idx val="0"/>
          <c:layout>
            <c:manualLayout>
              <c:x val="0.13055555555555545"/>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solidFill>
            <a:schemeClr val="accent1"/>
          </a:solidFill>
          <a:ln w="19050">
            <a:solidFill>
              <a:schemeClr val="lt1"/>
            </a:solidFill>
          </a:ln>
          <a:effectLst/>
        </c:spPr>
        <c:dLbl>
          <c:idx val="0"/>
          <c:layout>
            <c:manualLayout>
              <c:x val="-0.16666666666666671"/>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olidFill>
          <a:ln w="19050">
            <a:solidFill>
              <a:schemeClr val="lt1"/>
            </a:solidFill>
          </a:ln>
          <a:effectLst/>
        </c:spPr>
        <c:dLbl>
          <c:idx val="0"/>
          <c:layout>
            <c:manualLayout>
              <c:x val="0.13055555555555545"/>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6"/>
        <c:spPr>
          <a:solidFill>
            <a:schemeClr val="accent1"/>
          </a:solidFill>
          <a:ln w="19050">
            <a:solidFill>
              <a:schemeClr val="lt1"/>
            </a:solidFill>
          </a:ln>
          <a:effectLst/>
        </c:spPr>
        <c:dLbl>
          <c:idx val="0"/>
          <c:layout>
            <c:manualLayout>
              <c:x val="-0.16666666666666671"/>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7"/>
        <c:spPr>
          <a:solidFill>
            <a:schemeClr val="accent1"/>
          </a:solidFill>
          <a:ln w="19050">
            <a:solidFill>
              <a:schemeClr val="lt1"/>
            </a:solidFill>
          </a:ln>
          <a:effectLst/>
        </c:spPr>
        <c:dLbl>
          <c:idx val="0"/>
          <c:layout>
            <c:manualLayout>
              <c:x val="0.13055555555555545"/>
              <c:y val="9.2592592592592587E-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solidFill>
            <a:schemeClr val="accent1"/>
          </a:solidFill>
          <a:ln w="19050">
            <a:solidFill>
              <a:schemeClr val="lt1"/>
            </a:solidFill>
          </a:ln>
          <a:effectLst/>
        </c:spPr>
      </c:pivotFmt>
    </c:pivotFmts>
    <c:plotArea>
      <c:layout/>
      <c:pieChart>
        <c:varyColors val="1"/>
        <c:ser>
          <c:idx val="0"/>
          <c:order val="0"/>
          <c:tx>
            <c:strRef>
              <c:f>pivot_table!$U$2</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9F3-4AFE-9A18-0AFC7079A1A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9F3-4AFE-9A18-0AFC7079A1A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9F3-4AFE-9A18-0AFC7079A1AB}"/>
              </c:ext>
            </c:extLst>
          </c:dPt>
          <c:dLbls>
            <c:dLbl>
              <c:idx val="0"/>
              <c:layout>
                <c:manualLayout>
                  <c:x val="-0.16666666666666671"/>
                  <c:y val="9.2592592592592587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9F3-4AFE-9A18-0AFC7079A1AB}"/>
                </c:ext>
              </c:extLst>
            </c:dLbl>
            <c:dLbl>
              <c:idx val="1"/>
              <c:layout>
                <c:manualLayout>
                  <c:x val="0.13055555555555545"/>
                  <c:y val="9.2592592592592587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9F3-4AFE-9A18-0AFC7079A1AB}"/>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pivot_table!$T$3:$T$6</c:f>
              <c:strCache>
                <c:ptCount val="3"/>
                <c:pt idx="0">
                  <c:v>No</c:v>
                </c:pt>
                <c:pt idx="1">
                  <c:v>Pending</c:v>
                </c:pt>
                <c:pt idx="2">
                  <c:v>Yes</c:v>
                </c:pt>
              </c:strCache>
            </c:strRef>
          </c:cat>
          <c:val>
            <c:numRef>
              <c:f>pivot_table!$U$3:$U$6</c:f>
              <c:numCache>
                <c:formatCode>General</c:formatCode>
                <c:ptCount val="3"/>
                <c:pt idx="0">
                  <c:v>522</c:v>
                </c:pt>
                <c:pt idx="1">
                  <c:v>1494</c:v>
                </c:pt>
                <c:pt idx="2">
                  <c:v>7115</c:v>
                </c:pt>
              </c:numCache>
            </c:numRef>
          </c:val>
          <c:extLst>
            <c:ext xmlns:c16="http://schemas.microsoft.com/office/drawing/2014/chart" uri="{C3380CC4-5D6E-409C-BE32-E72D297353CC}">
              <c16:uniqueId val="{00000006-99F3-4AFE-9A18-0AFC7079A1AB}"/>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pivot_table!$P$31:$P$81</cx:f>
        <cx:lvl ptCount="51">
          <cx:pt idx="0">SD</cx:pt>
          <cx:pt idx="1">WY</cx:pt>
          <cx:pt idx="2">ND</cx:pt>
          <cx:pt idx="3">MT</cx:pt>
          <cx:pt idx="4">VT</cx:pt>
          <cx:pt idx="5">NE</cx:pt>
          <cx:pt idx="6">NH</cx:pt>
          <cx:pt idx="7">WV</cx:pt>
          <cx:pt idx="8">AK</cx:pt>
          <cx:pt idx="9">HI</cx:pt>
          <cx:pt idx="10">MS</cx:pt>
          <cx:pt idx="11">ID</cx:pt>
          <cx:pt idx="12">KY</cx:pt>
          <cx:pt idx="13">UT</cx:pt>
          <cx:pt idx="14">LA</cx:pt>
          <cx:pt idx="15">ME</cx:pt>
          <cx:pt idx="16">NM</cx:pt>
          <cx:pt idx="17">RI</cx:pt>
          <cx:pt idx="18">KS</cx:pt>
          <cx:pt idx="19">OK</cx:pt>
          <cx:pt idx="20">DE</cx:pt>
          <cx:pt idx="21">IA</cx:pt>
          <cx:pt idx="22">AR</cx:pt>
          <cx:pt idx="23">WI</cx:pt>
          <cx:pt idx="24">DC</cx:pt>
          <cx:pt idx="25">AL</cx:pt>
          <cx:pt idx="26">IN</cx:pt>
          <cx:pt idx="27">MN</cx:pt>
          <cx:pt idx="28">CO</cx:pt>
          <cx:pt idx="29">OR</cx:pt>
          <cx:pt idx="30">TN</cx:pt>
          <cx:pt idx="31">MO</cx:pt>
          <cx:pt idx="32">OH</cx:pt>
          <cx:pt idx="33">SC</cx:pt>
          <cx:pt idx="34">NV</cx:pt>
          <cx:pt idx="35">CT</cx:pt>
          <cx:pt idx="36">WA</cx:pt>
          <cx:pt idx="37">NC</cx:pt>
          <cx:pt idx="38">AZ</cx:pt>
          <cx:pt idx="39">MD</cx:pt>
          <cx:pt idx="40">MA</cx:pt>
          <cx:pt idx="41">MI</cx:pt>
          <cx:pt idx="42">PA</cx:pt>
          <cx:pt idx="43">VA</cx:pt>
          <cx:pt idx="44">NJ</cx:pt>
          <cx:pt idx="45">IL</cx:pt>
          <cx:pt idx="46">GA</cx:pt>
          <cx:pt idx="47">NY</cx:pt>
          <cx:pt idx="48">TX</cx:pt>
          <cx:pt idx="49">FL</cx:pt>
          <cx:pt idx="50">CA</cx:pt>
        </cx:lvl>
      </cx:strDim>
      <cx:numDim type="colorVal">
        <cx:f>pivot_table!$Q$31:$Q$81</cx:f>
        <cx:lvl ptCount="51" formatCode="General">
          <cx:pt idx="0">2</cx:pt>
          <cx:pt idx="1">2</cx:pt>
          <cx:pt idx="2">4</cx:pt>
          <cx:pt idx="3">7</cx:pt>
          <cx:pt idx="4">8</cx:pt>
          <cx:pt idx="5">10</cx:pt>
          <cx:pt idx="6">12</cx:pt>
          <cx:pt idx="7">12</cx:pt>
          <cx:pt idx="8">14</cx:pt>
          <cx:pt idx="9">18</cx:pt>
          <cx:pt idx="10">19</cx:pt>
          <cx:pt idx="11">21</cx:pt>
          <cx:pt idx="12">21</cx:pt>
          <cx:pt idx="13">23</cx:pt>
          <cx:pt idx="14">23</cx:pt>
          <cx:pt idx="15">25</cx:pt>
          <cx:pt idx="16">25</cx:pt>
          <cx:pt idx="17">31</cx:pt>
          <cx:pt idx="18">32</cx:pt>
          <cx:pt idx="19">36</cx:pt>
          <cx:pt idx="20">37</cx:pt>
          <cx:pt idx="21">37</cx:pt>
          <cx:pt idx="22">39</cx:pt>
          <cx:pt idx="23">41</cx:pt>
          <cx:pt idx="24">41</cx:pt>
          <cx:pt idx="25">43</cx:pt>
          <cx:pt idx="26">54</cx:pt>
          <cx:pt idx="27">65</cx:pt>
          <cx:pt idx="28">73</cx:pt>
          <cx:pt idx="29">94</cx:pt>
          <cx:pt idx="30">103</cx:pt>
          <cx:pt idx="31">105</cx:pt>
          <cx:pt idx="32">108</cx:pt>
          <cx:pt idx="33">153</cx:pt>
          <cx:pt idx="34">163</cx:pt>
          <cx:pt idx="35">165</cx:pt>
          <cx:pt idx="36">185</cx:pt>
          <cx:pt idx="37">220</cx:pt>
          <cx:pt idx="38">223</cx:pt>
          <cx:pt idx="39">259</cx:pt>
          <cx:pt idx="40">270</cx:pt>
          <cx:pt idx="41">284</cx:pt>
          <cx:pt idx="42">302</cx:pt>
          <cx:pt idx="43">302</cx:pt>
          <cx:pt idx="44">389</cx:pt>
          <cx:pt idx="45">393</cx:pt>
          <cx:pt idx="46">434</cx:pt>
          <cx:pt idx="47">633</cx:pt>
          <cx:pt idx="48">749</cx:pt>
          <cx:pt idx="49">995</cx:pt>
          <cx:pt idx="50">1827</cx:pt>
        </cx:lvl>
      </cx:numDim>
    </cx:data>
  </cx:chartData>
  <cx:chart>
    <cx:title pos="t" align="ctr" overlay="0"/>
    <cx:plotArea>
      <cx:plotAreaRegion>
        <cx:series layoutId="regionMap" uniqueId="{195F2AF9-F67F-4AB4-8178-BA2C81F93E97}">
          <cx:dataId val="0"/>
          <cx:layoutPr>
            <cx:geography cultureLanguage="en-US" cultureRegion="ID" attribution="Powered by Bing">
              <cx:geoCache provider="{E9337A44-BEBE-4D9F-B70C-5C5E7DAFC167}">
                <cx:binary>5H1pc6Q42u1fqajPl2wkIRAT0xPRQG5e0mvZ5fpCZNkuEJsAsf/6+ygXl824fdt+HfFGxs3umGkn
KUA6PMs5eiT+fd/96z55XJdfujTJ5L/uuz+/hlWV/+uPP+R9+Jiu5STl96WQ4lc1uRfpH+LXL37/
+MdDuW55FvyBdWT8cR+uy+qx+/qff8PZgkdxIu7XFRfZRf1Y9pePsk4q+caxVw99WT+kPPO4rEp+
X6E/vy7/+vrlMat41V/3+eOfX18c//rlj/FZ/uuKXxK4qap+gLYGnuiWYVLLMPTNh3z9kogs2B3W
bDKh8L2J9N1xc3/t1TqF9kvRrvffvHY3m3tZPzyUj1JCRzb/v2/14r633boXdVapkQpg0P78+i3j
1ePDl6tqXT3Kr1+4FO72B65QN//tatPbP16O9X/+PfoC+j/65hkc48H6fx36LzROPhENok9shmC4
TWRvPyM00ITZiGHM9O1hYz/2WzRORM0lX2cfgORZ0xEuqoMHiMvp9X5sXnsu32kl1kQnhCLbet1K
kG5PTIMibJIRIqciqz6Ex1PDERqqWweIxs1nWok1gaFmNjGtrRWwl1ZisYlpM53a+u44+LStv9xa
yQ0vA57xDxjJ75YjVFT3DhCVK28/Mp9gI8bEICYyqLUbdeslKuDWJpjoho3MkY1ciboKv3jrWFQf
wORl6xEuqoOHiIv7ebgQMrF1YhsYAQLqA9bwPMIzHWKKoTOEdjFnFOG34+uuS5HwjwSWcfsxQtDV
A0TodPp5CBl0QgwT4gehW382shzTnmAElgWJ2qtR/3TNs8e3buf1JGzXbISH6tgB4nEDYfHTcmID
cmKK4Z+RqVh4YprYtE1GtkDQ/UV3geWxTCHe7798zae+DsXNvuEIDNWrAwTjr8u3huB9qRcxwD1B
NCdoZxyjYG9jCDs2opSyrXsbYfJXGa8zuZZv3dHroPxuOUJFde8AUbm9e2sM3ocK0EawABNjskuI
8cuggnTI0SgyDCCPW1PZX3trKbe9AE4b7L/855by1HCEiercAWKygvzk09yWNTEMk0Ak33kne4yJ
PjFMm2D8m1w+T4tXovwfpGEvW4/QUd08RHRuPg8dYk8INcEgyM4gRn4MIXNiUkqYxbaODO2vvbWY
1WOzfvhAerxvN0YEunaAiNwu96Pymst4pw8zJiZYCiXmDpGRvTB7YhFsU2qTbWSBbOC5vdxyeS8y
ybP916/d0uuh5VnTES6qgweIy2rx1iC8ExcyMRkFBYwo5RE+4ywMTYBjmtjW7e1xiD3PcVk9tl8W
6zSXIS8/kBaPmo/wUR09QHxc0Cc+K84Qa4Ip8BUb7cYfPNVzQgk8cmIiC1vI2AWa/bW3nsxdJ/yX
KD8kwDxvO0JGdfEAkVkB3/osZAywDBh2AtbxZBnPkbHtCajLFmRtO8saUf3V489yLeMPRZl9yxEq
qnsHiMr1989DhSBIuwgzQGHZojKyF0CFEAg0loW3qTJkBs/92fVj9xH6sms2wkN17ADxuP3MTAzk
YQNTi6HdeI/kFhDETLAhYuu/BbPneNw+yurLbyX47433b2L/y+YjfFRHDwCft2/x+ZC8+OU7Jych
Z6Y6gblJYm0tZ5QJgOXoiBHI4l4XxkbTh39/W68jNWr+oieHMTd5BtnK816/eNjeCYYB7BFkFpgD
e53AMDyBI2A3xm+wttfehv2zkIu37uZ1DLatXtz3n19Vtw4QjeO7t/r/viQZkjAI9ZiZ9HfQeB7q
GZ1gZlkWQTvyMpLFjgGa+j7u37qj1xH53XKEiureAaLy1/FbY/A+VExjApoXGADe2YgxSo0pnmDL
ZmqabH/VrXX8lXws8dq3G2GhOnWAWFyv9qPyGpd+HxaETpgBxqHv9BR9JFEyE2ZdCFZM5Skte+6v
rh+zDIpWHh/fuqXXTeRZ0xEuqoMHiMsCVInPiiMbdqgzSyfAPp67LAguyqcZAMdWVIY8+Tkgi3W7
5nz/3WsPyOto7NuNoFB9OkAozoHmfhYUENKZDUR+N3Oi6yNmYlkTRhgDZvI75D9H5BxMRPZJs/4Q
l3/ZeoSO6uYBonN69XnoEEioMBgK20182fZLewF90qQm1g28c2AjNn/KpVT/5vkHjOZF4xE2qpMH
iM3yM+dajAlhUF+E9xIXcPYXvgyBuAzCsQVlSPsnYhvolw/r8AN58K7ZCAnVpQNE4gwmUD/Nh0F5
C2EmM4m5VU9GVoKwDjORIHtRA3j+c+91Vj4G4gPi/b7dCAvVqQPE4tv1flRei6jvTLlAycJKfcQ7
fXGUckGJ0cS0oHwVmyNf9a1ah2/dx+uRfdtqhIPq0AHisDp9q//vxAFK8TBIWMjY6cAj3QTp5gTp
UMQCc8X7q269k5r8OH3s+P0HXNTztiNMVOcOEJNLSBE/zU/Bo48ZTCdCNcvmM4oYFmj3CKgKlIFt
jwNmz73VZQgl71+WMllnD/sjr1ns65bysvUIHdXNA0Tn+DNzLTYxmAECPKS6m88oE7YZxHvQGkGN
3KIziiXHH6wx2rcbIaK6doCInH4ifTcUPbcR1Hbt2MkYEZBabEZ0KGfZm8PWhZ1yxds/VEr8rOkI
ENWzAwTk7BO1LdBTKCNQYbSL7WOyaIMiCTFF1/f135CIPXdgZ3ECmW+63n/7z53X75YjVFT3DhAV
b/rWGLwz1MMUCHBEE6Z0t45plP5aFCYfmWkQtIs7IzriPSYgq3ykTuJ3yxEqqnuHiIr7iagwqLk3
YIZRLQd6zgtBUdERlK7AfPAWLjj+3Ej2q/y+iF9fXJHU6c+PLFN5/SxjmKC/BwjTXyf7EXvNgbzT
eEBhgbp74CPjKWATtGNY8YX13ezKyJeB6v5z/RFX9tRwBIbq1QGCsfzEgA+TvVBRZBtsX8hNXpoO
6PWYQQZm2rsANDKdZfbwsZWPTw1HmKjOHSAm7tknGgj4MZtRChrjq2kxqCoT0FXUFPz+otskDHyX
KNcPH2CRv1uO4FD9OkA4Tj8XDljzCPZh7CpTRvqKWgsBU74W2ld4j4K9EnVFXfI9Vq950Nf54++W
I1RU9w4QFff6rTF4XxRRVXcWRRQWCL9qJLBqyCIMfBceweEKYCr3Fb+vq7fu5nVEXjQegaJ6d4Cg
3P711jC8ExRYDIEQ1A6xv1mNupGFTePJloBePk/EbtdQPpwF1UcE4udtR8ioLh4gMqvPzI0hZBCY
GXlaCDHKvSx7ghisgzDNnXg5koq3C00+vh513H6EkOrqASL014/98/uaU3+f7cCSO6yWCTG0K6sb
IbSR8ZVOCdOPe7Hsue38VfJBfGSp8FPDESaqcweIyan3iZhAJgbFEcDyX2bFlglVd1DI+lQCOUrE
Ttdl/zHJ+HfLERqqW4eIxmdGFzyBsiGoSoU1KJvPf4v5pg6lq7Caa/8I7MTJtZTr+7CWj1Ul94de
s9jXg/7py+ZjYA4zuJwu3xqI97kuA1YLW4Zlg/TyKjBQFmnBAjzICXbHR8HllN+HPFhnb93R30Dz
1HKMCnTvAM1ldfTWGLwTFX0Ca1J1WGr3Om+xoFgCylxgB60taLaxv/bvWcmjx1I+9vvv/7nJqFnJ
fdsRMqqLB4jM8hMVMKgAQ1DDAiWpuzXDYA/P9UqoMUIG1FbQpyKkPQJbZJYJbAoi+Adc2e+WI1RU
9w4Qlfknhheo/AJmghnMf73KKBmBld6wKAJ2bdkeHwX9+aOAHY7We6j+ubE8NRxhojp3gJis7t4a
gnf6MNjxgNjYUKLw5gNj/txSYKIFavF0WLe6S5pHkUX5oTtRxm/d0euR5XfLESqqeweIyuwT/Rdm
EwortGF3nF3ksF+iAotSDAZLUrCamFSfkaXMQKbkH1lW/9RwhInq3P8GJn+/weHT7o/eulpPN9tG
Ptvj8O2jmwcStrEcNd0pJa/5ld2h5cOfX6HyTodA/rQdpTrJC43lydtsyeOzNo9rWf35VVNbUxmQ
FKgFFRCGDAJpdgvL59QhMDcdNrWC2Wao/LOgcubrl0xtYPHnVwIym1RbisF/6rDpAmxvCY8IsxBl
+GljznOR9FD999T93d9fsjo9Fzyr5J9fYY/Fr1/y7e/UvVED8kbY/AfmH8DIYQWhCRfK79eXoBPB
z9H/sbHImC9YsiAsuGvjsHMqGYupaenfM828Khttkel18Z2l6HvftmhWW/1Mds1R1VtsOmgFXpI2
7aHIxx6cDLV0addxMi97PfcsrcjcqrHLX73fmJ4ILeYJJvUTLUjyH+B39EsN93g+aFXtkaQd3Jxx
PvO1rJvWgXUZNZydtwP3Ylalx1nLWzhbnTikLYqp1DD2+tYoj/SqdIsmPeslpk5eGZUTJd2ylNZw
QaVPPWG1lov6tr7G3I7doO/8ZcjD3DE0dNEOhM5lFdyaRsod3LbJ3EqT8LTSOTqOCNyTrmf8HJmy
nFLNLM4ZsaYGT27qrndq0g1OX5h0kVrNWtQochrStF5p5N1PntnBcdwag0PsQTh5UphzKlt9Whql
NW+zXrqtkXTThJCHKurIzKix7/HYNBzfqte46VtXq5qjyI7TWcqL1ouGjM+HKgumgKrThlZ2mRZy
ViX9bBDamd9HybTWim6RE7t1OkugSzvHyfeqofktbaJZarcXA6rSy5gydsITVtZOxKw4dv06OS1z
ErRTzBrdLbIi/l4Pgl/EJDSWRGqVS0jWtU4eNOVVQTT/CnIwemzE/WA5WkrLRVCZxYkf5nwF2661
330bywebmvZNl5I4c4SoW88UFjsJGzudyjY2lkWdsAurbWMnS0gcOAlu6KIiLL+zeGSZbmQ1yU0W
Z/SYJqE913GCVkY26JYzoETEs0DPyxOrwMzLOUEweDaukRPWReFInGdHpfT9yBmEnh0V2lAXTsEy
q3B4Ereag2A7n5VeCXHcM4JmuLWiHxZuNNPr/CCbUsz9mwgn4ooRP512KRdXKBZoRcxOHBttZJ8E
XRf9yHNf446NLB7MeDygWRpp3bTSSXfe04av6ioOMqcOjG4Kpe2AX5uWC1K1fuJQ3vReWTBjXegk
uel5r/8sa4ssNULqyA1g99xFUAr4Tdh05zCAmtt0PR8c2MQAXTeCZkddBae0cN3Xnp4F/TkO4NGk
td/HCyob6HzRB/2llehwj6nQu8vYrMWxFNSMXdIDDjlL4ISo6sJimpQ8m/ZN2ntdleZ3IdjfnJtQ
Mu50Xc08v+PSdKywSm5ylPFVXxjygRdDM0c1yR9pV3bnfi3ys82dRX6Us1lTIzh9ArPVF8EQai6n
JTVd4ofswujgGTS0Kv2VpKFxlNGsvpaR0brC7E3T5arjFUn7y76m1TerS+GHiR/hJW3AiXiMiH6q
27KZR60R/dg8aRGt4GpDYDe1g3pMj3nX2lPIScVZm9th6IRBVLt0KJIbw27xbZtpXEyr1LAuShoY
SxH73SXqWuGVZYVdHNSWscgbALWujexISwdADfttPkvatHqorJCvMl2YZwyZ/XHhI3zp6xG7bAst
nYbwRMbOYFP/h43LwmlpGnIn8zs4UcPgilafxbMkCLUrMRTNfDAjcVUEhT0XSWVPN2ilbSqueNBL
5srYzyoXVQ1zRQQj11sGPUGFNHzHZEnYeGYAp6/bPnCtpIOnfoD/4YzdsdLoXVwI7spoWMksXDVF
f15r8ropAuE0VPzIOHOC1Oxdm53iqj7T2+A8bPTYSapwkUblL9raxzYRiVNptpth67KTZEaacF6Z
w01QStOjesdOTBNOmPt0GkvNwXkvXIYzcVlBHKsdTEQ9RxyZl0YefZMoQiuzAR8eIxZ4ppUTF1mZ
4fK0X/HO9tou8qQvjkhm+eeo0roz1OFoxkTQR07LzHBuijhymN0Y0z6PU8fKi3LRNEnuViwuQk8r
0UMWdG5T4Mcia8RxEfL8OBpqOc1wipYE0/sSVYuM0QsIk4kbNzU5w0Xg32kB/i41dt/XInWGTKaz
pEkqJ+2zZqqlpPciOSSxg0vcuLlpiqsaiszcJoyGh7ShLh7CzKFDKGd51V1lUZ0f2VY8J1EVupQO
ADA30awrat+J2j4+iU30zex17Fh2sYy7Pl3qDJNFC07Y01mdT7ss9h3dro/yYMhnmhB3hV4bTpcJ
/aSPdeuohAd/HvWm7tHGv9NRWrhaWjg16n+RPr/MObMeObb4wmgL/YdlasJDcXxdIRmt+14jU7B1
6XBSMFevM+n40q6ODNs3CqcZBvAHpEkWQTQQ5KipXHcQHrb9qyKVD2Ff+VM9Y/2qC8s2n5Kg4ZWb
VVjvnWwo6+nQ4OxEIHOVgM+/gMeqnOqmj87J0BvTFteZcNNaixZxFueeIbXGkQjnj5LieDqkeNmn
InZInq/rRGCvYNL2ItR81/2hcXUB0d7GBZ1rZn0Pa/DuipDM9b7wv7Uo7x1C4sahpI1dYVDttDTo
N7/PdNcEM3QiSIK+swjicCaJV0F1+UnL6mAKSQJ7MCzaXFqUo29xX6gcwrKJKw2zP2orv6VOg33W
uUETfYusOnYMaaSP0reix6oskyO7TC0HUizfE43WzCCmt7NYQtsgJdN+qPSV5UfiAhZzdl4QFpBZ
EY06bV6yVd7k7Y9M75MfLdTDr8zKEC6FDMspTT54CVgRePKK15YbZrRw/ThltmN2UXDSdFWMjiT2
UeeEcjBX2C7qGQuKVAeTCG4qs9POTFQyNya4KwBEobt+GWjTJo7qE4uWBjwxmR84oqA5doyhhTDY
1WIlGLKODJr6U7+g6dSXhX9jF7y6bOOBR9NBFlnmVHamraqA0SVkCvEc6aKY8i7x3aSlwpiGZfcr
SzE+Q2lQfWtL3i7y0CpuzaISTgK+0AsGO3Rbq5WeZuTc1a1hGaeQhaVNox3pAhxYjnCxED6Vbl5W
kRv5vT8THDG4raSY90by05IJc2Tpt2exqemnpZ+Vs4SIcl7gsHHrNvZdyBlOOxHNDE2bBzgw3YQN
d1FZityLsiZxu7Yo3QHFyOGhTGapoVcukGBjPojhtONhPy+FBmGg9smMJrI5H2LI8eJGSIhcDTvr
2yK5KiLZLhiJtTtS2SuU5fKxtTgkIGZfzezcDGZ14ueORorAKUvOvbocwMSBqTsN0y8hgoqzzOpq
J7fr3pF6S29I3s27tgs8SYar3iTWquMYORVj0bzP0NxsuXQTVE5FI4LHouvnpIKQ1xQimTY8qqed
3nVHvEHSrSPpL9vCP+FBcWn4lHqWz6JlP5jdsR+x0K68SAtjNDXJcGnH4F3RsVVrJm+mUR4mKJ/H
aRsFF8SMCg9MWLaBAx02msCxNS2AkBAUuu7Eth70qWu1Sd8tO8h/hxMKqUrsRkEa02kvo8brWI4j
h9ZxFyUOxO1aeKnJY+zIoAn7+zBmbWM4JvEFXkA0vO1S40LT7WaWZnbtBkbdXvnWMExRP8hVEFEx
ixpqnFZ0+F4MhE+H3LzkttDcaKiqy9DOsJfYNDorrJz+lJ3o3Qhnw08kUXXappY246h5LIMeT1uK
m1PWNMSDCXnjyOiA/Tg0lOd2m+CT1jKLywBSlSn2a+L1mvUDJuZ9p0jraN1WQe9yrTQIxHv/KNW4
6QSRrrtxITO3aXjn+jkLIVTmybyrDD7XmX1ta1Xn0Ng4Hggk2kkSPVi4bRyjSMuViWI3EcZ9mGDp
+RW3j/pgMLNphFTSH/Rl9VM32urBiml00raZhDxeGgticrosI/tKb2pbdwrIZTQvbqp4OQw+k5Ak
GP2JwUvtIk/S4TYp9eRUhuk9ENAgnQpc1LnTVgM97jNfeDwL74s0haivFemD1ZjKZ/lVNasz3sxK
pJd3kL6YU9isqbusfHtwIQe6JDyiZyQaAukgnJAj2E678Kx+AEurs/bGrNv6uMhJdjIkDcvdoq+S
szgrLOoOjIQ/s0LqgeNHvJulKIRQoNullTlADQXkAYnNHligg+NoAooueR2w26q08ruBpNnPIRR6
7jQ+MTRw+ZadubXeZtcZJP1TigZ27ItKzCQ4xilDw5L3fubkLZAswYd4xYO6vUPVgDyzsEjs0Czk
bhlFrXAwXPysCCApiQQLgfhyu7oGla0M/GklimwgwoHsuRp6t+Pt0MQekVXtlIVsfoUyTRcWqfii
LNp80WnZY9wN3JG9bwF9lCdxWafAs0p2aaZ6cx6EVX5JInvw4raA7DYyNIcGgk1Ln3Avspl/BDf2
DYif71l2KGZalLJlYmpB6Tx/18QL+eBe5H3J4dRbNeHpz/9cixT+3bx84veX6s0gv/+CCaftK0Xe
/BUoJUpvl+MfKdXn6Vxw9Z0KpJSWF3/8l+zzN8LO9g0lf3Pwn6k+BHZ9099Sfa42u72P6zeUwLJr
uhN/YBd/CqeCAl1TR7DOGcSWvfZD1FaaoMLAVjNqBTQceZJ+JliHUizI+Mh2j6ffUhC86AScClRq
gURLYd9a4z1aELWh1G6kBVGY4TUsOKe52WTlpRZUcxxnZcTFomss1E7tMCatm8GzPQ+zIp+ZGTZq
NwsidmFzMjQOhjcSrFqgw16ThIx5JanRdeRzcmvKsD8XJs6uGmkC/zFQd54PBB53qx3oIi9J6gOL
BQGBa43wrDgTndt2sZl6kOlH0gkJ5FsnLNHCVYyEBkwEdiE9qoG5FdPC5sHglH3fIjeuzbDzhibK
fsm05jmk0L0xizVpnIUo6s7j0DdcTXSNNtULjRyVkP4BVTBpFnkaCXG4bDoJLkL05inWSh/IA/bJ
sk4JOWrB/yztjuvZFIJXc6encFNekfrVI1wFNU5pZDYC6QTSR4flBQ/hxEk/tXtKlp2fmaUbm5WI
p1xr6YKDi7emZNDTXxwAX1CfdudmRttgigbuPwwmBdkiRq28zQfNgvPCnd0aOZW3WavHEIZ1oNeQ
f5y1tZ9d55KJs0qWTX/cFV1APVCP9NDxQWOTTpImCBIdVAjdGcKcXXQx3Fdh5jCQEfL9FDINDhmw
EXXWxcCH/AcKGDv3EwG+rRtKHXk+vDck8+ykFTOLpRLojLXs8jQ/i1Fhn1OoNAtPIsOmCwnjN2tE
YZ8kJi/mQxi2J2Ft41kXNmkKhD8D3QQV7EIz4GmJ4jB17Z6BYoaC1E39El37AqQgDizkSEu4sexq
S5zFZdFoV4OR9iBFRujIkG3rFklcGx6HTc7lYtDSCvqMgIZmvPjZDmlxV9YC3+Z6bxDXHgrQGWhA
5QPSUvCVVViZDmt7+6LLg9Dpe8O+wuABLzoydCCodSUwW9qQH9jvpHTgyaPYq0KtXbMhhoxZIvsk
z4kFiVuvB5ANRBlf+FZRDcu67nE/536tnWBfa1q3xVY6JUCIs9CRxI6qZUhj2jpBm9eXFrJpfBKS
zj7PmYaIg0rT/Jah3jgNpQbM2yWJoekOiyIxUBfy9YHMg67Xbd/RIPgAq9FgIMpFT7lgd0UjGker
7LZwwxzSJMBHU0mDTeqinaqdeWdBiQZcL3xRatVRZea1vkyKoue3OFc0D7Yhp6WTwePz3fID7apv
S+ni2D+10rQ55k0lb8MiXfk2CU5gdQe37yOqRQ0GQp8KQzsKUt3KPAsn+jeoj+MzPvShow/VMPXL
Pp7pJvxZET1ZFkPQ3vAKc0+DMHUqI5CcZF5dRjUKPZ7kGMSlCCPmxPAM3ZimH5gLMG/tOguIPxdl
OZROTUmau7AGOPd4hAvPjLtgplVYBg80g3tY9DqHrLmpce31VdcdgyAfLUWtU6+3s0sxsJNKJb+R
SoNtJrqjVqXGVseTqaHS5UJ081YztAdQiaZF4oO07A/zjiFIslW63eeVtZJ9d1UNMvCsoJ2zKqI3
qCx7J6rr2hlANDhrIYdHm2RepfWatEMvMCDVb1TSz1T672cS9BiaHeuKG0S9tdIH7N8VZdwugIEk
V5niEpFiFb3iF4ZiGkhxjkKxj1bxEMMcVrxg/TxRHCVUbKVXvKXToBWKIdHmG1oTA8ERPiRUfWKd
DUB/KsWDcsWI4g03Uiwp2vAlxZxMxaHgvVU/bcWqMsWv+IZpKc6VKfYlFA8D+sjdRHGzSLG0Pukb
p7aCH4JDihogyJVixeqwXQO/q0R520ZFu9AV+4vqsoIHowUCBqywLs1k3odRP63KFnRNhP0fJKZa
6nQ+iM9mZKSRozGsL2tTtPGCpAY9zgqez2y7BF0zDwSf53VsHDFfg6xS06yLOge9mA8QmqIUFNKK
Gik8FeZgrfoNWW02xJUpDmtv2SzwWqIYLkzDhKvBZsXPTMSQbg4dj7/nVpLOUN2Ujs8xm6WyAhFn
aPK7vPX1W1txaJiZyFzRZsMqYxg05aItFylJ2QWBA6dScW8JJNza0HGkmHmgOHq5oev1hrpTxeJB
7QdCHyhun2xofryh/IVi/4bSAahSBBqlDRDfD50hDbvS0XLIWi3hs7mVW/GRVgaJV+ZB7RRard1U
uS5v4YnLCo/XbX6sk/LSVAJEp6QIEsWZxyoY6TqBxwCkCr3D0u1QaCwwLn2nkYa2LJW4QZTMUadl
6pkhSQe32WghpZJFso1CEimxxFSyiQjrBvgWSCmdElVyu2AnhY9/aHb9iyvlBd5K0TmaUmMkyDKZ
0mfApmIXK82mUerNoHScoDTmHYl++CDwMKX0DErzGZT6Q3j/vW9626uUMmRZ5bpIQZZriL6Eiax4
WiodKfCtxokjULxgQjVaNBvBCSvtaVAqVCLNEuRKUKYykKigejo7SZVqlW4ELLwRs9qNsCVROqwC
pXblIHvVUXjdC08VY7saV8JYqzQyC0WDR30dF46tnGtMC5XMgK5WGaV0uo3Wlvl8jUF+07ApPJjM
0n+ESpsTSqUrUXlZN+iXD/IdK3nh2pp1lyVI9wql8XVK7bN7fzjJlQJokeJOKE1wAHGwVSphHOb5
tFHKIQsasoiUmkiafEmVvhiB0MiV4pjAMw+kBVRIVEp7jpUymevRvAT59EiAaGko9RIpHTMBQbNW
ymalNM6K1OIKlK/G5RsJ1FdqaKJ0UWqKyumVVgqKUeqUIJ/6IKMipafqBSVnRGmsKYitBYiuGMTX
VKmwXOmxuVJmc6XR1iDWWmkLshR6kBsZt1aKLsqUnJLDfIY0cmPKixBm2pQGDBmLdYm0PvDCpI1m
utKJsVKMS5COSwBdJOWch/oq7KXhUqUyR0pv7sMOe6XSoAmI0V0MKoHfhfU8bzlI1ZZSreuwFm4E
QjYQXegdKNuG0ri1AtRuCbJ3FfG5SjYLlJ0JqwpcA0RynItflAeLAqeJE2r6md/KsyHhTgJUy4U5
SSfK0x9lYmfOILvrVtbnOarOKi07hWwNJHoTKGNS+Z3b9zVMyzV14PYRmDndaPyUcOrDzB5I/5ma
BDBTmGENzdLBvUWlo8XpcI7LLIZFxjCHvaNW/98Tv/vnb2jcF7Mo9oaBUb0x2T/aTPX3lP+m3Y7z
mebEtoC6wbIN2M4H3ngERTRb0gfltuqlb7BjCWwLD7uPP5vvh50zCCxCgzVouzU2EHXU5D+CkmmY
l4DKEASbYtuwIfl7GB+BSpFnhE9dEQoabNgZGFvwEg2oznpJ+BIUlTBlH9NHhvyqtqc4N3KIoHre
8OGG0jqP14ZWUjnLil72hlfhjoYd8Clf/xlkQH80V+AuBo8UUpiBjG0t+7+UfWtznDqz9S+iCiEh
0FeYi+9x4tgnyRcqTrIRF4EkJAT8+rOI87wn9q5K3mdX7Ux5PB6Q1Gp1r16rMRdBqH667VOlo7UY
uyXVz2mHAvd4iDjvW1rWWcbIjwzYm//QyyXrv+Z5qqtvVFHD72pkEZoWijQTbgX5j1VI5WIXABD3
qe10MaKSpm5Ithrccq0UWa8TRYf2n2iaERuVvy3pL9P/nSIBdvOrOQLHM0Eew9neVQ7TBYv4nSCR
EdV4yWX+owrj0JoLVAt7dtGzebLZBWJAB1bC1mj0h+9jBAfV6c+XJ6+TcvA8dvUbBUkLdEY8svRn
0v4bQWNraT7xmDffW9LRrindSFMqCyGSyLQnu4TaOhSIXc1kgbh108N9YBRciJKwjQeKiF8OU4f6
u6GW3KGZi8Hv/nyTMOHf5wh9DykFpRJPLyTg98EsX8/RIpsokZZG33lk5zgBkp/VmTn1OUPgXwzW
cf6lS+PKXf75um/WZr8uA5MGhwVEzSBevLmu9uuYjRHNvwNmxkFezLHup0+SVclQF6FtfPNuqPBA
XFdIOaKDU/Hny7/mzoDBA7oiBCXogMMAz2APvR52jfJ+FC+Sfo+yPjMUZZqYp1+xkSJ3OW5N1t81
ERnJLe3M6h+6KY43JISy6TEpf76TnaXzfywe3EmagF0JRtCOHeEZX28mwvEmbtduqL4BdB1Sex6N
VtV6jCo1ifW85nbBqvz5kv8ePJJHzjjqfT+fxQeA7Pd9ITNZ9e0a2++MB+xyZB4cRZNTaoOfcELn
FeNf9oQckdDEs4x/GeN1tgKlCGCy4S+GQN54MkwAmhNgl2Cjog0B+tq8vptabG0qtIue8QCNTEUX
i5P7hlDLKPEAXh9atu2l5WlNdLGIhOKu0iaW/kFp3q7lEBE7PAgllR0QaI02+aDmZpie/zxnuz/9
fZmg3ovxUGI8VRXiSuyWN77Ehyq3sdmW58U6CyOIfRdjsuIl0DQqFkuBeeikM/umcWHcXxoE8f/t
ZOG5PCCQUcjOwT9jcG2vJys3yeTWiY/PQ59G8OEtvNcWinmN3Zpe0yqF359qj6eQKWSo8KhWK0vS
izxqo7krjIS33T3/KvFXQwPc/pohhBrVX9wKeWtjeOwGiHDJ3l8NK8z5m/NpoWHQAmD681QlHJSK
1k269/dmc40eymBWg5uLMjXjd+NqFBgjebet0UMAK+dyErZv61JtW7xeK2kGh5hXoPbsSp/GUQ94
XdSbQsIhFrjEJGpXMlzFm+jxrV1TgWX2l21KyBsDQGtedCcVQH93tBfG+nrmYZmDmYdZf8nSMW1T
xNyQEJiiqjxS2ZJsGTDJolpfvGfvGX7nf7oTTSoUQ4olOMrNyQf69w3N3npxPOkXwUgqCEkgVfyX
WXRLN6lKjvqLtthF5kinLme3CZF0vaaTXzEdopr77QkZ57pmhUdaZFB4iZPAP9Rmq6ILq1i7PdnI
T/wub/geICxsVr04dz7dl2cEHgYTWue9vK5t221PW887MMDivt8PrQazjwUaByHxJkWRYnvK1bJg
7WjaIvsqpi2uHRhf6USnE8/8vnZAgRoEGObn5UVeR2soAO60+IoRwQPuvImGPTZwOlXd12XiO6At
ZkvmB0bHzd1Y21UWRTdlE1VGdaWWC1C2Qv15yIeKPc3xDBzxmOU14ozZDCNClD/7hrcuHLOfgfmJ
3v97BYCSN6ZBAUzXROj+y0bUZOtiAU9UT0UY27G/3ME8OIo/X/GtN0JfYgYSKs5tNNUT/7riZONJ
BkXDZ7r53RiDZ7v7S6asw+HNZyCoX6qWbjBC1HjdVN9mcCyw0z/fxl7beOUVKeohSbYXPdCbhCFK
fr0pNgAkJhJcPSk2KEcLN/o0+jEaaeCNZDcNBKWubGzuZwAo8DhapmN9rHOXzGOBhvGhnwuX1Oa6
r3L+sFDb5yiZB8LnDy6P4qY0KYCgaxgRAPI2ZhXKBKziZN/sMoYdjrNEdHFZtZ3bd/6MUsO7vcHK
TiDpLF3m859H/Nav5RDRxXvDyORnmwnkBK9H3PFKDsFM2SOgoRhBbGptgiAWxVnYLduZuheShAVm
u3SC4qV2PyPbiOvdpEEODEn1UC18N+nENBsohY1O6O4izTbF5GT6We9kw3TtsOuqoPaYmqy5wu7M
iME2+vOQkjeeLUcEhArVTiDGCuKpMG9ctaGD2sZ2SB5zB7hDn5yu9xtwEfX71v25j0GuXnFvlVz2
LQ5fubsUq4F5fo0kQRhPlnR/azQdnujTixbsuyb0+zyYNYz8rjILPtVIug9xBWNtQqkns/Skc4vK
abnivMBw/zK0N1EmhiYI6PboQIFaG0O893q13NKRrPfj+ghq0+6pnDUwra3fmvGbi/MuGYoVRd/t
CbDBfj6qaCRYkIWrvl5BYeLE1SdBIx8eEaVaTAeophTWR+cN3mRoIgETY6HXu3fzcJsXTaID3JpD
RIILNq6K8RNyLIKpUDXDVDiQD0HKTXvfYktIkbT46WV+dle4PxDp/7HY719ilN+zoDd7NEe4gOgq
S3bOuYj/FeqSsAHj4yb6OKtshHd4CW8TCSQIRNI8kfXwN7fw5jjaL8nQfiJBLRL/I2p6Pe1xOyKE
1Ev2cfIEFuJWyE+bM85+zA9rNRvTYxVQ2psK3tMVE97P1YCQBU4PsxTs0rv7jE951Z4qx3I4A2zI
+YOFAgYngIqw8d0y4KD6tWy1AXgL2nSfD9gr2EX7ctTdsi9E1DYEL2JtxfwhHtWIO0m7DmcTKnx7
nvrn2UY1BoP7LVLE4PdDAE6CoPb874wK4eAU1fGyfpRy5X1VON9RXVYhrto7nmzMopwnLdc52G+J
aCVIRKYxV3EPSjpI8Ih2omtbq4jdVkpmtDRhXOpvcdPHF6HyjB+6bBj776ztN/tBjVzZrwGc6vCO
zSRetkPeDiIFGQPx4+RPIaT5fGeNrJaxAClBkRsaWyIOw2BRAW0X5wETj0tutraQw2wZqHFLN2Mz
zJsNa4+SRNqy9iQS4tkD793K6jJeCLgfZy2CJBXit6p2l05miMzKbIMaYENaC1PUl0u3VkCyJ93y
0yyymh5SFS3bx8DHpHnyrK+rA2UuIeWK/HRcC147sARFk4D4V6d9fQHhszugGhq260oMcXwmgcjk
VEdTLuOj7kbFHsHWrrvoUYAlvXxc3ELdbTS5IfqAEyPz31OU6ezjls31AI7rOBI5vRcLaKDnqgG6
AQY+y9VYiG6kiSwzC1Jc/kxUmw/fJVDBeTnAVFbzQ3gXAphAfQAF9sJVg0nzA/KAtOfnSkUdvwOX
POq688x1MvXyh8wH6jDLC6Gg8t6CWgJe92kDcKslGFix4/FxGJjW2aUXVSP7myFdOlMf27l2Yb4J
aVXvqgqmgk8/VENCzV5TkXV+gq1wEFvACgKppuynvAkoPUSMG3eQld3a9TLUUySbc2gUTpuyE4HB
wc668emnMfI8nS5hHCGqykARtpA7rxF1icKtNF/4uz7JMry4lzejpunxOzxxh+Fy2zgx8wxWvkgg
cuCoViQXZC/eZEA8085n52VoCWDUlM37uRinUYPh1DTFofJ1qcB2FWWbSpHW4NzpoLP7tora0J+y
jkaJvuz8KvL5HW9p2ojCCLFjEpl1qexQhqmqaLtmKKthpqLVwGXfwmsbmV5HtLJZf0Ma05D+HiXX
Nq+OoYUjqI9gG1LcO1zWfkvrHPVxcoxruTbmEOuutflhcHGUDp+SGji0gRqgF+IRtCRjSos8GDOb
5L7BCVIS1DbxJbh/hCyFMWKP6ZmcMPpSSzJQfmpl2GeM9q7DyzhJFz0MKttdPpvBtcxKEdwIA9gG
xBtnB94pPqdfhipBgsP0mTbDfzhLpgpX6yVBkjmQZl8eoplM0v8h/bLP88BECywJBSOLpYiGLpfs
hzFIaMwJFEVEWmXIyZqZssllCjECTN4bDyB88M2A+YrkNp6l3xhZbvM222+5wUrr7YHDsnAFil+Z
5ypadgPjqLhj5dM1wnu9UPvUzDPBR3HE5ibgHmY8qhRj/DUeayk1zwDcJN5LFz3yhy5lqEvvyDsA
oEJnkmAufllPtU0CX5m10T64yq0/J8PDamz5K8YV6ZbuP9Ep7W5Ru7bRw6+pjl4+/p9JfvkckIKk
u80SrXADZIjk/Nw1XDeoMAx0xaBNsi24Vp3QuokfkIDXoyjSl4VCudDB1JB5e1tfDgRFnLQgnZxX
/k4oyCa2hzlRPT6SaGBstgTMUc2i6GIw/cAdUHhqEvZoVsfmWbzM4Kixg+DXXsYkkwY5WqnHgQdy
sXrw0rBpXpb2xTx41fWYH84a/MUxzfp98Avq87DTmtj9MpJJjjfX0cSZfNyihnl3hZHSfXpfDGmD
2AR3iUHu30IaO+HvIFmjsK7Jyf3WXyY02sKGH0bwb1l2jOJ06NrLDU+xW/S53hGt+BgaP2JPi7be
kY8pYH2bOUvMM+H1APOZUkSsGLydEey+m4Bl71+YzPsL2KY5Xvoh3reD2tL9/gcPGUR49H3d181p
qHN8rzSU1PQC/OuMuGv6YitNi/Jcdv415aKdLW5naWiHL8EJMOLirW46nPMzMRuPHxG5tfl80CZy
A8jJU13h4mkr8VRQ1B81sM0egAEgGyyT9JfZWO/b2eN8xXvd6nmbnzoEi8t6RcXUL+MF6rgxGDK9
YL2aQbmvARsSQTw+L52Z8IKgMe3vlPH4d1WgnH5J40AAFRlg+f3d3LkKoECwLa5OZD3OTzuxHVlA
tW677QcBV96eFmoSeJjcyt7nx17hiIWgKRoqMV2mAkfV8jkGgxz+pu7HsesufsHJreulbU9e9sh3
v61sgpL4QrcS03GmP/eMgXIQEzZVIBRsT1TmY3CPhgYZ+IV7Gfoi6glTBPby1mFEXR2m9Mi3mMDL
Ocv26SOL3q0GeNVu4i/4aT51ATNAfLKP1zVNghcLA8fnTQMoNIKMawOuDEFlN4gCkMXK1S3VYGIM
Bw4eBIx6Tv0Eu3oBWTaS9rY6+cHYKrmsK7PhO7YX6K1CWg7U0KSsA15akQ6pr1LInaBf7AFMpNeq
4/t+ciw0AOFrKBLhKimvVpx50wpPA2kKhSKlu/CQomF+E593wOLbHrKs9BodbTDKzwHhWRVdhWoC
6ftO0HYHKUeP4+426yrK3XsGGGutjkvVRqs88aBBMT8AuiAc1V6AQPwLqynoFwUOQ4HF3yK2YVR8
UPuxodJqNzebgIwL+tJP6Kh1I5Bo2sQNncFpA8che99tPkQPFsE0UIVNg7T7Bf4W9hUFvWEGWkhY
dzPS0ICaE9LLHaXqG8SriKyFGoP+wsUqDXlmS8/7O86NBhefJePkon9CA+pddcSJRvu0mCDtM1GZ
9ySzT0AkQ+c+xrVp67qs0pXK5UPIENuY72JuoNX5PIGYbOOz7fysRBkl4AQ8bWC3sRHqBI6Eo3CE
jIgpsywVnnhYuWpFUs54M0KtPwuoTC2HXyN5WUujWwDEEN/QdR/WT3fTo7INcxNrvXsTRP/75m0m
tX9i+IneQ2y2v5eSOMInIKTbP1hRoBPqiMx9r200IPRgK9eIFqu7za1EH1ts1H1XCrX/5pfJIqaE
JxJ4CDR+9YKH7+40qku7rJZmoEbbOL/3EoyisQjxAPScrRtElJfBDPsur6NthwMn1InwwhCWOTCq
Ytg3i1F/AH1I7HfeNag0Qg3380KpBUHmwcBUdo3ZXpAYmnbLQAIctGfvwSfex9e9AI0GDxyBNUQ9
eJK4R8stYwdVKzNWhTTcRw++STU+7wKqePNVk9R7GCcZqHMPEGrut+V/brho7HCOFFUKQSxCmWQv
Mx6GsOw2mVVb0jU7j35Q0Mi1PXbj6WVCgAPvTq9D7w58L5tI1F7LhPbQGf85vXqT0APLgX+ABSdw
bpz8C1YGExDBaaeTBzmCo2qKrK4X7IYwws2aiO07qJ8BvEA80Zj93v98+T1x/S232y+PDr0g+76o
/N/C79YvYxSmDFDVi2tsgQHjLpAHYCf9+VJvAHTsphjN/3EtQFb49626O4BBkVcIJf9jI3G3jGNp
dMXYO3Qc2ldfcLkvqgcNDkbCLMOS/XKOf76X1xBCipbeQIXQUjLnKIfD/JLX+Xw10wTwbVs/gFkK
N9akZI/HpynP6HGDlO+v8/zvC6LTMYADnosE4KJ4gyt20sakV3H1wSwDDoq6w4l/ma0d3Nyvnf3n
Ae6c8N8Wdh/h/qDQFL1K84SgHPXmgkvfsnpwPf/wy2MEuSsYCmh11jQ9LWzK51Orq82+94Gu7UH5
YffnFCL7h2jawID6CypHXls67gipVC5weGUiZYDo3gCNq4ijkK3UfOhfNlVAXIc9vviugl9v8rnB
EkgGSmtyEBC74w5MJPcbaTU1HgQvg8z+lCo6pnGxwLWsJVy9wcexPypy16wU+WQZXupZ+sXN/nla
3y4jFg59q+MUFRN06UNf+Nd2g3PXuGSJ5js5dbtn2n4GQnqCXvj9GuWeoX3F/z/UlaIAwlkKFvzP
3ho7U//19bIF0UiSx/7u17G3QKDXFvEIzzoWdkKrrf/ueoD894ekYGNQbFWc46+vR0MFJBoCrbuX
YwlB8r4aWddjXwwTlCfyL1bx2v8AnwWxHoa6k1IEA6L5Bs8MKyiNdku7i2yIbJeWmVIZ/cItNsx/
5+r2S2HpclTw8NhKJJlvx6aqRK2+5vXFSygyp0BHYEeJUXj58zS+qa3h28HQQKvtBLOIPAD9U17P
4xA7WbWLFt/iFjD1r22V8G4PFS1VezoZ8nlQZayYTbIisz0qHUWPUHQCr21Yssc2xHCCf7mvF4rI
/zl8tJrGY2vhigBj7oQBPNjr9Z3FMepFGcSEZ7uBow9pVrrsLAmPFtV+/GfaBhTay3GqgfmKQlUb
stjCpbUj6hpRBKhBdTl2GojUTcKAicT3qkrrerwAxxS16juIAjqyrGWVoBT2eTJGIT2zbcIGc1S9
3xIHnWzMJ3XIbQoI8IYuZKT8XrzUGTuOJIm+qwZFzHLb1WjPACqPn3lDgNW0oJBcIAHKGnXoo1bD
RH4FTlmEP5MFlIC7iSJzADuz4D/d60sK1P2czSBVgiMFKesenoQ5iRBoj0mO/GVIPKYboR/32R2d
+j3IjF5iLo2iLdYt1tBlNUU3OUWgspqsGJoDBxu39cV/oBiD4xyE85cA62dkh4pfwPxuJt+Di8zM
QLyQ83Q8QbuDEZdUUBsigolRRWnqsl8UHjl4Rp2hb/tHinBcQHe7OsH0ZcvjaAcpptkC/11f8kMR
1omag+y8AhwMZChD9aNopcvHqoz8WIdYFQZPoUyTe2GEzsKxNnA65mO6inkbP6IOslfaEJvGCb8b
3YTixsdGAwUHpRxPE2XiJK0hpC0VQTD8z4qUeMqvUr6E5AtJl9Xld4DzKv1+EKLtkmM7QDqADD1G
HudKiB1Q4z8O44q1hZA+2UBOjyMgJnOJkJGkebmytQo3nZjcBClN34YGWb7ILeq1YEtOZxb3Ljzz
WHWrPFQMicBQqGxQ9tMARCjyBToe7KXAXz7SoE5f85tc4TxpT4PseeIR3f+M/wDI7/HrOrj9MHwx
jf5nlDpkfYdU0gowdaDBsTFXBB62HjPcBgiySRG6aBYfcbiM+YMeRAQ5bgNRB/o41OEhXZu0PaxN
qM4NA9e1iel2qewyXwBhGT9kliflIlJ5lzWuR08TNtuPFYz6gtXpOBXYffK5tbr/VMfNeFgEQXOH
vKfujCQcUFeCtiO5jr+MHbbjEDS/gcIWTW2YlFjdOAJlPlvYsR0b/25rexcfkS24Y76ilwcslqtv
UvsHNAHS15ZFNWTMkzumE6BxEGTqi3n04iBFQAMULQ34Brr53oCWe+ilrouVDQN4xMJc5VuiThAm
ojo96JThq/N1KFk7ZKeAr7zMkSc+2wW9FcDHqL4bge473UJ6NKYRbXqSbTw+aIaaQdEDOgJHlI71
Y1i2/GsfDSkgBq8+hjxpjnHi4isGKWVTjFFEbxjgw5N1E55M1GbVe4CaDXhUjorvUHAz5FlEkw9z
0srmpNchOpJJuQ/TzACEwBUcoJHwV3SCBKRIVcjLKhPo+vGpmROxXoIZ4b9NCWvJcfQa/XvqRskV
zO00/5G7NFOHqIrslRKgSRwYce37ZaYd8jc1XqeTI9C953L8GreTvgEbNr6eONkttEr32m49h6sF
YfZtnHXzJVD56KpBH5vkkMP7fSchULBvt5xAlwK+4+egTfhhomgpk4ZsX6epHRMwHTRojds2wXJl
r/sCTC7rD3oL3XLFfQ0xR0zQ62YlGRwxUr1yDhTqVhDCQaG2i7GnRPsEjWsUOg3Q9CkN67fYV9Ud
I9g+8+TdAZBn3BT1oubskK4jPbLMDXdaMvt51QtixRhld8hmfQduRleiw0wKybin7Csq5mNBk344
jwAwiiRW7v1Chu49dHeuKzvn6kcjV/PJQrOVFGbxUBwTq1u0+4l7VIJzYIHYeIvcSrbk4V4kk+zL
AUK6r63SW4Hik3pCl0RTaD2T9wLFjUudoHWAt3F1xZqBfZ1yvty0qEPMKIdAGAgwyhUVZKjIlH19
w/MInQp60omvNkKwdcgRN0Lp3U7mngfeneDo0eZFNFt24cgo78EfAucEXPtH9KTS59kv5NzqmX+1
FN0ckL8/bkZt+dloBqmNUfWPFRNyli7z/ojwdH1wFs1WoMozqCR3tStiOc+XHPr1s0F8TIo6m8Sj
GJx4poumH1twxJ/nbd5+eBj4Yc7G5JaB8HCOcVIczGLcA+JeiG3DMN9Eduq+bPE4nCm0dWCMAeYG
qTxmOMsgv8NB2eTAqdKOX2QoGJV6Gtpzl3r7CM4Zxf3PyRWJBwqBBZ0+Ay8092KQ9oKsvXhQym7X
9dSa45LB5SI9R2uiAaKeK+tZuB+myn60ec6+QRoB55CYdb5jq8LmAdb2jlDnrxebhcsmLBAejz4f
zhVX7IC0HcxPwDHicoO48QZ6Eft+S3L5mAPS+Wy23H3EgV9fYLNltxuJHLhVvDn1okpvUHkntHRK
9Id8WwcKe7fDaauj8b5DaeC+XkYNeYLu45OFtOezdp5BqJ1u240VzF+DQNUBtVDjx5puQsFnq+VI
sy6/IKhFlrPe2Lt8rikqBjb6HlUJuHE3a8q2RpSrWhCDHzIPqD2/6VI6Z+4YowsDurD0Qlc3IdL1
PdCf/i5i6/DUO/sVf1MDgG7I06QQwbQ+a+8W0YIWmmrSXIlRJ198VPlQ9jLEt6Ag+ccmmWdzlpCl
s1JIkl0zqOTyk4jRXeBKyVwfUF+G+mpGHf6Qiw1dPdBHQMyFotVwN0bgIVyvkckw1zwOzt4YMaMA
RRZLwuUA5f47urDofTaIRpd8sXI8SqHth7ZuZnVEKXqV16rpRkji7JCCqVlVJDpn8zRtH9Z8sF6e
99AjPgiz4PEkHWZtDHUHWUnObY+GOYhcylT5ar4FitNOJRS49ceQbeNajnHPb0AjrMghEISI1w4A
gXtKG2SlFn7EapdyBE71ALrTxex4dpUmSzy0Hze6VslcrIvZe84kcHbxZc5QqTgbSD3sQc5T6h9E
VKP/TkjqXljIPaq678qIieWhoWDzFIlk/ftxJdF2DkiAW/TzMEl8E0S7DCX6IcXZbdbDnR5A3NsO
IxC3qzZxTYmH23dXLlqXqX3XrxEXG8X0D/GiDsCPVLezx3SSqnfOsTZ3h5W3vE8A/E8j9kOOsmvp
0ftJHRnxvbyBHqblhRoAP5ebW8xQoKUUClKZb7uLoWHpeKxDGm67BvDtoV2a5YLWjOQHnscyA1TX
WnLZ1VajTOrTbEWLOFTluUvcXZSKJStVW7GpyFhHARECS3wiOrLfZ/SYOFCr0d1uHCtCj+hmkfik
RAgno7EEZwAUuYBmWvzDGrExQ2Dm87XpS3hShw+MaNiFR5rCCZmcH6XuNTT/hizi2KmMZPKok2VM
01sSzdw/osisqot27yRWz/OXbZP1Yy31l1rotEWDuqAeAjgnxyqv7BmtIEwMJ8EtynLZdt2vSX9n
aeNPs7Si1EZvkFGDPqoLpVL1YIeeH6zlaHeXNwz+dXbqm6ur7ZSNPcqL9VLdovKZxyVZpmAOGw4b
di8mSR/QUsbaQzMDg4I9wGAK8PTCdzLq7r02w5Qfpyyrb6YRGmFv0IXv6Jd6ri6BZtd7V7lFXKoR
LUaSwfSnzlTpw9DF5CicHK+7CoKxpFsYNDcopo71hKK6QFp0SJIKj3f3mT9vS5L0RZzhED6gZ4iB
0ojw8Q68xuAutQ3QoKMh31Karm5LxqdZo5GbqsBtBVHTX04cgzuuAN8ftgo9NyvU480ZnVHmg8Wm
DBCodfYOpzwO/4Z3PSSpiC9wC9UHnDoNWiUKXvpBy6e2qckXIILLCWQiSAdjoU4Q6rX3URvbclZc
fooH9di3YKjVSNxOWVK1n8eQoDdOStHvicaVvfIJhWi7skublw1A26tKJxh0HQN5byDJQhJO37VI
S67mQJpvnaTZl66qyaeO0HAzo6J8SLUZLymg7CcUBRKIxMS26IK2sbnlVUURt8I57kbIvrFuT9Ih
l99PbQgCn8c5j5ojVN4o0ALkHvklerY1YznZZnGogW0jQMwstAQKZviRgkdNm972ekqepZQO/bJ6
3AOaM2YSgmp8bwlYDjYhV51eKu6TDIJrEEyhZsTxfaX06P4HinUuy05TGn/BwRssGsygI8xF5Dp+
cLqNLhqTJo87nwFytbnzBYTk+l0KKeWzRzsRHA/IPE+jr8DSQucgeoOSor3WK8guha0R0twsk9fP
XeIWqK8Af85FM/fLN+dW7BVsSuRpXgNd/T6jmjYXqBTOx6Gd0R7AQNqGw3XZEMyDzvqDgdpanVQm
3TVbkb8VEcIRd+grE6VHdEwBFzne5vTJTX3/OdPzAlU5nQ7ozWfiOx8y8oCqXy7AVkIMV3AXZH9G
syl3Be83hONiJFRvZhF7y6BtisY7KgOJSmiCwXdaVZzqo9UzlA9gysCISiaVbFk3n+qZo8Sj0Hen
Q5Bmj3saO5fVatDwoUzpUG2fhskP3btkJOi+hKyi6uDSBB83XVri6349R3HSDuwd97SCQJuYhn7t
QWeN0M4mypcWfZggO1vi206OfBQlsu2F6cJvUk2+zHDgputBoq6W94UHy5yth2FeK9Wh+WIFSKec
PBIwfd/PQK1osYB+LvzJenRV+FTXHRvrQ8BWQXkHKiE62GJezMgdOkB2fLiEVC9S/0wGfUnTowQv
S6FxlUEN8AFKTNSEzhoELjcc7AplfXvfet1hHRhk0o1vwbBGbWIG/R7D/6EikaFFp57aYT0ILZf0
E1oWJvLhBUSO9F4Icb3YIduEVIu+RhffnVIAHsNen8E+3LLvNavihZ/B996w3wyZRPPZ6yAjWQxo
QrBFyGyrNnAcEXDH7slLAAqQpiOgXO7iVqCHQenryZvuvKHqhtXCkdeO7TPN/TCrQ9o7vw7X1GN4
W9GMYH9MJcg4aKvxQF2qG37kINA26LbjvVlH8KMahxgHuUNtTlrnLfxx5MZDB3bUbQKSGUJ3tJo6
b6tAJxqXs3PjMrWuGujwDIS3QR8Q6/vAjvWwoP3pUQcwgQSwg2HMbzaEfmjCFfW8QnVuroRG/0Vm
BDuizw9lZ9Qj1ZPO/5e981qS28ii7RdBAZMJ83gBlG9bbdjNF0STLcIDCW++/q4iZUhqRrq6zxMx
oXmQqssAyDx5zt5rD8WThuqn980aU5wvBp6dDSqY8l2vLh53VPlJm29q++KXH1v0M7O/mg1D0dUe
lq/q/yPsj/GOJu64pz+dXtV6ZAW5aQ/XkJAWcJZWiYhs9BhQK614yLx5cg4NJZzjW5VaLsy8Ka92
ba+jrpxdYD+Yhsb8Xa16lLO0CrgkNvvoAHpyXc4d6I6ZAkEDoeXgLQ2AWkq5a23Rl2FUuvMnbY3m
RflGPDXG2c3TXIYTab6fWxIbWh/CFUeDatVGTiNtZiQbyom22w8AIcZ3+EGXjgsVtVkFa54AEGXr
irRtORguoiGzgVgU6QJakVj0bm90tfMKiVDQsHQiM64DGoqp5ITqLN1N6dr6EIIWGfoXJBnIOfxW
of4L0Jo0IwWSYaJ3orl1E3PyLn3RUIdfzwwCZ7zLubNxcrs4anFXI7EfJKYPNH+qRFJiLgO8zUp6
jMq0Ptnhp+DCOHOs+Raav30D2zYLBhpmn1aEFNwbkXc/aHrN98SbbBsKFioXO4Qo6HqbDM3Hrxqi
KpqHmYqhASN0+8jhckrunaxsL1WXZaZ7Khj72ALiSz+xRFrwzEaRnevJiq6Rb8bvcC345d1pnZHR
AbD183VNZ1+l+vTkznK4m1q4mDcKex1Ta6esWU2dEhNFLr2zQfvQCb2sng4GTYs0nNDsfJgsgb9R
5qCzKpFlyCZb+dBEcb3tzUp/sdvO8D0HfWTSFivOgW5dfHxZyw1eT7gW5tCNmM0KkA6+l47eeIjt
FtVcV63IVONomvm4XnGRbHAaDlTlLOaWyRXzX93C8Bhi2R5ZejV8GKnfKwfZoxV3DUUBuOBra1DD
VWwaoxvqMlbOFoGGepxmp0cN3Vd8S1QKcMjaxI39kgL8ttEuFW/nChc+n7YsqW/nkYdMJodWA5vQ
zVCE0S65W0s6AP5qK2Vv8hHhX2jpJfQ0MHJ0KCQyP+QspQpHS32ZuqSCetZB7Onl8uqwWoynua9a
FYLJcc+dbGFd9ZoEYaChNTpapVlfW0VkntykyB3kS9GCQ9yIvJOmJeanpUjz46yp7g4NYRagTTPf
cOsMFfMPSDswZLqsDZxJpEs4TAt4oKJ18eEPSeoWrL+tVZwyw1zktrcn+awBIZ5v6FzlFs2AGmRC
oUrjNfVQYvglApGbGuWLvnEmuXAo8EzcFk2kA4AoDVz9OSDbKWDfpKqjPg8TC0Tv5Xezbydrog1t
mXV04xal9dKg/gDqMRSvVlfWLy1cMZ8INnqPKD0RcMUjt3wBFU2bYJjl3awFGpXHdTtgO+rou3ys
4gG0QsZDHbZp7tz2Q18fe9ngQWmd/Iq+gLPXIt19pmOcOtwGsf1Jmau1mYXencd2MQ95V8OqzUZ3
ulRreomkB5qy73Sdu++spLLD1dMonCC3zLtKmmNxxsWbhi3NrbDlVhdBY8lhQ/linKqlTtAsTsZL
Ei3zixf1hq+6QcfSKfNN6RbRF+TOeiik6J9cyv2dISLjU40y/kXnJdLXZn44rAgveIHc6xnxwU6N
PU+dO7whnO7v1KAvke/2tW7wHKx3XqyBfm4NUe7YD1pYyS44TtdBNMOrr6bGbD9kNDtCd+aggkm+
Wv05MepnzS3EQ5ZYogwEXf2DUpXBiA4FaG5ZsFvp/oN2UPSD2k9sUHk5hszmcVe9cKKtS3VuRQcW
9LYHRMMq37nuRTPVNviyES/MS1bCl1EMQutbsSDxWXaTiYfEDK1an/vkoA9Jma0HBOZL/xSl8yQ/
y0rU+R4mXNmLIBKt3muhO0oxtSxeOSobZm3oNjLPSGG1Igg0VspGV18Ay+V2q8+HYZnpYvq2Ocut
ENXkfrSrqmdRaVRezIBfHJkAs6HOQz8RaosdxwhtBNovZNKU8ai9FjzaPDTI64VEopqo+le90Ran
Cxm0IiAEugMDAtbNmsY5KiYVRxdxO/dgwxgkzuJVb+5Hy+05wqTWbLftc+1O0ZiFDIhdzn1YmdI5
uwFQ1IFr7CbCuo2Nrqyhaz4N+ToaC7TDWKVLMNWCksxfgUY24z7Cvpl5AR3ryzcRNty+YpfE0Maa
DwPYSPDtaeTm/Ds0+g4sSq3vODCfQLRGhR3Muuc64/bvx3M/TsiZGqIA0RkdXpy8DGAvhv/vbay0
ytxex73wa1mry0Bj/KZxsWTVMijvnEQMSNJGfdYwYKQZI7p/+AA/jrcvHwChAOZdkoSYEjIU+vED
pHLBGxWnznv+7QOU35QnZe4V3HFazVzs26T0fzSHfwpvwKb93c3xl+yGP6L6/gQ5GF9f8hvJwdAJ
phcM6rlbLDxYEtPGb/g+wyCkCxfdN/GHp9vmn/w+4tEvr3IRYTB5R4jyJ78PygODTipBC2EMMo1/
A3PA1sGd8t2Ymbtf8rk8fFg6n+cv8pOyYckHoTehxFYMMy+4s74sKt8FzaKfajW6WBuzxunXYZcj
NS71D4zkeHTzCqLNo1mKHsLW5SkxQcEzGZuywAElo9yH1KaksfHNQj0zhkBNMz0KgT235FzgLftM
myaNShMhUzkeOCiUHTxpjgVVr66rYskqpN0pZDrPVdWVZE5/rLVy1A9Zai/Xi4iix8xqFDNI+0Xr
6nE31aNzcYjg4pCZuvoKcSqzGbq/lLn5mEBDqoI0QcXoe+XE/oEBzNugHyYmoWhXYC12Yc/nlXPe
m65ManvyMcZrLN+cf82kn4BxjgOweKhmerGr5hEQ64hzMJRenR7sMm6cG8/rxyzoQIrtGA+xt9tq
6Xd9m4OX1y4m4aQU+V5F7bTN1tZZqY4r/jCVI/yWcozGW1NG1Ws/LcZ5gsIw7uo+w1nRdYByY3qD
c9DFy+p3edmGmWzGFwSxy3O01mQftHGjoObWKNU4l0i+KGfKwXzBdd/g6TCKXWeCLhJGPm7sWDWG
3xnt1YQx5TKjZOSMr4qMizSf5MGOOufZy5b5yuwnr9ulGbrxbdK1zIxHbnVQiEiA7hs735igaMqd
1cNttmtJvMWY9Q6yyCzTwOMxqfKBArR1qA9sLjTeyj36wCSkbTe4ZChM02bqM4jesTnG24WRIj90
rJQMjK6YvjhRqr+tKL+2ucTZu82jFBp4JZa3EuaJucW/IHdDPasHo2qTE46Z4qVGg+BH+mhMgdLi
HptXEuuh2Tq3KHTbcDCTaENjHVvCBU3MTWPMxriJ46LZLiP9u8RpvdtZNkyBonYIBjbLY+JFs+PX
VpljRrKYqslkKN51KFEHJGrmoS8ZQYJ0iT7yNDDgwojifYrK0Uj9pevHfBf3jfkYFelwmNrS2dLZ
cmByVFH3QDH8WZ+kFo6Lu4YY/il1eQLSQw18qGQ2No9eENuucVXahTjmiQTRz3lnN3aJHfmyWw0j
lKPJLMMsNQsGfvPI2Le9aVx9/VT0ZRQiv1+eh1SV+2hFthFoAJEzX2mUhaPSutulnqubRuJc8fs6
y4g1GdMokLQ9QyOJ6ic7bnp/0rzqwFwi/tA3lxklBXVxzoUyg25lYkaTd9fX6FJaJxKDjzBav5dJ
MwQLOhRvW1fCxGItIyM6fW0nDLJXt20ZeYg59eLXCvzcofFgLxAsAatpXjxQyP3nTE9FiFNgCiTN
5P3FHEO30Xybp+UD8mwZVHnszaE3mk6bh9SlXEccvw2jdPtu6pgy8Laos4flf3Db/0e4LfpXip4/
FHJ/2RY/pN1nUoXSPwIkv3Jtv73qt53RtX8BGQuXSF4Mopdd7o+dkfx2KEM28ifqWIGpkX/1G9lW
sDMiVqbw4t8gD7P4GIiZLpwjYf6CJ9JBIWsLEz4Sn/B3gu/dty3v71KOeIvvNkZKK+TOkl2LLREb
L9lKP5ZYaDXpicvEPnlx3cIoAEYrWV/267LkKyaETv6DpO8/vSGiN8KcDKlT/P5UVOZ8a4VLCJaG
ZIppjBNObG8A91rQLSHNw/gHme+PNeS3LwjRg98Lldll///xC3qZjdcJu//JqRP7LfN4AyvLjMcO
Qs3uu2v/22/7vRH4Uo7+WWR8fSsuNdca5jDa4p/r5TaZknjIDXFC9yXfUidr97KHf8SJJTZu+nX1
np0crFoL3vb892/9H74ld5LkbnB1LLE/C/ymJodQAlT91JmZOFQuMk0fp51LwzpmFfz7N/tJTvj1
i3IHGh5aQdQQDNd//E0Zt3YlWFBxYtDBGzmKTq1PD7pIg7F3stivrEwlR6gChLMsLTPRF2HUBVth
kWqBblbev9KlXj4QydQoxxFRO/BbfoZ10TykxxVH4uROcBICr2zAxms5//j/ey8DSA3lpDC4cX66
oeIMXmsCIxfux4SnU2jdu9OX83nITPX69z/05Xf88YaChkIQmpRIp11dUjl/fwBLe9Vqdj2I0xgl
Xzqz8zYD+94/XM2/3jq8iW1SQ/D/rFI/XUx9zITTmwVofbolp8zlUEwdozSQKzkE0b//Rj/pwL9d
KZBqBudgDgmIe3/8Sm5kGaAcDOuUmWlehtbIexqRhhKhwLT76ja5fENJzUNKS+a8oKk6MPW0Dv/w
MX5GMly+rGDZ0y+PqjB/vmEiiAZRZJMnMLu9eSSDy0DdHXnuFTUCdygTIewiudna/oKnzwi/Przy
Qm1gBWn3f/9p/tMV4EziweviSqP3+fE3yQvPnstc8fBi5TvrOtPTqSKKSiiYUP/+rWwbj4fhsLWY
P99Rs3LbusXbcEoZ0J/xwvLIasXMUu/aXIm/f7Mfl3qWb3ACJGB5hOfxdn+5fVXS18CUlXaMFnyI
voas4rWyCgIIJne+G2nbuv9wL3Ms/P6Jubwl2BDgY/YFJCSQxf/4U6ocIxAqCe/ITDjd0drVCuw6
3XwGqDuf0y7iulogT+4SNzMf05hHqpz7+sTpRKFiSW3YvQ3b39cVpBc5zeqFOcIKPFwj7CA1iET7
+x9Jft1i/3zKJRs/vPYLp97TGeCxNf74mStGhIIcOHHsCr3cwkFbCW6xNWynHTNbfJALkiAiL1oU
tHWmFntj8Mfu21YrSgy9DJH9qKTeRlQa9+8rU553FKLcul6y8lyZgKCS8DJhIe4HomHMQMYjVg0+
xbmwyYXSM17WciTCAMLrwi4zrcNkIlvq0X2d3FjAhkfrrPkL+vs7UtS0dkNV7j33xJZlAQeGxmAA
I/nTNIXaKSy9hAw1ItOYmsd4/uxdUTW8B43N01f8PcoNMlDEiMwUd43CJpjU3CFKGOoVbl2/7rRo
9ezjRIPxhPaBMyDt5Co55rBC33OcUQyJK1MdQSEuZ0wE853G6Wykm5bH6UeDSR0nztWycyRe9Oee
m6Lm3mMw/pYz2EXYl5nybTG87r1DqcgOPXIYxtRoflZrhBq+cZpza1Pny4nDE+pCxtusv/TrJk+y
wxiLYTySUMND+jWqLcq1ADkTv2hENN4izHQXWVb33jIvDJlhGY893i4iYKbIOXddvD6bI/x15Qmu
U2lP3jO6qO4952xo+jZMA4KDkMYE7tJ6z4Na+K8YDIDcB+PB/AIa1+Pa87uJQUfU83WXwy/jbulE
0N9eSrypF0ZTXzD/crizsS6jDCyrZXWOyaUw0RDo3sFb9q6wBBB9Vy8EfTBuJ+JPgtS9gZjBXZPj
PXlzbGAe/pJlqg/G+qKwHfXIsY/qsl5qNCi7XSfGptiZKCGaALtzjn6rZ1+064TnrybpJt4gTzRu
Eq0suJSy7BG91hjZCTsR7Dd9HiEwRoTBvTxmmvfc6RF/1u2J1ps14gKVgb7CB+xyoekx5DP9noaK
FRDLuF6vTrHGjEZK+QZsX77ZCYx9v4O/UYRwYdoHRHbmfl2n2AkJNRIfq3GsHt01Xa5pvRYhs/Ha
8DOtMNytkertMS1oGTPZ521wIzPLqdaaEMEush8L0DZYx223yn0H6NaNq7v6qRSwwZgwcWJjIGMF
s9REsFTr8kjOj9wMdaLUEbc6GXfck3SX9a6671XH6CmLhvLXmrHQF1es9UGaznCDhQNg9oJ0AEE0
HSgomgUL10Q8Ez+CtqgXG8p9t+3kYn+eV8cIgXEQJNYRsrLV6aVCThhUGhoZmkzE1PUN0gx6BBWS
3Y/xJU7LqWk+LXZi75pqiU7G0jvNjpmF/arSst8ulVo/2tgtj0wQmAzNRHV+rIom30hprkFnoEQJ
3UgCSc+n6mOGX7NHtJB0YY4QYXcpRhFJzE0HSLgttU1DDcgsCLV26ZqkkiWQ3wloi85D3mkHJm64
CVqoyoscll8ZKU6bREu1+8Wry5c0H0WAtq734XijrqER7zt5++b0ZBm4KaE9OGmSYBhb8iVVzR9y
tRsxJzrLP9FItZ+3VkJOjYPXvidliI6j9MFNuMihuPJquqLSdfemZSwyJKwHfEQU8UYCpWcohjg5
uMAEAA93SYh2UNuYZT08qdxmSgmEYTvIHMlron8unK5+8YrU9FPPmLccyC087nwOJkXlPbvSCjGd
5f3KFs0lLFTnijqxmV3VpO/c6f2AxKPruak1m4rsbWG+dKOZGY9E13Fi2NSqN7OTjf0Zmas1903A
atsz6kUeFdSrZzwu+sotqzPjh2SFXGzjDrPU8b0mMzNO/G2IM52oWAMM4/VrZIj5jmaoFjhL0e77
zmM/dgcZIU3GUXyq2+Ly1/Bmd7s87VmCWI0pzFTNajtzjkINTglnj6vxOCpxERcmstmLWWTzXhq5
elUkJ/HRnBFLQV5UxatZNzH1HL1J37Bqk9BEUDFAn2EFuOrLokbhd4gJok3h9EQRZmL6tXSnJmbs
rMkPnh15hzbxuj3iUIIqKhRzAzLqLPnEbPkN+YG1kSK9mKcXlo+XYoXX8UCER23twTC5NyMJLoHN
RHWTTFNDZ9Zet0hJ1dPqxchXGYRMT6NsyzNNwy9msb7MBLne5gga96yrILpxaDAMHJT5HgPRfF/T
dHqIUdOpO574bNOMdGjQ2BPk4o9Jmi9+g4/qaEsSA8IZiBWTTZt1PMiHLp72PVSTk2jq5brpeuts
4z3DjlXmdHJtrgKyO/oJz1o1zqSsGH1xPbetuCWTpLhtDDGcy9QFnFIb3WcoMMWm7qFB1p49omZV
q+nLyCRbq3Mt0gaSlsH6sEJuKJuC5QIRM/R/VxyXafwUKW16mPo4vzeGQb8m+UN+zJGhY8AmWvbi
p6C31yxWfOOJJb1uZ+JmNG9CyJqMcfdmpmDzscl5mwpA+AnMiBb5ou/Kdmew5G01ilnCzAy0hzBP
ImfeAk2wHu1cKSgmBLapNImu9GVY7/tEBxM0xtPrUPTNsNG7TqRHhKezDFx0n/TtI4y7N/asT2rn
JUO355SrXWWoep9glJiY4nEeVT7KJh3cADfPzcQO/8VA4Hg9oNffzWyEpyrryiJUXhJ1fm1wvEhY
3HY541qC9KgsEJ6MznhPoxYHQZVB/eS+ZFidzzD44BXIK/LlWEYtffF6PMNjNYVm2Q4E+lUo5Xuk
PYwXvYZ4CLdwBAuiMf1aI8WJtp7WrNtYkagqBEYkq7DXfTc46bnDY/aEPLd7dgsI/CNMiGBFdOtj
yhXw1ZOE9Io1c8BFEJcXGHjh3vE2sA/10GMD0lXSIkTrSGW9ck6pitVBeVVH6a2pO/OT3k7aNTYV
K/ZTq7G2rmahJqlUJbfQ9iTCRjOl/T1w736JQE9/UK7VfwaQ5LxPNhDdrY68i1yOAlREAHcRBQ/Y
zfoLYSYNA/OEbI+906svDFjjuy4rmROvadcfrWlO0N3X5Cskc9qgCXFawn/YnW81sPQb8wIdDeEP
ecd4XeYZZ0JNv1gOondPOfNwyM3O+JLYS41YLl6zW92JHB1JVlXcVl6B6r3CAnufaBZXDU6mIfal
gow3PNNenSPx7QT7vwnhP04IJYfo/94K/T9w5qrurfueEU9cD6/5vRHq/YKPDxw37U7b/LERKn6B
NQBEHIweoGbp0YP4PeLL/kVe4CaMoXUT6J3D4fm3Rqhl/ULDgv8a2o9zGe39qxkhVOofz46AGfkf
Ba1DF0T+Ff1LxWvS4h/EQRYuZh6JrbqtesKHgTIei7iRBCvVAJHraVrecck5VzK/BNe4hjGdSaAG
FNAp7Y19Aqkn6fI3K3CKR5shQ8x0zIbR3gnnJinG7rwQgPdYdhI72jCmhzK2jY+1igDQZE52dE17
A4S4+TQyWiIEj6wLP80mokyQ466fYWkRFk0CkBlEc24+4LvOj+haqlPkWMVusDqkZ311XRPTHXhF
hBQiK5OjMXb4LtKSHbnUbCs0tdg5ws/BvxUV821N2vVOFa53tXREt6Jyn837WRs8LIK5fm0sKb4Q
ECHUcbXVbGnxFDujNuMXw0u9G0PL74wZqSGdlUc0cGTo2gi0qgaJsa83yvpiLWQdTeViB64xVmbQ
lm2PzdYQvpHh5qZbhAysZWq0k4Wu3jGiNVurhcDWpC1DyKHOnxqR2WA/C5HtVDlne6/r4fgQ/BLq
zmIEvWEOH2o3jVAKJdN9T1DhZ2+ZlhfUmdZ9jDdwj9eivbGtbL6XNj8OzJZ0i3R+OKFIbT6V1jCH
iISdrRqLcecQaR4aMUuSyKuCrWrCLZaL4V3zLD9t5RJYnjqBUz8IsF2bAYAgRKq6CjsZXdPPKQ+a
qx0QdeUhmpr1gxjbZtc0o/wSo61D/9in7NRi2tEsjw7UsOUdlOOVSZ+W5UdCOSKNTLRsOGHqyp7j
JfVencYGYwpXC3m7PT2ocWoeSSJOr1fd1q+nTkerO+BX+ADVsbvKBr14ELVQO+RGpudPUP72ci6c
jGrMsu7XxUmv41hQBDkOdgVNuc4ZqjaNgqpv3DDtrPFi7NTvSPFxjnXc2xFZoaL4PAACuImILNjj
ZLROdq+KXalshLyuk740ENqIi1HyHlHUup+TBeGuNlonc5IX6ksd38J36h7JTPYCDMbFodSGg6qi
i+mgku6N2Sjzlfw4+7qJRX4ANaf2WVYgzCwR4W8nkcjbQk0nM5kEtyM9DE3vkbzF/VsyoBjCnkNA
q6ki5w0T2K+ymctDTHXpl0spD3UTCYLblBsuTmU+WyL/TMawigMtFuar41aP9Witz12nFuSclX7P
4MCu0FVBJ4I9iQ2BQQOpKaMhjWACAvSGBy27c+K8QbljWd5nlDrJrhp5UbymxZOb6mUwWnRNkNOW
pyzmIk6WxSh9wD7igrh6cKyuR8AMdZmzMM2CujowzbOPNSqyipN9sNoOZU1aZPk9iNniLKNiby9T
f7SjtTog4EJsRM4TAjHPeu1rLz040Iy2yNkJFO0IT42qOTurThe/rsjDAyvPkmBNcKBSNucvWMDn
J6dShJ1yvAm4oGyxbZLj9UOieqe183aiWXRqWnSRgedtZZ+VuwiHyDXSsALz0/0YReOLRhIEMEfL
uM90uGIV2FiOTpM+kgU/tp+tHnVsJPQQZ4mzQ1E/b8bCGDQG0Zb7QtnUKF/pl0wY0Bw1qKElvl27
Ot9pM4MUkumkE7TjbF+EUrCAYjj+A4da5BT1QKvA88YnigiR+UXuobhEJ8Ay16Wk5zKiOKEE4NBb
RZDZDO0lo9fl+nHMZDgtPMdnBdADr60IPdbSDzmSwUOhI4Vkxt74ZpbXnwowV8SiJt69RFB86Do5
E4EOmuw+7bUcd3oVSLQgbza9lV1GR/9Ox+rcBwqzyM1I/Rq4UbkSj+wW9gb7pPfssWvcrLimP7Su
SElXGj96QFz37IhrgJhzvOliQS03TtlVl9kQtxbNuyoH0d71WdRcZ/rUoOlMC3w7pdpwFIi3hoch
YDUTtZFdY33Ip9Lc2xwNNm3k1ttkzsxfiaAYrifpqTdhNZfNBcPmS1IW6VNvcrT3CRn2tlbmxTtM
CojOl3gKNCNK7gyDIEe8HmR8x838oA/89FUi13BZerXpZtM9uRchG4OeOrm1nGziRqPx4GlCYpfV
h3W3xNZAcNrcH3JvVU/FgEPdUNkGjul6l4+W2KhxxF+19PqKcFqrBO6ueWs39XhjjLF59Iw4/4jy
MQ8n2BqkYbHdpjziJ0D4ZGgaLhzWvGm919y207AkIPKFqLpoz8qUHKLeDBfTlnfrkGmfFaSTowKE
vcVT1d0aaVUcpNBAhsGQui+WyX2KJzfaGnqjPyRjijB/dLBALXjvthbiiZt2IQsNpfNnfR1Y/oe2
X1HgziIml2sywhWwCX1D7SQr3UTnXmEHggR1SWnRaHcNWJzLPNXvL0oK9v4six8HSSFCXB52wqCy
vP6+iZtiXyc80v6sHBqaa9cizSeVuvkCQDI/EDBKIPk8aVcp1j7Os+Ud/a1838vhFX9G7LPWIpN2
Acp+ynv7FZfjmx4NX+iavQKCP1cGiluAhIr3a8pDi/J6AzH30WxidSSH3OF0n5vPeTZVn8lhmT+0
ES8cK1vjVk8XND9HFfMthqNqumbsd6iLsMpeU2ohycWlkNMCS826FxgviMacwRyiVZ4H967pm8V+
IQb1ywAtx0W/MnHhcO2baqthP6ZJqO9gKqp1V6LVvE5VQ+NCsYBSe3kjdLwo3zY5uOujq11a11Nm
YoW08pMRL9VxaFPnVS6y+ciZIc6ICE2Kk5NIo31EfZ9Eu2LNC8RSePNWWhRxL7N3N5k77Uk20Sw3
RgI2Gcc/LtRD46RWWGk6EedeXW1Hu/vQASTz25k4OdjdNOZi8QEp5LS3UwWntexp5NXVvPWgdAU0
go5pK67oTCJA17Va+jltyWccONqeWuSpWpNik9imc2QHAcyopTH2/cII4spYbtD1NDctV/O49ihX
knR6u+D4jq1na+R+acPOqOYFI8Ol3KLbOYBOtdpTmh7yaMsBEi5tHfV7EA6CFpib7jocd8ESifuS
NLMwa7T4sAogw7jwo2Nbmumx1zGqGwWRR9AMrpLIxk8aO83HwbKLAA/BskubMUVnzwwFSzxCI9qm
mykSaiZYIGcji2ibSS7zfkBm5veFSTtdj/QvYkAWHKhcYeNE9WYZ77RTbfdDpw+V030ehMMU8Clq
cDb1AX3oFMDm16PJ/w5x/3CIsyBmMzL776e4h69pzeFbXvfoOv4Ue/72wt+Ocp79i0CactEb/JHO
9bvaUxe/wGKB9sUpDp3H95oW+QtCl0sYkYVo5fuT3EXS4koYdjY6eqbQvOhfSFpM6zIx+26ixtCR
ObbOcc5Go6Az6/xxoubRXcf1AuZbCGO8d6UoN6toMVLyvG8chWNHX0fzTO9l3Lm1wGhFUuIBETRR
pHk9PcKGKRnvIwklDsDds7Yx+ImyrAqqGvCMY1fJJu/jc6ysvch7AKUCxzmS9OdpyO8mU/R+PsUu
vSjmW4ad4Y3qhIcas2IaiVoMT4UozIe+YllWynSC1YrLGzGN3SNLPoBBetshLFxkd/AwFtd6wt/2
xVI9JqNooC2+9OestuWumaTAtZ0N5Rl44XDkENecFidhq5mbEk62tRKDXlTz1TLZDufMmeMDLv2j
aFGj9d1A5F9er3YY83PetLZmzv4E/iYcKfDJgp4b2jiLXi37VW/1ja4u9AbZyCu9ZbEuzLPSDdxj
ILg58OCQiHCiZ7M3+DFj9U2eXDqgUPa2vU7rkxum3riV0eKLzic/nRpYoTjDuVjlaWXYunWkxpE0
y2zWfYKYWQjUdjbjudrPlWXAqOzoabNiPzSSdtK0JM8cIM2nqZT2YaZL9FpxIvWTrvFYkS2cKAoT
iL6hFklxb0NvM/TTyKF8fag4WebDJp1qV/uMeYDmvF8Xg7ZuBxtDjT9UdbcGuqyZ+2miRxPI3rCc
iXJwb7zY07XN5DbWTC9wbKZdaaIJMB057yjSYa2khnBu57Lqz5rT60Q/plqZ9D4GfAsPYJzKKwYY
OmmLoAc2Wr4SPU3PnlUuw4pxo1G0Ky3E4j3H665W7dq213WGdCbBx1W72D98/hD2nwCjbLVWRyeq
ert9rc1IntuVnMYc83adcoz08d202XQf9Xm5q0DSOjFl2TqO0xbkzKUeE6tqL0Gvi7nYTxMVnf6g
wV12IX97WQFl1IzLYTa3lLMuScB+jvRVn68x8i2qoXUYVUNACWZw8lbz/cTOXzIrrBrMW6BOMXhp
8czcXHoX/FPHXpFCBn9Ocpnmobnio/R7u4StZSDwIYKoIVyYvJywbszoXBWJpgJWEo4FWY5XPIKT
XN4QRgTPvlSLfruOkz1uC82ZItSrSV35BpOw44IiaF9XhbZJV8eKg8kdloeWAPDY5xg2f8ip+GHv
NLb1sUmEGRZxGd9eoDC3NgDdTT8qkBSwIacdH0DndA2XF9kzFGTaqvuU8didDbn32ZsbEpUduvGk
EFOvM8/wjPZgZll0SODIHFzlaBPCVQaXlBezDA3N6FeGKpXDJV9z0FiSQ5FvgEDYAJfqz8PoVHeN
q+Kd0wg/MUZ5y/AuRlCr5hOsA4wgbNbrN6XR/zbEf9gQL8IUvAL/fUO8rqv+rfphL/ztNX84H9jw
TOsC0kS5Q8fT+kPfyf6DKcLTkaPoFyONScfxd30ndglQfLrOEYVmIxq6P9qaQvyCFhP8Kkw8dBy2
MP7NZigsOq4/bIb/l70zWY4byaLsr7T1upEGx+hos94EEDNnUuKwgUmUhHlyzPj6PiClTKWqs6qy
17mpMlOKAgMBuD9/795z15arwKpgmrQ8cTP+ou+q4YeidZrja7cGns7httBAk8C293n+s/ngVplZ
7npYN6ihWXkuIyPX/DyJ4i/ghpcKBGxh1L7U6aYfYzhDVMQQWl8Xpi3bokwkwwnexQuSaVT+mCxW
wyB60b+kZjR5QKoz3pB1j56DQhsGc58gafvgMso3jizUw3CazESNl4oO6RYSApNKoBszWHAnu6zR
4Pkke3cbLOQXej/XyQbvLcP+tFzoTczqhakyrgUjzo/WMOkzp2YpvlLc9gxgoJXsPLy0BmkopR2D
sYiTy3zA19rnPeZB1avjUBVpvVFJOd0OjbY30t4IKsN7HMsJ/I6GqBzBPqJxmg9L+jjZLQtSb9YB
ZrSLGK+aOqycJ3TpY0ZQaNBXeUoj0zWV3XHCQ6rOlJPQ+EULs0Vs+Oa5yxwWxU2CPflEJFh70+Im
cc4jmsNX7sh8BsaaQjXCcboccT20GuJVRWbIapBGIzM6QOKVRNG/RXExsjVYeWKRr4xgAYzSzlkk
anyfLhnquUOaMH9pcFNk9dC756Wf0EUsWA6EMKbtiPo3ZTbvRWoyhqNgF/eGM7kKNBmpIWjay+wY
SYIn6oClx3oeTEMgYJmZHDfQI754pVun37xUtN9mgAKjeWWUrV2Ie7cIxc7pEpeDFWZd94mZDKnM
KE6I3Yiy7OSUPaNtpOxhTPh6nx4TyyvpUuSMIeGJbfWkYMQUZ+N1O5NipScJNgukalUwI/LxIQyI
k6R6wc6gLztGsdk+o+mAwWe665we2zKmeyNIPBWXft500UnKzgX9YHK3fQOP9YHm3tBtScihNJx0
RVL00n6qjDp/NbAfmjsPVB1agYZoyk6GkvSCLlUMBFtPnFqTg5hlRvka8Z6Kg1X2LyAlhm6NfrBv
2DwTe0PvNXohpZveU2ohfmBKTE1mlYHL5S5zx6z3YhHTbVl1Yh+PmUyvLRG6DGnl2G8yQ8/OhohQ
C4xGO5DfB89hABdxlaxOjA3yHguWWLqcwFTomyXVZ+CU8Sd+R4jrJNHsEMVeOXHbZ0FvORcwKUgA
nbLwhXEwPgXaTfs6peOSNRmHZeHWH9J2ubJL175dn+zrULR6gNqu3DqNuGT2OGPhRQUkzdreyQRC
CHeg1r9Vgq24Qv/1hLNxOWMTHS+qIcsPbe7QyUmcaJ+mOENCBHibsKnbL8aYtfvaUd59ZDFHRbFo
XMjM/QgE9BrxMJIrLXQu8EvaF3XSaHR/2/HRbqqRlDJihxi/msZzYa/zwn5eKhJNc50JumH1W/Kw
zW+aK+PC77gbu2xJOdZ2+Staf89Hk9aiyAKWT3zE4Fj39Tqg9A00Cq+WnKMHsngiEECZsj93RUXv
zWtJ0lpqOvkyN3yT0mzTELx9JNC0OmWU2b6kcbPFAzrtTFIVDgTHwD4hsltueqIDduBKBQ96T7tf
MLJ+6AA5+CiMsod2am55rKs7acwXRP1gI8KCftDcuJYbaTbuCQYC+SykIBAVz6njxstlchjCqvzi
JroHHwXF3qYudN2BxWNhctbFMXTSu65Q8jiba7IOT/e90CrKeTHOxsGDUuKP3fJB6qkI5smGJuS6
TXKF0ZqVvdfNlyqnr1HEvYZmQVg083THfrZx5wemqJe7avISpAlqfMwglcPgSatLI6/x5g/u9KpN
BJ6Dxei+UeRrPiHvyxbpd7ufLMN8MsqluF5E4l0Pk1xu5tKudiKPuhtDqfoc4gW/d4Vi8t2SfEaU
FuTXbYtw5ZOsexVYxKffpbBJOuLMYtOP0x7rFxFi3wDN6IdyKN1n0+iQBC08WsD7R3xo3TwgG4iA
lJUVK78cFbHlcnAujQbVGG+kubMiThERNFL043Z8qmir3TQ0f4IOyQx31ovnr8msuntikKA5UJrG
QavPeUN91hZM4TAUCjEYR2Cic+/DOvlaFIm5FRMZJ/gcqssJiZSPXlBdLGU13uautu3nzLtsBsNG
zjSjgDiajpZdxrpoAjIM0pe8HYwHSsr60q3lfK+Pop02mhN7d4DEusMgu+lYTWFiwe6xRh+9iX6t
6NQ9Fl7VPEYQ0m7KPg8/1hjJzj2F6iYe5fJBYKOj0qzS/ayGmTQMDpW6UyJu4pij40nqDL07UuYC
fIrAwKHxZaCSWG0ZaIld+o7NKa4hHPAG2UBkEvtImnw5ckjyi2yczxyToOkkShhbjtYm97Ebn6yJ
M4s9IDfDwj3EOC3D5SQS4bwa/PswpcIyuUFSM/pOqnuPqCfag24tbPSSEEAOzVGb7OhKOxduUtcP
oTvAJdBs5VBVh5ilAjlOF3Af1a6tLaRz/3SLyi7p5v9UHDMEpZr96+L45mtZrpvvpzL5c4X8/oPf
K2SX6T5dTZwZ8n1MT4X6vVskdVLePUGXBt0zpfOa8P2jQjZ+448gyVFcE3Vr2pTpPwb/3m8uDR5n
pYPTcF5L2r/TLnoTWP/ULrIkYZ8mfhZcUMz+2Qb+3C6CVtEuRa3PB9stMzAaK/8EjNBayxDq5m0J
EESKyxutit3YOewcnPfV0ZKV0HdLA+HRj5HO0mFou9wGXGuvTdks6gPlvQJ4CK9HxyFmdxbAIZJ+
EnDapS02hda2W9g8FstVTviyZrZC27rLXIMBikPeIEWgzF4TRvVRtbPiWNvEV0Ja8Dm0ZfkQGpqZ
oFMEeac8nRlKDCb0Hm4BDRMsDExwxaS7n4hJZ3KUwRFNNxUOMOSrtZdB2J+wS8blIXGX5KsmRPQ6
Emp0CcbBfQK5mvaBp3nWBXOhMN0Il+4sZS3xPJvejowtOQ32DXGy+XkwvfQ6qeLucsCFuBdhukDm
CcHxVt0wbZFfAzR1o3RYbZasuBOljaYc5iRF4U2M5kJ9M+S2+UEqbrPQwLtvcK7qp9KJ+i2wA+tg
MIvYGh533koscRphZt50GqE8nbMUtwwMK8BVUl3HIW46qEWUM7bLoSWVS+hnY4wLlUYh9GdZXJau
iAjCch1qCZXVDJlKW38Urttd9JX11CKivxdtW8q9pEmWM0CE17ApiKzZr0KCj1OeGbu0NyUT74jW
3rCE4SVoiySYTT3zC3CNl7aNyMN1KpluHSe0TyYbG3AQTjhWIe7c4QZyKDqB0Wr2VBs3Vt+vrLjK
MBFStP2zmOvogyrM6RoFCHzwwtmSxkeiZZGxd8XI0kGy5yfwKeGFV6flra131mVmGY/JuOYXVnoG
+7GfdyUYtvuZkdLW0eziMDKH1iuBCjZL07uwb/TrXmvdIJysERxPtc9SU24LCwtq3OtVgNu6oEPP
6OCQohikN1Zk37xxfAVPo+0q4NUwXbpc3PGQo/2fpuaIRZeZaO6x+Ul7pPowwH+W9m3F0waT0zuj
+iV7XDZOoMXt01JQJS+Tq+1ifBuc8iS/ZRsTs9EDkBM9cFI8zdoTyP7oWOdxc2fnNUNczs8nV7ZN
AHGQaZWA8JfD9rkyh4bnhseWsEoHwGQN95lmHkiXNdw289Gw2VuAA1iLxm6dYiYMGfaOVcyR+CDR
wSQ7ivvRxPUsiPUElYqnL5ZY1CdKWZ/pq+zvDSOzx3sbM6/NcLLJYvERknWUbnU7Tc6O0t3bTsZh
/DhZS9FtIH3n5q70mCNtIATOXH8g4EjOxqOHmJZAlRRQsK8gga+e9UqznybPLNPjWDHFhfexpHya
VF8s4FyVpob7IUms8R4GSY8wMYq01LxCqT+kzzDs1FIGwP5KGpqxvXLZa2bJwdASrhXwmEXRM56J
CAlfLBK+H60qeDzHaqa3BX4HVa1IJj6+HCHgB3laSrklkaDLogNkdeu5r8qxe3UzT2RMEgXWzWGT
r2AeGHKmPWFkzjr6oiUM5SN4bVsrN7QZu/ChzHoCMvTGNDh8dcoIebHE9G5v+qeN9Z92aqQmbJ1/
vVNfJi2bp0p+numQDrb+0B/yPCzF32c2Biq771u0Z//muoSLsXnzhz82Zx3BHlulvqY0G/C3+Hd+
bM70vHDU6bBjyLRZJz1/Z3MmyeSX9pXnuoaAEfIGCSHzdnV8vX66S8qo/T//U/wvxfikwdQfnxba
zgRt5ZHDdAOMhDHDWLCGZx3pNrxZu7pL6rm8WkZGoI0sdOGXXp9uBQel+7TLFpYJY8quY9nRFne0
MkXvrfacZcxTBwBuUwxMlwNbTozsgWCtIU3Z6O7m2I7PQz5WF3oE+35TGflFzQnuxq3WLQAm/D6k
vbG3spwSmFjZMOC87cAmjNUxw3Z92bcMVBasF1iEesblmwKm/NklR+8lKwiFCCaG074Z9wP8VKTm
QwkktWos1rAVsXfs9c9ZtlSf2Bfl5ZKZmKrUJLstfyEiNMKZQEWQADiGE017Ojbw/CEZ6EfBePeQ
KUN7HSvVfHNrTl0mL/SR2Yr6Gk1G2EDpqOlEQRDYd6ap7qzWGk9pxpH/zetV+CZqEV5jZhX26s/K
axN0JyTfq0gvo3NbL9oru7Si1VVXxhVEx/JI3OfTQGP8TmkM77EIuB/iuuvuIYYgl8m1RX1GBB49
KYJcPWSW+JIcJyK0AoGMtQkjACcNX9rGQM99jG0vc32igNWnZqZw8A1rfKSWNLjJZf45T7ru4C1J
txNWkrwunBUuMPBca0tknzLVQZsPl+Vch/nALu+2O3eSqyeFVRi680zrkO8zyp6QMDKK4y71/GuU
ZTujhZsGvz5EX184fFBo2UBEwh6AjE07AhrjfmrC/AHYQ/yYkbuZ4RKqTQPpGUjCwrE5XGuhjZAl
NkyOxgnP3rFRVn/ZW3SZ/L5CpbCZBVTUmKoL0hyWGX9syzjIFzIZN/gzx29JaoBYqiezxDmUtwvt
mri8SRwWWquZ3YtIVUtgI73egAgsLutOSy8oCgUOg2K0NPpPMz0bu6qjjyHKQiyBfWR9brDz1Jus
tqFw5pyGq1ovDku9YI8aXGI2KoZ0JPzY3i0Cq5jhibat42Lw43kIHEX3CcTna+ma2VFXuD7GFFId
O0w/760yns4LCqZ2l3pdSWBwGj5phRPhAW041G5pF4ovzai3PdvC2N8Ny1iF22HOxHOHVLVE7dD0
2BDK5kUR9eN79Sg+YeBhfxzmDujk6ObyYJnZiFhUetUhMWbIOZRKPDpdDBmwxzb30Rz0+Mwh1frc
Ow24XWHx0PqkOeaHOirlS+rqLhrdadaPk5d5D2yYFbKe1GXqaKHQxRsA63En47L4ZEex90El1mcN
z0Hg1Mq8FGxlX22Gi2TO0assV3h0+ZRGfUt/XaVAYVDjqme6jSDbZjetAaFVZBpoQ18wSLS9i9gA
C1x36la05AShceV9VjpQwFkqC89AvfiF4SKeGRhWQ4tNcPB5/XYZu+aUVQIcud6uY+M4ldwHBLHo
31jRlDm7vubV+h4SZnJnDJq9rxKSzQLN60JrS9dGfzaymN6IxWI6GHo9+x5E/XSPdj9HJGk2V9gg
OHJ7ldndKc7W3Fi3SBmZpYj3Oc2bI4tZ2B9D5rL4hTTyDgd3rtXB0mR7AItO4Wbrc3tttUp7rQis
QLcs0uFmbmaNxWWJSevVUsDoGIeHnSbj5sUZZ2Im8nh8JtxDXJptEhbbbmzlTPtkVqHvAfK9jmcv
BMts1JiO4pEJm6GNhi/0mjNPW9Me9cazclTiF3kGnq50TxZQIhS9ZX7rxW0eUO6Fx5TRPEo5Sm+o
jQ9Rafd7BFVYU0zEApiFE2wRWobLEcKRQ6djWvDUDgzOB+E0QUUmCLT9eDA2uU67diJHbejPVt44
ZedbaqyTx0WL8vIwuxZE7ieJmIC0lliZouue+n6G3R4SdLkhmty5FukY7uAtqzunyPU7TGIRCQLA
CF2ZLUeMMB8Z8Jd3DfL3u16gcKMPnoYfR+WUT0wyJRJrtxwRC0fZRzQ0BovUyGtFbxZHWT8VNxB7
CZIjIdfvksxidl20fjUsxOLYihgIwW6HBHdOrnoDqHAj3QY2e1sUV4B2+XWdTNtBJ2JC0OaMYkfC
JBFsq9a5aAS//kK3iMMO7eeNWrrw3pLKgVuVjQ+wGyXtMcAFX81Fm68B6fdQc7SmuphhHKKMquv7
hWf8GPHBX2nyLsdxVvYeX1u/m0ggfcnwkVX+0mjLIRL5vEutmZ636Ppt04U9Agyb9agnluRMy889
xkkMW2lMb5q8V5Tl8L5DQBUWi2wW3o1LeKyc1MC9VAGHLRcLiZbsq5tocYnw5n4+qGoSxO0u6sBy
4e7TRmnXWcbIivHSaN/mHoYbdNXJIZk0zNCqmWquo3fzaV7c+RY56bj3Zs87DqJvPxKggQ5PAOPl
fQIQj4Jdbcza9Qq+omhIAKTPekA+NE2v3vSa23GliqIKRxMtIXxsYzvR4dbn1nWfFSEmV286tpmb
JJvaGK9KT77qVeK9ihbmJhNmu3lKEJm96By3j22l1fvSjDUJsZulhscvZpO2ctP2yQhzd8mQZjeh
RwlSu+4Y9BzBnq2+da8NoObbLl4XTWis2JiXcbSXrVKGUd2Xs/eUIHhnxY5lXJ+R+/XC10vMdYDa
R+85Ycp1T8enbW7gwSbtAeNGQ5KsQ9QYaQCi0S8MZkLsY54odcjcKNlqfyk97nxlLMzom4i0IVPO
u1klt+ky5XKLp7FKzx2RZMWh77T4ya5JLf9kOLzYPv1v1IVqXBRSw+xdeCgEgVfdvnoXJfKgGkgU
obWtgkUaj88Uu0gAMq18TYfJ+Oh1vfsgVrFjg+qxWeWPxSqExNhc+24/FL6LStJBLcmy981CPZl2
zrO7yinNN2Ul0iJOv6gtXZT7B5ylOV3PfDtahXbBV2IAYEOmWWZd881cbLrsXd2sxvTGlKv2NskP
qpq7W9MecZL2vRUjlVXg+h+k0yuM08ZyGzOaQmH4Lhz9p7v533Q3EYcZdCL/+sx0/lc/0/uP/FDB
Wb8hgCNJV0dBZnmGoEP5uwrO+I3DP941Bu7wBldRwO9Hp5+PSvDPkZW96QfE35z088/+elQyPVPn
QIYwj3kZNJw/H5WasJN5Gk3OmXm9FP7aQB0Dh6kPSqu+1epVPmbwDEMJQ30eXlXljKhK2bqmvGCB
gS7uc2YtWnFqoUyraastk7JQToe9IKzBhFiA1iVf6isybDkv7go10Cy66vTVYczYHgyxz7ja6SK0
ZXnhXAxW074iuC94i3mfc8vz5l3LOw6nd77X5LIIAOnrGtC8Lwi06dJlT7nf6hclSV22n2Jqp+n1
tprkjeybm3RdZBS0lueWUjn2qUFZhZQa0vrsgMYLEax7T3QHrYpLzM6ynd5WMlY6VjVzXeDsdalj
r3Cfm3X509aFMIGgfbPYnbur+tlmgrGumEQTsXpWbytpty6q2VLkx3RdaJ11yeWcwOpLw9h7rViR
82kFAuAy3mD0mI/8T3g59I55nayLubcu6926wE9vaz2N0+YWbCQ7gP62GbztC9bbHoFpX23yt51j
XDeRUluKm37dWKa4wC2k5nG/rNuO1xozblx2KwatGCE3YaglhzhPky88BfZt+raDDZWhXccFTU2m
k+rQrlvdGHblQ7xuf8u6EVbrljiQ6Fn5Fuq9S8sejEftbQd11s20smhoe3XOJuu67nFYN978bQ9O
+nXsapT9lvgPgum0kEnoaC4HnFrs4HixlxeNHDBGxrm2R96+HK3YwMi2bv9xKygE1pKgX4uD6q1O
sNaSYeoXZxBiNw1WZzDp+fH/XWZYQ3yp2UZd9z7eGhfBfDN4VqlOaY2xujwVOFPyKsBJ3qTezlDa
ndTECoEmgQit9xbUpdBf/1lH/5t1lKRUA4HtX6+jjzNd4jL6ufX0/Wd+llDZUKFQKhm6gAf/x0Iq
BAspY6M/NMM/1lEb9ycLJ0hN8G6E+f6koNJ/A/bGPIf+E8WMpDv1N+ZDv66qgIuAcJkezTKLZf6t
QfVTA4rlkiN/2IxXffEl4hAR559/uhs374Omn7Fxqxr5p/ETfJA/X+AXZpGazLyoJy4gUxz1Et2r
9ykZrhKP7syXf38pmzv552tB3FrHbCagXjyuv6KmZmQ/uQ0/5TK1c6BMzDU05NWUp540ssZ+adMp
kq9xFUJ+3qPab7XFr3LSJMsT1tkmKr5U7yLSiDIFeO8+VJG+x3PSf00goSTFRf8uWNJX8VL+LmSS
CFPODmP78GGGrQr5yz61XSpu0qZiqZxxMnF2MlaxlHzTTRmDo3HAH1kgOwZxRRNn941nRIPyHasE
ShTwS9BZT2jxY0DqjZOC4vNhnnLwA4zI66sBQN2Wjl5uFmcX6W5gT85yJQlZGV9oS1EqahHVNuuc
wt9gW+Y1JX+9nNPOi7X7kYQpq9yaQ8Sco0ZGknZTuPZKknb/z6Lx3ywaKP15zP96zeChqtSnL9XP
i8b7z/y+ZlBhgc2EX7lqGxkv/7FmrCxq4JiOLeDNYSZiZfixaLCa8PATY83UmfTztc/9R9/a8wTu
BAcLusni4f2tReNXCwKoT6bdrEKSywF2+6VtrWNX0kNt0c6wY9c9CPyenPsn9X2bet+0Mo71Ma2X
Fr6CfWF6eUEaboG9zkXwWM3MlE5rLEhmXpbfX1MiRqL1tZVvz2L//mBmkvIiubCjcaCLufCnYX9g
0+VaH3Qbj/ACUrln3htfiAHRFByaUboaa42Gr2/AfFOcSGc2yak0xzyhy4OVkz5RqcLOr5yOqLb7
tIG9a26lFY3uLR6pPvauk6Tbjp1ngW4C66Oh8O9L4kM5frN9I2qhTvOJk21kvfnnrflv3hpkxiue
8a9fm6uK/OL/8a/2ne8/+OPgAlMBYw6iWwcYF3C+nw8uqJmp3YEt/E6r/fHuvEmWgdSx26JMZl/9
/d2xcPaY2Opcfux9HvS33h2X6/+0S/HS8rDxthtMfmxp8Xb/+SBjQUJvnck1LhYOWXggElDgXYgs
V8fB3V5qneVt68IF/TFIG3cubqPlWTNyh0NPIg5k1WkXIe/9dm60YhfN+J3damkvq6g80IjrT5DH
3ADAk3Ou+lK7J26v9qsy0s5dIleJbeHcE5A2ER5IFxu/ZoqsgXS4DREsje8gfwWgtYidQcOgZD4e
mnSLMDjwe6OysiMcQ/GlYxbqZHh02uMmvB2X5nqCAgSlHvAdU5cD3QUT0KYkvDZ3TkSFBGGfEXsc
NV96m4NbTy0LKV2lvjLL+ZKNlmlPpwfko7/GmgORJ2+1La4kAm70ZdnzogFejYw90cXlozcP6bat
USUsubXNJ3WtMqgy5FJ2n5TRmbvcLSReHvq2ZuFw/QKNInfKCrpSeoe57ZM7l7NAUAixHPB/egRW
kE0ywtA5IIO9VrNHbnSbLduiSQSCDXBAll6baMtsM4gSVJ0jSw72/Lw9ZYl7GQuPib5Z3Hk6y1zH
yMwr+gNyZhjuOQl0wL4U4tyVXx7qew1NrW/H80e7G2Z/QOm6RWJIlB7yxSCfiX1XtuZsc9l/LlqE
idNUnMg4Sc4g0gAzIG2uFnenJXm9s5lKBYzktE0CfXPT2M7BC71TNzPWkhm6m2QJtY+zmRAbjGwc
vSHqSxPEwc6wwDlpAyc5A/HMA4385dgKOWD1HumqTsJmUKTNQTvpVlAi+9nYEudvD6+n4fi59UT6
Uk+APRsNNWYZFr5h48fv6TdvzDzax2YPdaph7JhjVcnS5qFqnY9yWi5SYyTRBn3qTisT/Opgw/Zu
XcCHT1/SprP2aRUq2rFjudW9VDs1hveVQ1Ma4COC7JSKhxy1oAM6i+ZTREZxWu36iPaSEYU5sYiQ
/EiP57COaVl09rExUvEyW4vw4cqdJy37jI1+2k5gueBNpEijyqjwl6WU0P15FpKS6Ek3qq1DvHD4
s0A8+Dr0/SATipQCEsAyF3kRusIBXctMFA6BNNsKBurOIcZqF5rpB2U40WWpx8XOlJ8jr9VPE/5S
364d7YESlUZ178RW4OZJckfyh/RLFBfIf+N5zyhTPejlhMLJ9bK7xZVWQC7sZUuXcIcofCSDKXZ2
CyyowGZWvaWXEG06Q9MZninOfzhvCOWWYOOITAjQySONclPnKAyGDUkkByRH0bHjCHwmPb4PNJQY
H3riJnc9CNvAsFLXdyJvDOyxaLA3VAQk2qn+gZGrvuk02iXFAOepi3ECe/1CdPuSlfeZZs43Yd3r
J9G1IwHjDoYEEBJZvHVqOQZTV9Bnyctsa85ttuNX7S8gk5r8Re2CxOl8X2UOsY3Z52Qg+pFZbn4c
GkxNvRy0wF24n/XS2geX4z/zDP3bRKw4It7KPtX0/Dep091TpB/JyXMIT2fISuvyzgkJVx51c83f
ZSi0AHoILNiRG6PxXhFO3yWo/UPR3+REVqxhzmKPoe1rYS3zjjyJs+pcApH5+61bkmc70+tmZrFz
I035BVDfYA4JvFgJD8zhkk9Nhbo4kss9eqfp4IJMg9ZANYJHq/ORFMxbI6mY0ZaYFvTIUZf0lXZ9
YXzymlWXkqQmvebWvg+NOKIVARN5xvPMq4bCuPk6EKUA+ZN2gq3WuOoclwDKfRRouTEAGcByQIJk
HYxeIQ+xiWw9N14cB1hKZKVHiA4f5diiiMb+AHTQdJi+J+UDYIlHIAJjUNfuV2ZPyG3DpPPHKH8w
RH92rY6sU2mckkoVVG5VfpkzvCt1dZPHYRmg7IF32TTflCIuKqFi2thLX+0tYv6C0J4hx41dfjHn
ZCFZE1QK20QGjvgGn1/84s3Se5it+VDlpTgvTkoarTE3O7p9YNUkVyyX5aEhqO2mRSGbCjahiR4M
HlT8PpmI8p3qbbL2Cvu+zoo4cLomOc8NuWUKYx0DDg1jQ89AK2Z7iYvGec6z6WkMe4hes/ul6gk8
jqM83vVGN+6ncoJNW4a27xaDd93lw40eQexCsLD+4uNljSnQ7+jO+AU6hnTBFA4+bGrgZrKg5UcR
a489sjV8bNMXExcBa2HfH+WwKNYaQi9IenYOrL/JKR7A45AQVmK31Gy/Z8hN6WtgIlpMewdnz9yh
PGeCZdViH7np40hG0XHR5MPctecWDATRD9E3UyOwHv5guNOAHmys2hE7u3LllmAt/SRr3WBSzk6+
sKrumCBWwSgJZywhfmBO/WAlXUhWODYYQgcPgBYSq0Yn3chq/NiFA6mmCJqxjRL4y9NXyOvQVt5I
UHAMapaXrEoLuzUPjVEl+HLc2jHCD2Y/rihQXEWqRbZhtxWrN7Cjd/dmuTo5QW+6q6vz3eOp3h2f
5Get/s/yux20fHeH/lNe/zflNeqi1aL31+X1x68K+Wb386H0+898r6xd8Zvl0qoiAVq8C5p/P5W6
5m+WCU8Eueq7xZ0r/ais11aWDYTccDmx/uqMdw0P/qiFAEpQ7bp/q7L+U11tG57N7I2JBd0fznOW
vra6fmploTvsl6SS9kFKkkaLOJabNGrM99PZ6/S/o6+0gfM5qsqf+1nr0fanfpZFqAOjAocq3STt
wvxVsRX2A+3iitx0WtulQI3rYWaZwuoFmNp0UziuecwXzIJBBcL4+afv4/9x7fX7+peLc7SROpI1
NLvOLx8xdvJ8MjMq2MjyKhzlqh2DYRJc19azu5RR4qfIK2oPPDA8D8gtyddJwzK8dRRMtFyRYTj3
abLvBpn7ZqM1p351lbUyBQqZ5qx63axA3cANQtjlhnck1YzB/8eH4Fzm4YrmkIZF9M/fk66sGor3
4h2aZTKIM6yWXaEV1jFxx/lDg9LTD0UGNE0rAD8KfaqfRw/8kV1FDC46wPk3DkzEm6qVcqMPS7L3
IO7uBpnlyF2GbCfJwH4okn4F/S5dSqZm+Z+yMH6R7b09BNJ1CO4iHsKlrfvnj9DSTehnd/QOCbjK
QCHRpn+v5r0LyODf3621Pfrr40bqBV0WuaIDf00UsAcsOLXgSgNnB0SqRD90jmxOqjObW7JA/1P6
xfoE/Xo9qPYIyXnEDe/Xw6khWuIFtZzrRYm6ZUWBPtVHfy/Rgs/i0J+i7Uz3ilme+WvKhMe8Xeaj
Jg/KGBMgFem32vSSQ9bKh39/+96iDn75PLZBr9zlxTP/dVFI8T55K0npYKBDOS5uixGdYfN+nvni
5sJUK6QXtX5VddndPNhkJOROFlipCO9i6FvnwrabWzUTaQ5GnRFhDUMbSqBgABTldXiibIEVw7P5
YYjcksPZoiNNi1Jm9rByuQgnJAO5OLG2rQFWZ3SW5PDvPyT8tV+/NYwkNKhQ/bsSAqW9NuF/WvpC
I8xB/qjpMKYmWs8IJ5gbhe1Rw2e2q7J2pa5X3ybkcIGdEbPOw5se8mKttUTd7bJaUeFlycgQnqh4
xD76ozCy5Mr2ZuvFHYsCd6KzVWI07gXhAQSoj7B7lINEEBenh8gvKTmcxdMHAhWNoIySeZ8B68La
/8JyloHosu3rqDfsw5AQMsDuEh+KOoQQGznJQSNJzq/spNjGIIn3rVnJB2Jk0mMK2zEoRROTghmF
rzFsFb/AZnG06mW4romFR+a1uNYFkvt8P4SOva0HAtAdi9mZ0ztVDjcxqtCJVtnHrl2dskBKymLW
ruGDzV9m0j0pueJuS+fA3NuhlbacI2KDUOYaDb+7WGRfmfpD3bfFIx2D7Fst4oriU/dmtGWYb2ka
IHbcVGgDn6DrAUorDJJxPI9B6pxOF0vjOdcAzWXQyaTEMFck43UPHOUzVQ4RdU271ZBfImrNvmqZ
Ji81wA6BFSUgKlx1KgrcLbR+mi1NiuM0aCUZtnW4MYiz7jaRYnqscTDBH3Ox3s8AgzYWbk9i0akY
MojCfCb/CC8vyPBjlBXFhRXW8wcth/vMf9WXKwB1tDhJCzW2OvuLnxajuSenWx7hppmfVOi0Nyn3
qTwS6YYLyG3Nh8zalWQ0/1/2zmQ5biTLov/Se7RhHha9CSBGzoNIShsYJZGYZ7gDjq/vA2ZatUSp
RMta96LSUpUiEYHB8fy9e8/d9rIEytdZ1jOYwmZXoFmLrHamjiXYuv9EBoYIGxytXJoZ8RbipMOk
xC5NrRszrsSWtU0eR3jXGwUDD7Ffan63eq557xrtjerLiyzG2a5NskDeVopIxKCXUuBTYa8DNzOB
hesJIr48mJO7Ok8uAId+IQRVP6TjqN/GBsLovHcf2RU9m9BLoqknZ1jLXeIdnNjfWX1vnHuzmE41
yK0N2jHy+3QowgJoFAwLPd4ge0lZosQUGlUNtTpviCf1k2BfDDMKHc2PP2ttqvgwM2pXs7DDtLAA
s/d6x8aQl5EX8Rpiv5v4UFLzKcsikbjmvh9WctrSNOcjM5uwnx31nAO5vBHZ4AELUQAPNrqZt1cL
rhKWqcGAfgNSFJzzXB4Mi5m71/C4uBq9HpgonUlHYGtOUHlSD5UN0oM4nPWcSHJpJ085m9zvrjeo
J0v206nyfXksZECXkUbHea8z/u9IKggdEveOwuD50lTRbkSpgNqxMfYGA8Bq4C04ODsYjxXSdHZi
y/zJlvjyLd0kGLdI2q1dNnaYKwHu0hLZHl1hfZ7NGOVrgM7sH/ljXgt2qRmCphNyziJyESXsNZeY
yG7Qi12cS/Uqx35qLnUFgCxuKQoWsPubvoGMB8QRfGfCm8NYYh8ptWi3upzMLd+4P3kucJ6pR3lu
pkzmllEfHpdgsq9MHtRLQK+diIp4dJFIt418MXI2vqjKlwMZEP23lHDzHSA37yHF83GOrJokDJ36
goiNFMHcRHUiKfkw2+obeiQ5nw7KPNg7xrlbvMTFbZnY3VOeWwVxAcsUZRp1oeaA2ywLg+gRuyt2
bRKIhwYVybEjUeH7oqU6G2KbtQdd8KZrKb/csolPS2DzuZTVXlqECpw89Jt7aJ6eEdL7LiICENpt
0Eu+OT3Zq7X1GDnCMpEQooG06S5fLV4LBbywF37GDMrhMXHddatp8UkKESCllSNfSXPXDhLsnGSd
BzpbOE3OlcHCgHwN3DZs/uVAGmMZBp6IT9QqTtjGbkCHuuxPElEYvc9UvVIDy4dM9qzrjdmdctyV
5YbaxtwbetXt41pzkLo12q3iAGmksQPdLLFHUoaDE+HLxNYy2cRuOt7qXsu/4TK87XWzi3ovNZ50
32HXSyvEk12D9t5cJjqRunXmzPoeihGoHixsl9Lq7F278jyqAjuOLPN011hxum1qcU8ak4lBfMw2
TjE5W+wT131cB3JTpGjz+1aqdM/p94pvve136Xk/VJ3kboZ3Mc61gOdT9XrUW3TSzoO4wqFkzyCF
N6gE7fRyJie6Wo5vr/f/t/18YPvBYbOWn/9+w8oz12fff/Lm/v0zf29YMeDyK9hkkJ5mr6PS/xuj
+t5/M4JxeQ+jk0Nf8YP9x2KMqoNeeRv64AH6IZ3QRBTHtIkyXAfntu6B/8mG9f1Wko00s3eSAp2/
99Q/V23JNOuL3zaCbqygZw3VFXo1oUHBuY1mFjWa09fnhSuorYJU+h/sw97tYegG2BBzGD/ptFRc
Cu6fj951yRLwuhv3Ex2wraewYRqZWYINzqoPCtTfHoqQYspw2mTIBn8+FMAOlE6VM+5tgwWsNA0G
BAMIV8KRu//gW9GeCKzVP+1iQPr5UOBGilbZNphOOmxgSnlb9eNYhOPsib+ey3/bCfh5jue8nUAa
JLrN7owx+PutGSJcUZQOJzDIYlZCZd7goHVfZwlwro4B6TW0Hhk248vU7eYv1/6/Pfi7fdrfB6fl
st7FcJnefc8RXnMMMm8kJ9wGz5DP6bZG9f+PkgfXr8j8wGBT4QO1J1nn3VGGxLcG2cVi3we2y/wK
+g1v8Lnz5DZvK4JZfnh8f9PfeKcVejscW+rVE29ym7xJQH/YxpCDbFopEvh9olxU3UX/AkbqlSgb
6B5ldUYr/+9Z+z84jXSmkF2yJTVsQ38vKgXAk0/kPIgVaEwELY5oLlbQbP/8vd5t4t++l0nHg5R6
kkH/cgH+8L0gghqkABVib2USz4emnSdrWC+ZIdRnlfNBh+p3Z/HHo727aK6tJ13ilGK/NkI2cZMx
aqPwamHMbRp8avjCi69//oKrtPjHtsHbN0QUskpzEcwhJP75sVNp4frTxGPHZtq+gspePiS6iI9u
swBIRatOdDHOcOWHSP6Jzhp1/9Q61kHg8dpLEcgtFD5ws5PXfptnSzsq2hMbMx67u6VXGyAAULGK
bvlgYXrLY/2hPbB+bkunb7nSPuF5vr/j/IFKvBl5jLIJOOHG1qYCVvbsyK2mWTrp1wbh0nTCI4uz
tzVhH3/RF29Gq+q3lyS5WSFhJ8EV0enJB8+C8+sTzkdjfV6fcIf/rf/9h5smD+hDLE454hlJ14Gf
EyHancPOd8ctIuPhE5SgPNQnLJHs+uAkznXen5MByF6J1D96FOiBC3tgEqFqfQPchhl87esEiiTq
jL14f2m6i3ZcCqDmgI0JG/AcpMpjTybblGkPNAkZ+lsZKTzIx3aWZSL8tXp/K5r5NDJJRQtbinCM
nYDYAucstYtPYvIHLFYKh6W1FDvUCFk0aeNVw77h0MFi2ChsGps5LsnESZX+qPUdxtCazAcmRa+F
sm5Hf2QzA2/+QI0+XvGb692f79ZfHxDqUwoDnno7cHHg/nxm5yFxhEMNiPIivdSgKIWo+444w+/F
ErdbISrjHz+SHJH2NmQ2ejSsNz8fMehn6QdLMe77OD4aA9N+eBRBzbbLqkEWB+7Tn7/hry9cf5WV
Eu21Bp+i1P/5eEMSSLIhxbinAm83JnOmIz0hBE4oqz944f56m9KYNGmB0nfSSXh8d5smwpH5JBve
gr50zhqtM47NxOD/z1/ot0dBuUOZYkFLeX/JKtRm1ThxAjW310Gssik/4Jv2r/98GOPXdYxv45O7
QrWIUvdNYfrDQ1dk5GC6LUlB82w0EcT5fEd6aRIxKWtIThs8SgpufB3s5qn3H3sz2Td28VFDz7C4
Pj8vS/R6Uf4xFUHPSq/05+vXdWB7M+kNzEtLbzt1QbmLp3zc2RMSntCyF/sIETvY9nrzUjaTd1uM
OaNER5cX1bJYJ6do4g+uwMrG+fUzMV0hhRmOMezGnz8TJDNNi1Nr2NeJqPHGOttAx2yxEKZxGQ/0
21KSwj6XZJnRZUPgTkSfCt1MN6PAr5EG1eVLCcnisvBnLJbTFxD1ZtiRAnynaoHta8ycA25UOjGq
vCTx4qPi4vdfABwPMBz4zbq1Xvsfrm1s9EGlmH/v0XPcJj30XTHZyaeUVSxsOy+P4sHQmbm7I2+s
vjqpdHn2M+9+6N3gKNqYZorfy5UuFdwgv2nuiTR8WZy4Plk+wLmpTRSYxJwOWD4ylM5I0Pvg7nzX
5uVtxW3xwzd4t4wwRecDN2rYK6gtJzJE69PozDSVNLx2Wc8ij3V3k+f60WqYnUCLqj64C6zf3gUB
7WaHhxHo0bvH3VesJQqDCWb+dFy7Q77zlbLq2gOhtSkD/XtTyvkR6Vv6bejDUciEOC1zzdpMazpN
eM91dGI9svfNlBkTFGZTtGHKAfFu5Gt7LTFeVG0YLJXeHS7sraPnTeRqwWPrk+xpSEc/1xyjPNA5
e/akfucqDpTYhgjbKRicD875r6WbT/g2biQqBDin7+chjul7RZyzIHR5+Vgjk5Z0fLSFmJRmIZDv
zxf4N8s26kMEtdT1/OL3s8WhBIHYs+jQgahfg8yPeWsTVmTPy0dJyeuO690Cw5HQDwe27a5j25+f
hS5OBNhKhzupT+5pSyWPebmsSlfFbsJRBXk5uqv5p9g10g9uod+8fddQ6rd5DHvz99phANEQ5nJ9
DWNTnzF1Xc9edwu+5pVUxK9sed3ozyf1rfb85bsyHsYpwYbbfb+mB1Ib5izjlmUbXt8Ki7pHoXJS
dSpDSy4velzdoz6ao0S1FDe2T877kPSRTrXy54/y25sJ7TZvFibU6Ex/PuuMJKWTSp7fyccwr7eo
aGxIOhuN+RFywI9mh795aeI5QT3OnBJF6/sV2w3yYqVbc5FVP++T1ojDRfjpB3vE355fZk82dxKn
d+WV/bSu5gMTFghBw549ch/6cgaXUOdB6MYERE0DDPRE2ojMVIdrNGZiSTeg3DLKgKUAdejPp/jX
TTmzRXaFbMrJj8R28/OHYbrgEPkAftOSo75NEy/ZDf1yoSSEhKQytLAdqnqfekw/GvL3PniAjd89
wVRDnGzqdmQN7w4/kuZuWiij9vTp06+t169CUazoV0NmONVmchvXDRvBLwA0EjBTlG4HVA3ROy76
qvNW0IampguZWoAGzHHE++cktIj/fJZ+8zF95He4GHWPOsd49/jjnM6UU7vdnrzVfifsRW7toQvQ
rTrZB6fkN4cisMBGPI3rwEfx+/MFQeg6tF3vdftxiatXG4TDzVKnUBM0V/8PvhY1qIP1YW2p/bKq
teT6jq0P+4BsuP4Gz5O7a5QXn+X9mgfxr0bj9V+rx48qkN8sYhyJtgglokdT6909j880yRvBkdAh
JhFWw/YOgrq55e0G/3yuoEY3qfpg+fjtqWR/bbu4e2GAvbtqkIBrDDxOtwcQL8PKmUHo5BViQp0p
/Z+/3xvY+/0bgkpDR1CDy8Nixfr5uvmF3YhkMbhFbCZZO4SPYx9mqT2BZKniugyxwJuRS01ehp0l
J23HzlHMW7z2VkU0msPDlZFfHRxjIIsPJqFzKbLHwhdRWwIKI0ClS5+xfGsXheU7wy5Jy4QZISrn
lCQhekThipgj9ko6k7GDH2CB39TSYA+r1IO6ChAt3yTgye5dwXA/Ku3ZAV1nVLO7JbouNZ8CvG3V
C1gEG+9Vyw4mPZsRyMdRnxV9+mkoIfseUR0Gzj7NjAr9uN4ap2qZZ20P5UgOl05VC//CHoWKb1zM
ZfWOP2vTrmKMWADntYOijmoinJML32NWFK0i2nwHkq68kxqJvqe+1pqD0RfMiVXSQ+QJ0uyhGlzL
3szCbnLm9FMCf1w06HlUka1Z4oCe+vNcsp0kzxdGTLkfhgmm4SxBAkeNBEV9BsYn1uk7VK0ZtZWz
FlcZIZLPHmlt6PfjcQ4X3276u9bJwD0wayLcfgIteldndj9uFWo/71ZvKuR5QslEHCliZxAZIKN2
NslGDDaYg5CGPeQBaEBeUVsINrT/dM0kXaAbHP9TnnZlOJdVY4WDnUpSxtvWOVS+uKHPuxPSaR/j
1iyfSs3Xb8fanTZxRXqypvJya3XBFbNFIH7Dbk69+jb2aKLaKREYC3od0y7gtwUFBgchT5ZUU2gS
PpYXqM8dAV9N5LO1qyzruw1+cCsZNfMZSOd2SW3bBnbm7iERNRsq5mWT1wE4J6J7vnojsyZbqByy
iHxeOhdBgjWTZ0y8kJOVDytq2CX07toJqh5hOuBWXENLiE7WOPOrMr2wJq4HuwVgFln8MKPU3Dua
AegYmB068fgIXKsI57wQFBVQbEreEqi3veWGII4j4naMfYty+EdxVdBdmie7B7Q8m9GiF912RuO9
ydOY7HGPNL3JSqOMK3sN+vG20tJ5a0x+uluWngQ1bRSkg8MBXChdb2PkKF9qf7WWpx7pfyMQwlkf
+1dX6+pQI/Uh8mlYo1FqnGMP72PjkWhytPQMVL1CLkqT4mQS7Z05rbErHPVU6aJ7qrP44Dn2XSbU
kzPHaFX1gEadiJ8qV0t6nsDKP8JeJzRK6yCBORqp8H58GmIri9yk8bc6TGOuQ4c0NQfWB7e9vc16
TV53Se/fDnBcNpM1nI8KNHg5A4JQWv0ydFN78K0RHgm8lkNd+fLVHkbyYrIJnlFUyGxc4EkwTV4s
tuam3gPuwKk+3hMiki4bk5vnsYLuNkdexz6ClymLBBSjiRD4pbjsJu6yXJGA5RfGUReJ2kJebnau
sfhn/EuznXkgtrFjOmo499WUTMNnlfbeANjDhElcRMtg9p81SOp6nhB7pZl85r2nmc23mTT09mAV
pSmiyu89uVFgjfxzDXoA8ZQeroVNidoIcBQAo4EmbZcd+p4zRUBiXUYr4/4+pat/bZa5eR9XdZEd
Abv3WyfIukt0OP4Oue20EIRDMy7NBv2rq8fUk/R3WyCrenkG1Kr/NiK/xUeC6DHMJyezzud5cO9s
WcSvAc19QaSfi1O0xREXLcpHvyP96rVvIcZsVDUYX+rZ6yO2aOR01Gb7OQvIgh7SQe1HKpZ7nzTC
z3Lg9yitxJQyMvRdGvbT2VzbR9O2hke6cIxB8oER+igFd0IKF+ApTfzuW9eSilPMWvfkdcijcgx5
5ZFwV7QS4MIeUQoo9ocE0kZQRivSB5aBh6M00UoXuk3uqMsoG1SedRQd03CPFjIe/THodwX7pgqB
ESHvmzFL5EMXT8my9Z3M8EkDmOIsBMfWBWg9AotszrRc70FtOjHQT++wN0J39XphgsscW+2hJvmJ
eOa2CNKzxES/lbuFfACeIKaLJI6TK6LK/ajR2+WiGX3/3E5tfqvVZntbzzBbjaZDAI/yupPbpukV
Ko/2C607ZAqyQRbV86hua4D1u0XMxW5qZrvaQyFIrsqylR4+JobxPEQdDxVXlyY8mCyMlFdemrZf
e5n0N/bSG/dDxvnO8oJgT4UozU85qVpPILjGrXnTOn371Vl3mGHtLq2Mig4lKGc2O5D0yK/VxHxt
9HZ3ao08OF/k0H4dIV89IetCYABF/VtjoKlHD5hyWru6ik8J3Yi9CMbhezANzpUNzggZfBMkVzOm
zZZ6t6rUdxC9tj+vYB8LbC7JgbE6B3xorj6FnKyD1O+6TVKnec0KJZArkORq3LeGciBLNPGn1k0B
/Tui+eImaPPGNd1uY2pLjPzWp4h8kzwkI6pI1etxlGhCnq0hbwc7IBrc13LWxSTODlbLT7e6llyJ
oHMhiPoOFXit+0wsrK48EtZQxZsxoIkTQXmKTwiN+Atveo8kmcoxype2EZuF55w2Vj08EtmpXn1P
Dt+9xHZCgkgwAPTjepcLsIPMXEznLqtS+WA3cHgwmfEhy1Wr6499+2zlqXunBQuCurae0ivlVkiK
B1APTyXi2GvfHcSD3s7FbbZebjQH/jnovfi2s0H0G4Wmduih0fdTZKQQyThrfp4qHAuaetUX+P7a
bDtQQXo/vjWr3D5CjavPXWviNzZLcUvJPn/CE4kEZZK2dlrwgKcIb5FyeC1tvjAWwBY39FuGHuop
VoXQ1RqvZiUHJBgSdhLf2ilbrg0CuU4dK4lzh+/OnbSgPWTpRYknI9as9Kos8oZcI2NprjUrp4kr
Vcm11vEpySPyRB8m2TC+ElnFnknqFST6aupeCaU2Ht6ElPCXjRdX5kKEPHodqU/l8togkMI3b9aq
CPvcES+mL0inj6XHvd+2nBaXN/mw1wkw6TcoeglwJgHmNhh1VjPPlS9z63c3Y4ySRnRmezlK1X6e
Me3fGKOfXMVEJu3HVX+cDb51ZB0LsHD4PN8wv8bHLsuI0O1hw7HGN8Wav6satEvEBd8ZzqSiVsRY
WNASePRNR0swELb8Lwu848sYwjIku1IebBf5c8dr89zq7UJsHC/Jrl17aHdtbQ+fUKXEWKzS1zFp
+L+Gtm2jWLbWVydInJ3dlkvY2oRSmxaCNEda7t5AeLphomlHIHN5DkerUrdG1c/XFCETDiYoayY6
JfJymjs8zhcEf2bMInUMO2PfR5MI8ktsfSddpJIIkLbnsIV7pU+VcZl6FesG2Wsg5jLtYna19gq1
WnznxmZzDOZMICXKqoWAGIaNneHoRycbT1KpEjGUkBd6MvXnNWrZU5LWakOpTwkYMP6jhfocOGl3
LLx6vi0aaX2H9HfqMt1gSfP5hzV02xptIAYV+2yec/uRensNhpibr8G0zpmacZfSWT52ceMxLUsp
SGXeqEd/npJbHRoNlMz2gDK0iwK8Lskm65qDPy3P9P+qz0XlLfijGk6SqdkJCz07nNBTysYFUxTD
sdAQe8pY06+Kym53gxAMvgzRRlSo07XtF/qe3Y1zV6qCSXlQ+2vk9KuBqBqMdeLuZluVNx20FnLt
GvcTxsPk4A7WY1JbPTEicBoXnUpuU2Wq2TTZlF7g2Y3DxjCPJLsZX1M9ntC6awieTGOJ/ExY0SR5
FocWkexU0ClMlHLPqC3sx9x29rUzNzueJtbfhvyTTQLhfR+UQfAqC2E+ok42LoMqWFPyKvu+JUE3
nClhdw5L1xmkmfLBwFd6oyQXyZFkeuw8ysJNP/bJlvTw9mVh0mSGbTJml13OXUDMbJJtCMoger2F
UI0fOB/Cuc37kPnBhgRgMxTwyUP8p/lzTpj1CajNYSRfOt84tnbeIJu9WXTzcSRYbseTuMsICqdO
cxzqMU9cVrYTfyqLhioDxGLBCphvWn/Mbn29XyLoT/7ZANMDTHsKZw6FagF346pqsa6FKa4xZhbl
clSqkReuo/HWqYhX5Xlza6Je5/yqzK202XT5UvLY9TW70lLLeYoYocmLIB7zp8q03T1uFLLYIO7x
wlpaOhoi0+brleV4TvAIMlxeDGTViZ6882DK9Fvc6qc+9+ZDTI6O9IfiAhxBczbUuGEHu0GEy3xn
U0/DCMkgBxw75Adj1oKngJEp25znHgVbWJFIHHatiyrNq/G4IOAznmZl98fG9L4ai/sS9033hYK1
JGWjaliziHz1SkfbWVIk29ET1Y1yKVhK1RvMvINxCRO8lDja9PkgTcAiJ81qJjuSnj54B68gTIk1
w22uNLKN0Lopr7miewPc2/TzpGEKULIGNQb23aoC2G5CKL6BQgvqPlOsn3k6jd/LwdS/1kOefu9i
fWlDk6Ssqw4RwAkvY3OnbNOfnnoKHq5bxh6nwu3CS0JzMdS0Pi+UACcIL0taZ0tpmIKeP/+piTPz
nvKYjSnmP/uUFPPwvSIA9PsgBnoIgxLVa2HXNBUGGI5f9CE3vhZpz4sefOx8PXRz/AW4IXtwO85I
OWiXePiOXFOrNuYiAw9ppVPfld3MujCkuE2xfo6y2dnBRENDzCm3R2oK6hsS+Zq71BUF1tekib84
hsPPBC2y+8jLg8KJ7FrnNqot1MgQZfmUcCpRS0U1Ii2PPczMQXPYLMNZBqqLbaNeSwNEbTtlyY7a
ld+M+29ujvZE9zFK7UBpe02tFcDIgBQW/FwF53mqk8HkQtgXYRm7XCVt4U1HupSIv8hepim8DGw0
0Iid6tUUgqOi4VaEfAEK+vLXyXQkqCqkm5aRhcugI0zzjIXsabYTzR6cEEjnzh0IBHjrCRCwWkNG
hJ64L7Ocbg/Cgoz9ZTEXh9agCXRlds5s7EZncc6ImmnunAlBBZeQcWs4xR3fr/Ac2iE9cuD8bEDE
IPeVQvdxESBQfZUurVFs+E4LekAz0vtCSXNfi7p+rIzAuykgMRLe2fr6/ZS2gzrMdOHjK1vwpQ+m
1Lk9KMr51Fkdc/FcNdca47/GKUOuCc8urf9URbRlOItSG/n7S20O3zM2L0hFIYOeq0EOL1mOEXIf
iL5jfhGsZFnocOYclnD/KXe5nMuhpv13mjKc1eRZjhR0Tmq3+VGH3dpse0YrOYtL5sBfq6FX8LMa
r6+wEnpcICMVqKrMZV7Kq1RaMAjWCrL0anOEl2amn4wcmXFXNvqJkXR/AEJg3VSJP58jZcoeliWd
Pk0AxP7qqv+/BPUjCSrWRIY0/+oMR8/j89+5wZfP1cv//NfFc1a//OiYXM2M/MTfAlTXBR1CZhBD
GOalkHnoE/8NUcRMiY/PA1QFEszwf9Cf2t5/26saCcLO38CR/0ORWCsvzGOYg8SRIVrwjwyT7/rJ
JMN4gaXze9aJPj3ld01sxRjSGhUAWiDVKtg66gLk7w9n4zd98l8P4TM4RcZAHxkX6Jv+6seZ+yRK
LTGDhVQva1Ms8BUUL3KXU/qvc/4fHGX9FD8chSATJFvYug5e/WXQvjTzy/jRHPijL/Ku9+5ljV03
kkOI5cbTb1QWdcvXP38L5M3vBoT2m/TERpHEem/zVn13RVYKcZ7IDv+QVvffGpBy0zbTcTbgNVwO
TlyUt5bOvlsvUeFbgw5LeLDmLRnMUAtmOe2ztu8fzHSxjDBbhhztq3djOpUkt0cSLBfAht/B1tAj
a5zlDj479ZpuinTjVSInGZrXmJd7LMAufQe/ab9UfhvlGGqJGTYkntc+dIDJ80oh6pp8DdZnEkvI
s+xEs3GzviEghLDDVC+9M91f3M9a5bECpsj7L/ROc8/KpFSUuNqwTTVHno3rgHJTkPUXQXYSBMhX
y6ds5I8pHXwqnO6ba1beKc4q1EtaJyM6qdXeNodzuzDHT3Ot7Bu8/MZeE14JgqPPj7jeCzBNhr0b
Cr8j5rk1LnwdJAZtCNgB5ixvLY+UGbvwx3NvyRUwFZ+8BQazxgWqWp6HPGBa2Ij0BifK9C0YK3Uj
F0sMzDRnL0QDwPGy5WUiCOQpbanwIiJvlk/uRG8mmhbjpe9numDOYI+vWof3ioZwOT4E5lrYzO5o
30ip84vWE+zAq2uUwwJfjRXBvMpxI6xc43npxhbNYjup6EISRBny+YowgOEJRSPXLmE6vIzEZ24m
NYrv0IQ/2Yv5EkBq+TybvOpsoWVPYzHz6lEdp6RPO2NfT/bLQmpyQF4acsq80+dNXrZcBCdexgeh
8/sq2kFhPnvFqQqc4SGjwqB46LwzOvvpRVtN8dZyemMvhim9mUozP7J7YZdP23BHZ1LfNyZWpI3j
uglocxVvfQxZebiUfnJyqPMOq8YqxL7hhl2XI0CvcAgSwSDvSOsWd2OLeHrpAxAvK/vrhvCAZqOX
cXHCTMpgTQN9JAP6IT4SCcgMlhFHVc8cBLWBdznSU8I4aLrVri2hcdIhzdhAiT42bhHiJjcqWSMz
MCCxI5oy58oscZSkDNf2BrnhX2NGu+gZTS2+NKegIWAp9TxBDl8tNnkc21f0gM1IoVAOieWzT3TI
uvNO8wz21wuNjKB1r2PNYoLUpta1Z1TJ+WQ7D3HVLTejlw4ToXxSP4i0c9mk9iNpUGIu5xADT/x1
nFc2fTs1Iyphoe0blfqvdl74r1oCrWzQBhjwqP6+psxct4nobAO2oa9vtWEM6CIH6/mI9cKNKNa+
l6Aq8nCQc8kgvNUPOMgU05nAPC+TxL7XZ/BGMdtqycEcY88Eq987kz09+WYsv8DASG9w7ehYNoFP
MTWZszDzMmltKtvwvxnU3KeuEtWlsObpGUdRfVFjFb6ajcW6L4NRFZthIF1hpgVwNpmJurZkseyS
tvev86yvn7H8TFhrqcLnPB0v56Fzz43ZUxdDFzhnRWvVe6NzZAjm3r1rlYWFclHISDEOk7almxyg
YyOQ0hKOx5uenQGQC6ooj1aVi1wWYfdOxmRTMQ0aq01KUvpdB0iXEG53QEnEIlRo1YDSyHCiGbPH
roWgsodDnVTR0GZkE1C6bQWdYkJj3YVCv+lS+kdVDHJOEp7LQ5O6UR6QpGF69XLi0yYwU5rlpArV
nbGHVmHpxEhoczy1bG+rPDj6VAy7hhz4iDiK4OgMQUPS19xsW/p2+546DuaJa3FP+Fa+7KgSxq2u
iGTTep0+ddrBD4/TmCy1mOYSI+cyANhCV3QzN8u8MWs2S3XZd1+nbiSzhSjOGxx5/j4FVBmOrAJf
sixggCo97zCauXwBHLzszAR3lVkbQG4Qw8A0oG36PJDG8HX0iMlD25XFr0Mgygc1zNNVYOjF6e2v
mzXtDrZe/VHNSWVuFsebrqYln8EKqHGLL79RW+7hhbM7+pFtJJTbb4fMlraw2eVSrgplYnixynFN
gxmHR28ehwixDH/V7i2CzoFhXtSkUIXmkJi3dj3Hn3M7bR5kVgHeD0S9d5wlJhAdABlyuCqcyGoI
9VkQxduIZz+wxiP+Bh/QicidyI8L8PPTyilXvbykG8jpq1NHw+QcZBduMcsLQxsBZCmjmQ+NFkDn
91v8e70JOHOj+7I6oXyZC5pFLnM4GqLLARkAH1gHxnkIiHO8M+ZBfxoHudxkNsToTVuhLXJav957
02ooX1rBYd9azfOC+RH7mgwbr9Pu28ydJpooXHqfts9541k9sc5W+p38rvhUlLl7V/WucxYbTbBP
gLZFZpfI9enX/D3VaH8kyrV4mMh+2dd1597R8da2jt3D3x/Hep8UxJwSyrUcSAQbNhptievJJbiT
yUkQNsFgbdLYna+tXtnPBpbvbd1yg7uxXZBVRLPQ0+2RMDW9fsl5hx/NQR/uaREuD9xIybWb0mUf
cxFgyiVbhV4mc/u+rUmds9ynkYKU5LDMjM/LqU5UiCYn2Jsx7RO8OsvNounyRdax9qnCvhguIzjV
yNfcv69TAa/0Vel82Nm2pp0OHueS4a12n8QFi4xVqBM8JHjNzpx9rsXgQwiT8w7SlfNoCWU/yn5t
jmHJvORN5e7SLtUilWVapLV2evDiuLlY4DvdNjClt2YPUlsrrPny7ayPDoyhlT1xZRb6Tq+RtgZ4
is8chHsMLuBL12KZQgB6+m52Gv3M69J6WwfE9FZqtLZtVxnh3Os2D7EXqJMwVXkV+0ZCPHVKE/vt
Xl7Al90Emu1TV/j22eJn86U31PG2Kj2MEPYouw3BFMWV3uXVkd2s+xRAtdyPsW47UKR4Gf4ve2e2
G7myXdt/8TsPyGAP2H5gdlSq76vqhZBK2uzJYN98/R3U3teQUmkJZb/agAH7NJtiMhhcsdacYxKo
xuOfq/k8hb5zrlWNuwoHVycjb0ojtkBNu4mU+Blw3njBpgAFTgbFJSky8zouTXq4UyOnBxqrJkCe
eUg2M+keW1tL3bPMZYDepXZyqacR52hdpHujy81TqAfMkOwBcl8tx0u84ny67ahod3ZVKuj+59zG
l6vVAXRajaAWvk39iVuHODkD+t3nSFwLoq3sorzDZUBwOxsONVBhN6eaIdpLTGtkyXU0v5CLIOsa
NHINAmvY6kKDyknSs3LXqCqsPSaoVMxMIL2sZ9tQw4ZXszUBM81NDDLX6UHDVLIvdq1WMPjvWE45
zZ+97sbaM6by6dzIq2ZNXKD6PAEQ7rwxLnVPMRoGQw0vJoousZ/HYb6u6UHurYHoWQd+ygnZd8TL
6lMvKy93rX7ESF6y0xHdPF+rFnRRT9ExvdPossY75nph67lB1J91JBytAv6jV4mOYwiJaRX4pMsY
u1jV5xNCvS3io3DQcUcM/0YwBbTLL7Q5FuDk4vyWGKZ6Qy5jQTpwpOxasySQSzcn8YuBoJPwbahu
9V6fMg+l+2kY9FednEj9Miq6TIny6lQA4unl/NC7TCO5bwrOuI2UJOaSndMMm3rrOPVA5DEkxiCI
e5CMQXtq4Nul11SBoqNCjPZyNomnZhAlJMmPaWPlv+1C+d3M5uUoGqhWI8Jf6rbqxIlsAdAsvhvK
aF7VjhL67FY7fogF/UIbKyTNi6Ry5wegOPTEyeKsjxuEBs4QhktjFx2l0yonhSlxVdiS+y2kyZix
w+3Djl2cjzI4Z8IbrtI+BIQTZxiiSjqhAOaT6BfqEtNPYfEvZJyxZ+g/l7cSN9xMaJVaNV4uotMo
seRVUaTyB4TJwuOrnv8kcaD7zXTWurUZmo7rzCEFo+uneS9iN90ZWdT5SkQK07oMK4PJQD1fJaGF
ICeM002fd/a0GseasJ/ZsjZM2YNVUEfRDmFGsu2rlCO5msX7MNHIv9La6tmt5/xUcxXdn7Edugxp
ylAfwM4zM05pIj9T3ms/ydF2zjW3ayEKCLO87qsERIQAX3AVzFN50k4oqNBuN9sWNcha5LlKWBaI
g5BWN09xPQbmM62yaslcnicC29vkujARRnTorn5aDFhh1WuRuIDb1v5Ms8jep9DFHgPakAFT4U5/
UJcvpKXl0lMjJ/LHouhOo9gxzqO8aR+LVjd9+GIDg9CwP0XumP5uGUgxN9R4uCVxilc9NMiXvLHV
VW9pxhMapFLwisA508Djn4GJJVVd4YANt6IwOOs2YBrRwxj3emHnmzQwaWzHfR9dlMr0mva280Mw
toQmOTurMMzmrdlkCULUfPKo8WY+hRGR4F6njIgNCOo5TZIs8RNEa8Tw2SqPl6/tfuJUsS4jffYG
zVmHBMStmzi/U7L4x4gNwkM9QOgQoRjgMgEFppp8xPuqr1MoSrGHDw30gEllvCtdC81xmsN+mDNx
UtcBpRRw5CkI9ZWRSqdTfL0ZlNznuGQpr1ObdbQXa/NE6yzngaAhgidl5+w4xSyTqph5iK60hA/Z
2RWlYvI0anp5n1Rp9UN2crR3UjEnzYvptKY7RAeB6aUpJY0BHera0DUGu00Zj7/S2gKH1xH6u+9F
9xoODKo62jtnIyaOU53K9nchVYvUA7tBlJ9ezGWflV6jK9muTeFbDjyqs7SXxM+6lWwv6OqHF2Qm
WV5iZEmzAeBenZNmE6yaOhE3vP8vLZRMpHSwPb3OJvBdD9p575ZNd5Xi2wOFkkUPY93ofLhImNDQ
HVw3Ui+f4d79gtcy/KKPfzt3ojG2tkWsuVIMGsTamZ1dKgtOsctugfIO7SqKqvrGVJmKrKCabK2o
I+G47xm4suJ9xSmNXRRZ9plIrYnNpe4IcMhdzqaJCJ/NCfpPwU4IBlAJt0442nccdfiegNz6FeS2
usYK+GiMxnCKjlDs+KeIdTVW7S2xvi8ku9WX+KSm53AO+m2fDsTjNPqUnLvuDCAFwgGpZI6zq4jd
RR3r8qPogf1o95FxF/eEfyddzAtbu5E3FNRUU2S5W5MItFaPxBVnkAc25PRylLO1r+jNe+3QWhuZ
FcFT6aYz0W2D4yuVnlwg+p1Jtlc4xQhiofyxIZot7IfippibkApXuc7zvD1pnSm/ZihiXdkVKlcr
scQFufH6X1pINlGZDHJTk7m6D4qou2TOGJ3h/jFvaXa7Rbia4M52PwGLebSmmx2+pGTD0FqSxTKq
10HQWX42YBsCvFTuGC9mty07LiOMhWnh9uquzjqCtubAG23V2uuL1KQd6l8RKXt+EkZ8sSgE92yk
ip/rbn9GKWfviSUKL5qwSql/y+Kvrk36eJ218lmvEvmTsXtXcQQAuf9cqhhlTjUG9KeEOCdruiVI
A8NG3HVCGSeC5oTpkgZYhwJ6ckXCvF6X0txWxQgkxolq96KAUHNX5G7h5ebkIiJtyH6hhXVnieZ1
HFGrqYR8rOpKr/fqPPy2TU4NZiZyYEcmh6QKN/CspclJHrvahuOErwiR7Hn/zR92bj3kIbUxMcSh
T1WYIaNwfjci7lAaTcFKRdApGDrDkrSebI4gYzKfmbV6TQ1l0TmjTaR0jvbbcLPh1Cgxq1gVSjnS
o+vLMND83lWCvyIk/VdE5IjrZnT/qkZDeQh59e6FsOtoDbexIiG5hnXbkIDuwV4ud6o7QpmJoQ5b
yN09p6AD8HUj9HMXVCDeNhE6L84FgjM+tnOtEWByrzhMN0BwMI2hGRfLkjWJsDtCGvX11T51dp3l
aq6G2ZYR/ycLsD1i4QeXWftTGYIRxRzqxbk9brJQZus/vxSAfpyZpkB8cYhcUBtL0n7UuLHICe9Q
L/DJwAxxrrZ9+o2A+0CgTicZwJ7AZ4LFFbrFoVacUaE6ZTqXKuqiO0uzFgZXnVBysnhhaY35ruxZ
XH9+f0LTcdghasXufvDgzJhUdwXVqz+l/IrM9/lKk9/ocSY1vrm/A5/H2/3xQjPCsJH74wz9uEZS
Nv9ZSqX28ynSAy8LyCZTKic5SQUdzYz2x5WcNDqI2RydMwUcv7n+0ol/Zyr6+/o4CTEQOw7j2YNO
/RQaMoJ21PhOrtCAL7hBqxruv/49D1xabxfRBQsTygSzokMNPhbUdmpdcGJtS+vWHiKqiNDWg4tM
MGecJwGAvHPRXdYUyV9f+tj6WfgoAn4lUsRDByrxKjClhV4vTZJpI3WTCPRkaQTbippVnh5SgU1R
G2y+vuyxVx8cILU5TxaOgP7xseqNa5V2zGVt/HZg2/t7y6XlF1qsWtdm/X59uWPvPmZWRwVLAgHi
0C2EmlHVCNHick1r3lWi2nH4HzdVYKvf7DLagXfz72fpmhiTGO7hAz/wfrnkxv79LK25G343b2tz
CrqXsWVtKk2mndNSVneWM6tPEbG+fjvQiv/6do8tWthvFqo7HfrLp5fG1tt5CFWg+MgVrxFU0s1H
iPvNVY79qDzCZXy1uM8OESzGGBidkbP1vO0CfUL8M0KFETw2mpg/vyFDxZEMSlJnxLj8Ke8Gf+kI
63uCK+0PQ5WtAXz9spzy1//uGgebWmy2wuJDjfVUtOezBcMaccvXlzi6OFh/Gg+H5WF/Whxu4gy1
aGsfGSgLoVPFXpBfB/NsiH9ECjtMVfQqSmHGLBIQKIm7+nc72udXjzgpkxEK7x/+7sPZo2HKTldK
tyKOdFFNly3CDJAbZ2ifEORJt/jmY/h5Mb7FV5Eig4dqsex9fHYVxypnknrl58VIgWJN1zC+7G9K
ic9rEe6cg9KG1i4Amzfv4rsF4oZaOyO5qPy4DTs0cpDsS9mf2QmzjK+f4ZErcRNgF3BnmXgPD5aJ
28TYOian9NnaMOMozSlWtztZJw9fX+fIY9JsAyoPz4qdC2TyhyVvyTzV3dou/ZnkhDp7UiD5Jmmx
iqtg//WVxOdvLL6vd5c6+MbSo7ICgMal30G8Q7xkhIS7223rgdklprYv5vvJpB4zmX/U68qgu6/W
VfATcJaygUDXbhKmvzvR0EbLa3LAGBzN6d50Erlv9VE5CYdoPg9wONwYFTkAHQzyDeeqdpOJNmkJ
Nc3Gi6Hs6GBPHew52mwJkvJ4/uZGjQPqA3vzIrACt8ILsDhZD/ZmxGsK1uCO37SJ2kc3L9QLrXdu
JsuKn/K5s/cI3JifZsHPegRragPaZ2ZtnVhgEGOTyaxWyXQlunvUUMUKbMkKNf+NHAi0D2gs5SXG
niYd6DfGuu0FoPuFFw5l74Hus/dKonQw3kvDZ7Y9rNvWEdAg0aDTwrPPUgMtQ5KSvzKyX68xL6xm
OxzXBuWKy68llEVTif/DDobim4/WkbWGQVxDwcE3i5L/YK2BkiGXrJ74XRKlOeuhbp3w1Ec/TFDs
AXHRB//rJfe54IEig50SCzzOHPew4AF70feDzEvfdVrjhH5rvsEk1KJYl+0ucML2LKL1emfE+Lm+
vvKR15dqTrUsgRbn85mjDqdeiTqr8GlzTT96a9B+Vcx77vCQJq9fX+rITSLwYDei18H/HpaOzEU5
b05d4RN/w1Sk1xjiMQlq1khR6xNEdSA+GgbskzcImvZfX/zIfVJX6RazcE4G6Ew+bh82REXaTkXh
NziPdpig7kJySVZOMtV/XAaAeOZ9AnnF8eoTL4QeUIMvPMl84TgYJfANCWfseIt0/Y+XKeUGgimE
UZw+1EOIl2xKrKp9BxJC64hvt2i86sklyc7WlsbTy5/+gIYKYI76BiQEco6Dz1YYZ2jys4rbMnMd
i8EEGGaYmOk0mZ5+Z8P9/AJyMUobSgOIReLw81WhDUFQmnNninEX6cpjNTsvyajfhYP1TQ2yvMsf
DzRcimOpxa2x5x8613M9iqdCQYihS8yZ9EpdxJGenfUzSsh+T5vyu2r0+BWxTiFjW166w8+LIW2n
XK5Yaf0+deVTOWl3ep3CUkX6i4tEfEMq+Lz2DZXCe0kRhqLCtPfj2jcbzh0kM6W+0nV70KS+YaSX
saV+c5nPhc1yGY6GAPOoPg694ViSwE3wj/Z7RSh3io0TTmKS2Hy9Dj/vIlwFYh2MoIW99IYEf1fZ
jAoEaJKQUr/W6WjR6VllSfeXXVjXJCgxUHfmlY64/OuLHnLe+FJyVTYOG5wV8QeHr1qQz63LsS/1
XYL2vCGD4roqZDqfE2uubAhQarxmIo/YA0uYRit7dtE7N6q9a8cqPCHrMtsOlEUYYKsbt0vx8ElJ
cbCUBVWJ4QBZnHXvisHyw7Yxv/nrjz4YuAesOM1xP5n2kSREGZONzKc7XWySyU32ykif8+vf6Ogq
Q1dJS4no2E8lZ25UfEbCMvOL1sZGWPa+muLLstvvqpYjLywMAGpb9iGLM+zBarYzvZDgzH0xkkuW
4q04GS113H59N8d2IKTStOHAWtDsWH7Td8tsRm48hp2SIh6CJNfbfKZGs4NA12TPfWL8eRXNmRGZ
KJ8MQKGfSKGYOKwewVXK2TF4WX67Orau8zp4/Pqujr08YCZh0PALLryOj3c1NmmBD42XJ4tN5yqd
NEZsgfnCsKXc1qHp/B4yFNt0C/9JRP1veZPH9jwUsRBg+Ph+PvTQOlUjHfutH4bisi2UpzkJtzJ5
kMl8y3a9+/o2jy14jj0AYBDug/A82GEz7tG2MG75MpTpLrdM+3oQAKq+vsobLeTw08GPCC7N0HRk
zgf7qtthhDVpuftON6gPMYCsrYLi2AsSvccK3NjDfaI5JWbttr8ERphemJmt7wgD1jfzJAEOhYkE
Kh50m2xw0GN0mPu/qUa0o7+8zQmbN1OHd3vwyOugUc0hz/najAZjgrZ60lqX+G7daUgecR67ke6E
jT33LCv0+CEd+gYrf/krQtEBpqbdywGTHl0k17MmRcJx4D6+/iGPvGvMtClBbVt3l/rw46rMMDAn
8Ui5PRTzi5y1dqtKxJRBhn5l+jOAybKRa28aY3Np1FJ1f7yW0CbAtk5LaR9oLyoNhzURMk+QOgrf
dosEk7HVflNhHHnpNI2JHRUNX6xPbf2+zqaxDktuLzF/RHGorASqHeYY9ezpRH7dV/VQrVFj9P7X
v+uRR6/xP3g7qWy0v9Mz3u1hhuIiN3Sa0uesdlFZAz7QOrumGx/CmA0fJscMv1ltx54kJRttAEHK
DVvZwa9rMW1sDIyFCizW1aT1qBIKvb2G5Ict3eIg/fUdHvnmcIPUUDofNorFgzcwD2ojIlej9Mc+
ZHJhgLRXq7Ja6yhi/yeXcrHFO4Bk6fMffBCkTV4Y5F+gJm5ZXJn4lL3abq3TuNO0b7avY88NZzjL
E47z0g/++Cv2SOKKmc6A3+TdXReVr6ZZkfzI84vD6hqnTPvHhyM2MEwXwgS9S4V48Ni0kVmbaObC
nwWhwqo93NRdvZb0Ab650JGNmZa6auo6nWdsHMvzfLci5TygAAs4Amah+YiLcufM1d03S0Lnn3Gw
K3+4xsGacAlcSwyDayDo1zwjjuW+MRvzRnRWQCYp4SBxqA54m2q5bqwkvC+H2kYsxKy2c2o4VASD
bOoCH2VpjCjg4FRuCI7LyDxq6/1sGNG1cMNxVUx98JOEhmKXN4izON1OmJDD4CQyHYYU6jhemRpx
DF7C+P5mdnPEVoVGAGSZN/VOBS/tcoAaw8skU6kOyxhLfhrXl9FoRzutbkD0mEg0ez3Kz3ul7n0n
de9iQm1W/MLpNqdXtESC2Jh6A3iH5TDLDbZ1E7FwOpyVhk4GZUzSzdc/77G1yVfc1lgnbxHdH5+g
VTVVi4my8JEJP1Vj++REEooAHsu83ATKUP4PXjtqboo92vcMhA7eBbJii0oPJ3yyVbT0nC4GkZ4M
bfFN8fq55WfQKxU6jT96BKCcP96WMaaRXo/kACIiv5Yyht02OL+r9J4h9DmCFBJFxa8QLP3Xv6Z+
/Lp0aflFOVwfFmSuzKtcDiY9kXKaf0Qj6GKnNpRrjC5qtkEzwxmngju1adOePFmS1xhuF2zklehx
l6OGTAYFlk2nbLXWwPqLMJQFJ3fMO5lgu8mzqfUc1EekgCkpF2u31Sx6L/a8DrXgltSWZuXMZuUB
UoUD3c4y3ABMIdQok694PrSrxMnmnRxJxsXRxb+ez+YqatpkYyu2eKh087tHcWxPx2+o2fC02SiW
GOv3ewRYGOhTaV/4avs0Me71pkHdpRpg569/+2N70bvrHBZGvezzrHRxYDtmpq4K+g1YjKPN1xc5
9kG0QOIxV2DeBhnv482okBXKyqgLn6GTs4I953EYfyxTEF7AZL4xnR292IIKpvDF3XZY9lp4SIsi
411RIivnJDrveqz6KEDRUhP88fWdHdsILNr+fC2w7H0qfknH0a0EFZVfJ/W1aPDZgjd5LLP6tY3R
LETWN7/kIWLwrXJbZt4cYJEQ2IdzmrkhoMwxqNOSMYNcPQuNsNt6OBH04tdEDkS+IasWw72r38TY
Uv0pxNQQlnFx7oROunXxPd/bWIKwZwQYcL/5PY4tW56zThuJ/q17WFgOY9CQ+EuZM1TyVXfDh0j0
t5mOjuTr3/3odcipw+iCaONTcdD0yhRJ9Hg+J1FJN6d9KiZlWJdd/c2H9FjZSnMK0QZBGTC1D95D
fXBxcKC99Fs8I1GDxHUormtChxNHu8zK6i7P3G8aFccW8LtLHh7tk9nI0Oipua8McDu78tU1MsTt
1r4u+2/OHPqx9cuJlCEZ5SNn4YNzUTs4ZKmNds42I6ZfRDr/NcTukpqjOTj6FzyPVOJVzo68gZSB
10DRFmVmjejP7ZtHg6bKY1A5jd8JHAu42vAZRW19i+m7XDsFgWJAJJztaA/Og2Oya3rEZiOYAsq6
Jqd64fiKv9RBYGcpSXOW6i/AihdIceSmpeSLCTGASqvHmy6fxK1EdM3HXvxhZsLbS+UuTl1aHKzb
wwEsnKUGO7Wk8iMEfYYU5rWq8WhK85SeKSCKafhm+R57xIszC6GMTbP18GeXiUYcPcWQH1eugi6u
q+V25vS7hvsJdqJZNOlfvzCHUPHlHlHMkFQveF04Zh48aZhAxDY7We5b+eyuoqEDBBYBkoRHAMOk
zLKHt2CtxEA5+WYXcKI2e8i7ud20SPp2yjCgXP/6jzqy+ig2Fgu0izHw05HXtSYnb4We+akbGpuI
nMVzmBZLFlfZPCbklfroIp+/vuYh5P3th1iqGw4/nJk+nX3D0ZwBnvFGN3OAlFUPjS2CVH0LOrHZ
ubale6wUlJNmtnHDOlpNzGRwXhja+us/RD+yhy2+cOQYJOMyaBMHX0WkEVYOKgffcgIa6M3XEOvZ
fI22uoC+0gr7pE1QI2Oxarwwo4msKTlzVJIg+qtBH9TtBAzyRwTAdQXfTv1BWQzddmBJ4ZhKt4j6
zB2S/NcJMTZbNphXK4k2aIWNda0UrR9Zlb0Zo85eO+GpKFP9NtWL8ZLXFhPaxIvwGDmdu89U+6fa
Tek3B/Nj988EDA+6vUzoDxtHtNuSrIFN5NtEct9GyNLgNozxY6wp0fbr3/rYpRBeozXAjc5n46AA
YehUVfnyWXJLkIqychY33yghs4Adffz6Wm/P7eDoxbGAFg6nVz6Dh8f/QrGybshjDgc9IYNey8AY
s9dMVl9A5Ny6sDPtVCPU76ol9ORCCCW8Fi3sEUPP5E6CDz55+4P+D9/wDb6BEtDic/1fKIFP+IaL
1+caEyO9s9e3CO2Tl//4t3/+S/8QHFzzX8BL3ibSQDRNY/nn/UNwoFe30BiWLjVt5PcJYgaYBvJF
aJFAWIBCvfRjGowL0X/8G9qC//z3D+3i5uD/f48dpoRlS3i3tJbvBWMf2rk29AA+V5/Wcacg/sUr
pLOJ99H5nNZs+ojmjSqZijOwZ8Yk85O4D6LXqFMQd6X4C+8gc1snCwDnNsudYAZ6p4vzWkssoHKN
dTYmLuO9FvwA/sos6j2Uf8q2mOPuhwF+86J20OOte+F2W5cY0wsxOvoqNQFbe7InapBQ1GaFQF6/
wNAPB8+GGKxCkrxKU7W4avlw3LiFJRJwQGH6UKNa3htK7WCpAjT5Q62GAOd5pAivckr3JqMzfIMc
6gG75nyC8njcAbEOr6zKnG9ULatvxlAPtrrLnz9Dut0og96imnbn1Tjo6eIZGTco+m1aHFCl7ro4
GZ9sO0cF1JSI3o0ZY2NVyeYKpVz0WOVpN63Ukh60HvZi60a2dmubVXRjjhaaddXAzqKoxXhWh4M4
c6rmPs/QE3n0G238qb0uVqou57uCQLCVqo3PKcYe3Kx92viq0sdnVVwksF2k2fyKsdLh0uQZQrBK
8gtn6KOt0kbzvsZVLUDI6uE66x17RSiOQ4J5oMRXeGNRt2bhJWTCZIt4CfZoZGLtJpPFV4dyOBsj
VL6FosUXkZZbbDn5MN2CgO3ga7qYCq1UXDr1iDJXVMU5cv7hjMCGyacy1J8SQy/3iau1t9SH2I7z
VEk30D7J4SGQ1TnJpdGdz1qlbivNVtZFkBXXSqvqt+1ktD9pZWd/TQJZhuhJ+8E6W1zmjalc6LG9
JZKk/cFvJadVNRbuVdU4+Q+9jmFP4M1aF61QN0ORzrtBxXur0Ht4qYamudRaWZ4laCMJIOo53ics
nNBzFdf9retJV6+qmlRgwEY6JGrOQSkftiK6Lpoe0IHlVgCOmVV6uVr2Wwf2qMfn96kXvXNadD1Y
Tt2UF0athauOUNKVImbiS5pw3I6agp4WyXlyJmlx0Z+Tjq/2VvaawAG7UpHBsabC+TIF8CU9eGfK
b6fUCbwNwkZzvWqwstGD9tKdFrFls39hh4M2DfYyx2OQKJn5A9S0+liPyXhmuSmMeqPpzmNbmhCk
ZNVf10o4/6wySY2rZHI8BeAc3sEUNi+dyvBqZ4EG9nZxRYOgvRE9sb2pCcbF63rKadZkYS8Zq93s
Re1oElzD18drhgIwZ+xYwYmeJMEJX6/6xJySJvOcSuMMGIwV2gyrDvIHthF5NUFI84uwUjc9vs5N
rEj1HHleMey6XjInqWJ4wdFUXeZhHl7WkQEKvLL0X1mcuUuMVj0+NkFkh97odNOtZaXkY0mCjTdz
okW+ia5s3819sZwD7CFYgQ42+20hJ/UyCWg0rhTMrTnZTE74YGtFJSEoEnu8MqoqYCeJMV7NefmS
aeimvc7Kx3N9tvFyxamJRyZBy/MQ9k3jbhLa8wGEJQRTeqwljHKSohLbcaxm7NiOHK9FpmqPdRNA
VgulqGW1zSzOXuM5g3dnjHlwC6JEbOtehvlioZ0skNmj2jXqLWRzMVn3oZ3L9gYbTtf7ZZXztu9n
KRplXrVOko9ybfQiHW7rZAyd30aYBlFBWE6mDuZ9TngSFZgjTSXdIktok5fJllJLd4j/6vrvoc//
1QHf1AF0aJfwi/++DvCfhqc4fl8F/PNf+acK0EzjXwjwEXUgxqEJa/FZ/v9VgKX+C9ofFTxiTKqB
JVaoKHEgLpXEv8RCznfhNRGOQTfqv8oAzfkXMxST6pBxpMa/o/1JWWB+7FEs/CYHyRx/lkXEAlr2
pfp9N0+gWZTNiRmK2wY4KNjZOYfY0Gv8nVBXQMJJA0ZwhJfpt7TBNkdRqtwIt5p2haFMcpXFjrnK
GryjHknTw5o0YHzoityYY49p6s1PDewbir7Sl/FVUlM4ewrovpMyAljcce6kBICRJhR1vIpctF5v
GOISRMcN9F9wCCEf40hTutdiVmb69cZgXCojocVjwZ5BE7Adnlw+E082OcLxOoz42VZE8kJJqNMa
CkamVsBjFPnciSh5ankPrxQG94jKkunnVM/1ypVhaiN6mdvXvg41T8jMOAlR0l6HkQXNVWGyUEIh
vIdXMqffneU+FmZvj2DJ0+CpqotlYomaff8Icr4WiRI01u1c60A99I4TpKC8wdQ3KtRnAmu1F4vc
vSptKc4KOh5wt5Grm6s4VfvdHAEiQuEGQXXueoSjGLsFCQEvWpwqj0VlNjcRIekbM06S885syeV5
O59nWeDswoj2Qdfo5SX27Ps2w2FryuGMbAFxJyKxsyP3Jams6vndS3L1d9n5vhwFN/a+GuWmDYbp
PAkaGQyyPmX5SBpKYaDK4tYo8+Cntjx9BrzaDwaxZF7bHGS6BHBFngwtBVkBHSRX2nnbwDU5H7tR
fZapxs/gmsN4GRagJYZSN2+Dif+rIr/vla6xdhoqYrhEm6md6WHFMMkJHkJjFMSuAuxPCxK5rTRT
/bhA/xoptbJLe91aT7yjm1nNWdN6q/an6qy/FFZ3hs5e89suMP3JqRuwgEQBMXRPN6MJZ4sPfARp
8WcmEQcZRjn8jiNM/1mrD78luIwTe8pqv25h5gQR+UGy77ZtPIw3vJTphd1TQGcIOP1Uf1GhAzKg
CGqrWafJbJ46kJxWcYAIch1jYYcwTlNFnWuxwtPnEJAG83YE1VF5bREn53m0gESdTBBeX8hXJ6sA
GBQET6CXgMHlA6TUtkXUND5gzPg0I+/+PCCB4MoptP7cTCtuTuDjR0IbzYk/EZfhrmYDeooSt8BZ
Wo0fVABejGcaLoO5vJtKOl/ncJYfjajBcQ7s88wwQIaozCi/aTwe7Fno8HCoITZksoEmg3HrMr98
t2cJonKCsLeVm6hVQSMtCBdFAzc7jXTBarvjOOwua6fGcwxViiSKtqGMJH4seklkOV5ISwT7qlWr
R7sy5DqLMnWHZvfHSLG0RoSV3+cV/5S0rxEyJj00oYxnf1YGWM3VFhx8YzIsn/JS3IxqDZ/BnrjV
qVMgP0QQTtiupm2P0W3ZUMt0X5uy1TZmqwiYbB3M7mTsQWfArLp+W7YyASj/BqqpK1M702QZ/FVm
jvrDATL06BKE81goc3URN3GdeDl8/mgNNCl+LtR0V5W1kq+60aXFpncd6RXTnNqb1ImcS4dZ/rT5
+tV9azC+P0iqaAUQzWJ6tOiJMF3/+PMPldZQaNZwwWtpKcguGBJPdaXcJrM7LUdDoa6Ycip3yRTD
lTGZJ8jzsS4ihtVqzOdF5x3sPJHhO3AQ+z6lvYVk2YWNTqkH4eMn5HluRoWvRco9g7k/vwFj+bzS
u+a7TIrAxxso5rSpNQKebjKLDuWYaONFJcNwW1kB3NimYJ8JqoH9AjcCI+WF7WM5hXxSA9U81QYr
gJBe0+oTU/mkM+E7swZQxJHAELytMie4y+wKGGhUhNCQvv7b377HBz++YRs2B0RB49M4/NuHvI7r
2RjMm7ID4+Jx4gn+YjUHjl8TcfAA0GM+T8ZmvMzsBVACnziG3VFYJ46M+z2hLcy0UeYzGR/A/i7A
oNbKwToPRgvKoOqKS7QT8ZktuP8BNB182GZo/ur5TPCIYuO5CYbuRJ1nQFqk6pJnS54FVKLerlcy
Aec+CkD/LTD+R0EMBdZ4WOBNTMBRQDdzmzU6qrUsGn9yfJ939dAHJzFcNASgduGsWiHGV+0NuCJy
A5JHI4W2mXXpbvUyfYZD7jeRXuAiTKU8yQz0A8XCN6ImGK/eXr3AVcKXOlCifmOl/ItdkQagVmpx
kwmIvuscZdnKFVX0ospm3iZqFPxk5fWvRoa8YOKvP8kSO9gTnT6fG+oCo8UXLm4YaAMLF3l6p8pF
4mFUVozTOvmtl4CSqzAaT1JE96u6Fv1KMTJxBvG3WZs2RpQEtHLxzUKgSPzwBWUXRNxCzUBAm/lW
Dh6UDezVedcw076JMg3H9gShfPTe9uZsGEl6IiRpZQP7ij1CD8ItpZh8smj1Xs+I+1KQEc1JpFT2
OsrwS1Yx6hhyO9SYJgjI6twLw2LbVunyuiLUf2aEnN2z/bfPYjD61y62DWWNxjS3CfVwMAQUlGPn
fdGaG3gGKHxHo9CJ3NCzINtmWlCqeE3yzndCZVxPs7RPiKq4B4qskdbEIDfjKB3vFtTUNW33iaiQ
Tu1eCOdgi0wL8p9KNFFAE8jg5K2l7RsvJefyXEHxtY/NmPochPppPYp43rj69KhJ2gSEA+ggw6Yo
95qEF4JZAYs1gfiwwp1r/0aLna/rvk/3TKxUf3azSfEg1Fe7uRJReS6wJEJ27tLoge9A/NAoCQGH
sxx0B8Z6njw2zBkBvqSVFfqYbhYcr85uAPBZRi8K3esb5f+xdx7bcSNpm76V/wZQByYiACwnfTLp
RcptcCgH723g6ucJSd0jMy2df9+L6moWkwkgEOYzr5lmE+Cg9n1lBwtHVV+qXYcTTbwh76NDsiSl
zePiJrwpaiONDU6J/48uG8e2TnAM2wZInYldsTqQLoA3nxFr4tRZncz7AIcZt9TYUU1+sdDAIvwJ
9QOa6jUpM2n4B3r07KtDW+Lsw85ub60KWbBYzvmVZiIEhk9UXyyhgSvCcfLeItUBj0Tb6JVifxQB
cKVu9NgRW54GCz8ktPnW9Qulw+CMY4K1L8YSkQ4qBA7Ip26d91Bx0ArrVZpg9YU1z9xZzMK0Jcrc
LNgjDqHMrY1sInuHPnvxxQcuNdRtgcIZYWuEFr1fbYuZNJ7SW3KPiue85TAIGRkovQ9fd9T/ZrZ/
yWxJH01Q/p8z29vP8/+cXsqmT9Lu848J7ve//J7g+vY/CgAhyGSQmWSP/xIpdv+RwIFozdGlgTVh
k0V/T24FhXHDPoB1awrkCIH/O7kV7j+IJfJxGFVf6Qne/ya5NRXtH87KbyrF4P8MHpw841c0h7DU
ErcB9uF5JZOtt4Jec1X8+odB+f9kMiZB/u0iMKPhKfGcv+GehprIPQyJg8fcRTLU7/Gp4jTcIlA4
/CXyIun/7VKArKgBkjwBATSJ5A9xL4nS0mYxOfEypUibFWl+cV0kDJy6KdGcSocT3GnruKxSoO2p
679c/rfhDBxw2ujdABjlpZm6yI+Xd4s1kLNy21NWzU8syjcBOpd/HkzzFT8NprmEhPwQ0qP4HV3f
dZZGzNxpT9KZnxbpvUZiEPQ3eHj0UNrPf74YpJrfLydcIHEUYb7hQX5+IpJCoZaQPEjMGCPhR4Y9
SB1a5VUuKTMWk3gW0dyWGxGTLCDeU2eIjyGz1W3KHOGEHT0BtOrdmPJtkgWIeM1+WG4n1J5xZysK
/A2oJOI/4bZOAxYhCTcd7ZKzm5XeB9fYbk/Y1lTCxGjdYLvoY4bNFnfPsUQgufJuE7KQnZfk3m60
9fJaZ1F3nSps/4g9jcoKPlQoxkjakCnGCpsQquxDFGMMJYcqfzQOFZtJYCIzxkN8O07IKVOIjHZ1
MAJ7s2V7mMZ1PVMqvcFSewKAiM2mXzzWqfio1uBh6GrUMCGtXzX28j7Gv5lLZGpvSb6zJBPf5Q0n
Zd5KQsfKQfQlmz93Sdie/Sy5A/xq7dKw7vbCLcc9vQZ1uyw0WUK8f67c2HvtW050lSXpsG17vzGq
W589ZYVPS9WnO+1k2e0atjEBqii2Y0CDJJzinV9jb7rM0QSNuYj2mb0kNxXmzdgNUYLCbe0iY1vl
ew6dgXNx1nGIHFE24k5X++FT60/YHwTS2bo4dF83X6V8qsaJyIiXrlPPovKtNwmp311VO3xPsCzu
E4SP6VJ06XiCCUdvqOtQcMWYILmgztvd1IUt9yjkgSmdQ6ZI2Wb3bY1MXzYjzjVp7MCmtLCxcso5
hKd22VpJ6o7vxtRu6STY2rm2oOY+pUm77qsUOcgIX58dQr89MqOpE55Xq4uuST+7h2atunt8ia6j
UHvvYPUNT2L0ICdYiXPjLJ6CFc9caFf0usehWo5V6b1L8k6iKoa/ziHzveUk+jRETzDOjpbXdEay
sr7HUnHn9qO+iRe6CdTECvuAmlf7rlaSDkqqGvpWi0yPXSjGSxrN+SZaE3Wf+v0B7euaRsZAJhg6
8fuMeOnMn70BVH6FL0ILOmd+aHQOm6M3pcDMOoqyQsS7pwGZJlOPGkk8P1gR+luulwIEspvipEuo
vLLp24um5Y2vdCzru1JDa2NGo/CyQYfKfvCiVr/0Vm1vCxbNNQKHFuLgyj16S5jsVEFDYJeBhzzk
EdFua7dcLc6NGmBoIfJVE+IdoibRV4sVRO+CfAADGsTAlaJoviwZzuI+GnjYaVrJkSZRxNov0cUT
NklANBLvyTwE9lHMVysZD3JnXnCIMhW+BlWf0RFLkTvykxcv8t6Ezqr3MeWWR+pGNu4S3nvU+64h
4scIWNuCSIuR9qCpD3ioIs2bd5sVobVdNCOl2KJ7uUVL+Mbq2wauXlTsqnb9lMZBH2yQlNGbgLLI
OcJ+A7CH/bBoKkwLElCwxLNNjTj0cc35WuBg7XPnWD4xMcBcIA0dGn1u7b30E2T1OmnUvsfQs4m9
JymbcFs5eVedsb3s70er8V5MLfmclrN3tJ2EJprpJCXJyBuSIMJuoyLHI9mLGv1cO0FxzYa0np0F
70c6U++6Gvw4ltvWZg6iels0kYtbSXIdo22bcABsysmeBtIPMuiidKrbHpfIYnKfMWnBNSZyqm0c
dFcCxcfdulrRLsqtAC+9HLBtiPp32+/90RUvaC83H7LRm+4aGtHhBjefYMeWoO5SXIKuKTAVZ1Wi
kOMFNH7Afs9v8W5CuzY1Di92mGkEmBULCO2qJfsS0oB748yt/RT5q3jAVkjtvCJ0tk6BSdEGxqt3
9Itk2KuK+eUARvmEgZ11l8OzY5irbd752Wvs+KqTDtMa51tEyraOWMQ2gzi5L4K2OI6rL64LL51J
cJt1ohkaWCf4e0bt3P8IRYmu+RTy3ttIZucgC3xIDQj4VzIt950r9NafdHoCk+zuHRUmUNIJ7Ws4
Vic5SHmnMIIhS4nj9wFpWpzqY0F+sevx6Xt22Ll2LoVbesq6ePKCGP9o28GKyRpy9xX57l7BgnoD
CV28XzBru1WdWt/0lber8xR5oazputvRaYZDXgKaH7SfnUROQaVQTDIOzy947bibqO3yg4qj/sz5
OJ8n9Eop/SzQzS6DA1APMZaiH7/FFf8N8v8S5INVs+n4/Ocg/83nfvif12kXp1X68mOQ//0v/xXk
+//A/VcqpIMKDht+8r8D/YCQXbJeES8xYk9fc4B/BfqkBobw7tPcUAbSQsD6Hczi+f/gd6Js21df
3UgAx/wCZvkTuEUFvwWOnqKXQBeN4JTi7q80pliLuaiQ9jv3pT9ecASU3gYcgpFS4SAtxIDVVj56
zmPvWJQ5sEmz0wV5P9uZT3g6WdkeWUH/0A1h94oejbUJWdyv02AojgkVJfbkMTQriZiJ8vCATW+e
yHMfrT4m6NkYrVtpiZmWDVB4uaHlrnZTqPOdbMrl1EbiqgryEdUOnJyJwYL42an6EL8giXhrqDIM
p+fXlLAjxZnS6+d1mFbq1Zgcp5Nl7xA5HR9I052roTZ+VARIM47rVjFt2QHbR4lV1jV/4jS7zvan
Y1NbD2nUZP0OU7bZ8LyRpZ7xT8Hzw36zdt10yTxbP7FFewfd9eTYYU/3IFzNkxes071bqnRH37s4
KLQH0QxFqeAV0l3y4HoLFgxk9zuwOs4ldNLnOq/lJg6G6SZAnDpA335rtXa9iwmFKRekYniVN5l/
H1HteYBggc5arTrhHGrUWTaiCKx1F46wefA9E3u3mRyYksgycc/5zusHsRU1cZVr+WigLN4b6N/N
Cbfva1/gYeyMyV0crNOwc7Utih26l+5WyBnZ5CJexfUA9QdcbKUGihTrgJP0cIK1MDyLXmf4v6H8
vrcmt9uKTHvlpusryfuQ4zXeHqchs9+lOCntRp4FedjhdVRpG1e27hmhfrENqbu9J0zSV07S+OCN
A8QP0T1DPkjuiiyOHzHl9Krd5NcFJjlle1vgYc9QF2XiI+teq7t47BVe0RxlFpnjuwhJ1wfd1tle
xmq5plb2GZxrrDFPW9XeGF7do6ndXy1hQTqhvC0aEAuWHznnpaOwt66s6MHxhrdxX2PqCIjjnFCG
iS/zYBfTw4LDWPvSxXH/3p7b8UuKjOCDwuLuksUtIE4lsh0h03gte1wVtsMEcX+Dskp3M7r2+3kR
463VgLl2Z/uzqMr3/jzXPUFQ1bKXi3FTpJ59B17YMco9OngXxMn4tFojNsJTVOwVYcu4pRI4ghsX
o8wO+IyBxCmqeX6fxGtt75AtTpt9b7XGxgMkLyGQdvfSH5DMMTCdh6leC3x8E/u6wYrc2y4OJutT
497P0nm39uE7uwMSi0rMvvPtsjmFKiWKET4arscJ4MXRJnp8A74SZHzz2XbHSG8yv0CTlErCSRbT
FNwlhUB/IKRcjtOqe4rZcx75hnjje31y27fphVrAfF4QleX0VyJZtmPcz+5NH/ZrfAwiCKtboNnv
ShAw42PHccgt9QdiMUSKR6Q/ujZvblAvxZhmUsthtMOjFl5yzvN1ah/c1Q3K0xg5IEcAwmSX3LOz
fJ/2YGE2i13Lm1560d736gSl2cjZI5k7b5RvERXFInqWE7YqynI9GEmXCsV7I4uQHHNCTZIL1zrI
SE+b0NbzAU9PxAGXIn9Lxq2pkLfzhdzoICqSnCYyFPegh9qUd5l8SOoy3+OGO23UnJTbYMoJYEh4
rrLcW+FQjA2UmT7dTtiX3MyTnBkFDA6eWlKksxyC7gZnAuv1HO+SsbiMCCHuygJiCpTCOtgvlodv
Y3NBl/6tGy1qV3e9e17WaIXJ1TcXDHDrG+crJ0QKC7FbqKquvZMjtZlzrqaA3aprH5C58p6gLRAu
q4Z0TzrJvNXNqo+RhbnnNizy/N2ahZizwC64QE7PNmwS7wkRwfZOI4V06WMGbTRPUJ6fbos11l8w
D574re8fEhmjE+6nzXiEtPJREFCbGB/8UqLIg2vXHs8RHnTbGsek67QY33O4qAPyqtOpwgPYqE7W
1roZmnlW27JMh49uxYmzp/ODPVEZhYcpdl7FgO5PnlXal9RGKqqrguxY+HjuJSt9kCawN1CXgz3p
nt46lTWdMBywsewB/xCFZGDoyiMw6Qf2RQ2zveHUDg59Y7vXI0Ywl6Xy0/3iFo+Rwg7d72P/ODch
qUTUpV/QMsKWCW93PH0a9t/ZmVCRBYpwbkPcajZZnLc7e/HuO+ozVr3gViJZpjcJGuW3qb0E27xo
LJR883An3dS5AlEYHeaxvSyIse7tFa9FWXfLNoa8t6em3lwPnhdv1lEk524NPyARXp5j2X1qQ9KZ
MZ8/lCVK3bajnf04cuQ4XXKmDR+fxrnwdmUU3CKH9DgQj956pQsJEHn2h1mk5aGz+ttYZ4+j3VsP
c5LdL4zrVbRIlxVZ3ILBWnFWysHnLSmow42aenWQa9/tBNwC5I6ncdh2YtHPIkebG/bDLB5b5IvV
1ZoNerzRvR3Xe5fTs9u46eLhmmt7Osa/dK61TUaAMuM+icJmfVWmdmi9nXt30bvU9wMcE2QPCHTK
K5+eSe4Uhdj7NNj1CfTeK+l3Ktut00o40+eFuJ3wImZaUaffuKSmiPI6XfkZi/gFAdpxbe/cGlmv
HZap6xuvGZc3ZW0vVz4uGJexrfpjC9MJB1FUamGb6Xy6olQys/0X+LiQxw3k3Pa6d0p2zSC31IvO
gowy14iotx2O3ka6fvkYrGN6VdplTxNagjwJ54NGrPtT62I8BBxH3vc6aA8zAMGD1w0UwMqKLTZv
PQYo1/lySOw4fi101GBvWQ6brsl7Ao/SEyfT3ZywoJDjZq5HByom3ZgZn4HGu3TNWCb7gbYzviOu
HsNgw+llH2TP+bYJcDwC2OqPAOYRl7/C86qKd3QzJ/qViR4vYD2ts4XANcFfZI/5xqbBdudISw1I
Sa9teshlG2KCQIFvl3gjLmX0T971MkscJJLt7AHp5vYxCzMyWPgnCAI6kCT6NFoOHUkaIlLJMuEk
sUz2Btsdv9/4nR7e4Jgb7iIqmddlFpQSz6FFv129VBxUL4/eEFGNS9dhJH+vjNJbniJxjs/AKU6t
edpYaEPv0bwrb4WGbG2ioBZqFKCxM+rg9huqQhkARPh623j0oOk1WlQT0wUh/7Qbhrds3iu2W726
1KHzQfhY12iMAkuS3DFq6V1RW0SqOU/28zBiHtvB1N0Og8JpVaikvKuA3jogZZJxP0h0PyXWAeFc
Dtfz6MuzSgKwFRUws4e+6MYcbERVHEWlun3IS7sKxh7vtaIS+tMSBcn7kLj7Geyjf4nA9ahtqif/
urcJz3ZR7MThTUnle+tq/+1Qev0bHdEnU7EUh8Ja46274AnduRrQVo8P0juvEdO87YOmg1zusw8U
bniD+4T+jA2X6Xqlzgv7aXqVzpaz19R739Ls6zXpeOlHB6tNE7yh7BVVvQElXI3FwOPo1N5eqrna
1NrP93gU0B9fKGGCaZsuqz/Nt7qP58fepzxDLXzZZjJ38fBukhcNbqDFNKEWBydFCHPTOE23h2o8
bMt6SY1Cfbu3VKIOLoS3T27lLtdNn663AUbAr5rZ8SUeJnX2pR6c/ims7OJt7NhFvANyG17VOo6u
UgBtV3aDubHPfL3YbawoRwzzdrab+uyuNhdYpUUtSTR7XfkO8b+t9lJGKKb7Q5KzNZfVYVaNPGaF
VZ0Xm3i8CYv5qUZiDbObDtZWm92lMJg2GSY8txkkygubxLRjAbJY/MkUDdj5vLwD7WK1zZ6cX+21
cEpcOybdbmoo+kQMIrs0KXFKUdrIg4ZD8THJlTT92wR/QqA2XyZMsz6Bw02CbVOEy80EBMA7zJ2o
D18T2//WAP5SA4BsAl/vP5cA/k/xK4/l21/8C8Dqhv9AxyWaNZpkgq74v1J/8Kn/CKPUBzXKDYFk
0a/6nvljUQqBiY8jYPIN9vrvzF/yK2nDbPLo8QlQrOJ/k/mbXuEPHSNzOw5CKcIxMlbo+f5KBCNh
1CUGuOJzYq9N9qUo18izdzMYyXZAEBPDldeZaY0deo2M6LbvtZQflwgpvmunBu3uHhqLDYLDKbBq
mBZhxEa6CYqcklhnlxbC0Z1ocFrBAWOJJ2tLwN5iO+YVo17B/2Vj796h9tDA54jtxpqfEyCC3R5J
tdh4llHsoy24jmiyHr0+TltJlJFhwkKD2xScD9WUYRiHQ2MSVdZfxEJ+UQcW1FaIySDN849Eu+zX
0al7hRA45jmfm36eyBfL2E+MHqnA6uomjHGZt8ie0qr80uIxrJ9QpQm5NTcZO56ncuZ4ef5hbt1/
6+X9CPz8BT3GLREPQNlDFlRSE4LR/3PPDezFUtZ9F39yyAjym0akMb5gYmz7FAymSmkrlH4KdGiT
J7iZkAECGfY3GZtb/lIvvW7bjT/S2oJaOFE43q9RvI67tVh4FfthWJP1ddIpHMH2agWWcbuuucPH
ylBgVkEPoR/98C9gnJ87owLotpmDdHkhWBkW8C+NWVwqltTKi+qzjSeNeiWr1KofS2L89f7Po/dz
B9hciIjKMI2lA3D7N+k+jQxeCAUp+kSJDr0imKZRLqiK2zDVFs/PxN3c49eQbDRdQWsATRf702Oe
yir78uc7kT+vO3Mn9Fmo7qH7TA3vV3U3StEaO4dMfZp6CGK3stEZ8r5daXEKX8W9WqX6yyD/XOIz
z85mIlCKZRKiAWaKiT+1n9OqyJtUup+Ql6ek9Bn3Mz9JzlEzMheoaZjHLrQax/Avfe9fdBPMlVFq
oZBKnZOhB6X985UzcMmIernlp74QAJ5OaRhVz4jHsJi3gx9HcXO3hGtkl9c15pTK3sspydfXWQ8f
A8vLgp2DjkIWleEDMYvviW0yVW6B2U3cBZoERgiAbX9+P79NSUkDHb4BOAqjWmaOgB9Hy3Jii4qT
730sRto7etfqxsIqYgrW6K+M9N+vxcSH4qjQUpWcFJwQP17L64q+C7O8/7gQUQYkhzjWTI8RMHWm
xJ8f67dJgGOQDOnWGxEyGGa/7B5OmAfu4trVx0oPHYPbWWGefZkcbcm3dV2q2tuhPVwP0V+u6/z+
jCEPSFPR/ioF9uu2FWEZtTSdtD4QWjnuukXnMsXV1w+apLO3jge6sKDQJHIfc9KCFuqu7bqOdj4m
D+70lJbr3FFFDZZ1+BBXMB4OHrRGfZGlFn2w+8so/QITNfhQyrJfXzz+cgFkpp9fiYznpivHrv6Q
BClVjE2GoeZ636ul4/2s2ka0+Bj2Ta9uLfBjzI++EoLDoFJas1mGuYj1R95lmX1RsDj4hhT/RhKx
yRFEp982YIGt1gTVcYzV2z4OQ3xmySxzXjoVYIyWNlU3KI7hCmdI3ghlKrNFWz3CeLSa9VIED1HS
DMs7RD2Bm2xaCj2MBYktlGsAH6lqs4MrWsmMbXGwWO4bqpPlZzWPTuoAzo/69Z4JHcq3iE2x4rq1
zrhHx9gIAVurRuctFoYNpnYj1jDr63Xw/Olp6lo1PfaIoPDZpMpYExvMm2remQtok0sbSduc7j1G
mGwqEQJwPIxx/QFHqUlaKglGL3P5pHLSiI9A2APVd5TTkgwPw+yXHGa6XVB32fbEwLHeZ3HIpTEK
Cvn46s3malaMhOGtF+Zp+64NUjmdIjG16U0hqkAfZ6dfqkvSAom5GqE8MJeWIDJrOZ1SR1+CqU84
LO0IFgESR0Hksok0QTtQT8ByvMlxn/r2ADKDJTpvKvSWqSbYdmQxoNKumH49Ep1smAWYTQu4fx8p
/gWlUJek0g3V1399R9u0Vrf30kiC6mPK1TOuRskqGYPRSzWXXhAdz660V/NM8bdRFXk+M3IyIHE3
TgskH1f4y44YXGPhaK7oWT5Rm24ixbA0Gq9HvWPrMtOlDgdOLS+vKyZNFqmsfARdWlN+y2AGMF0a
THJZU1MVUrXaxW5X8M68xeYLgQI5kX8Y4iEPvCtLLKn+2JbLxBjWC+gDDLbZ75FvCgqkaqmw+GNQ
zOeI5m2ebuO1MrEbuHAEenYaVLh5iAx/5uWm9aKpivc1eAzu2HcndoF9t3oTD1ODw+ZOaLcIfooD
r/Wmq7CfUE7Y1RqrxGEHqSXgJysefHbjzq0Hbknz9PzHeczMvYgQnU+1Vb7PEqSOkjNTwK4pcZqg
k3N7WZkGJm6LYKymtz2ILZiho+AHKK8aFhSGaaEZ43YqGcFxmTHG26yBb+ZcQQgoTtmAYB0cW1uZ
KWpC6+mpCSr+t6VjzwL2M6AZt4SOK1GGmFPWue40dI/NmuQEYllLYYclLeAo1TSdhMObkD1xY0VV
0/GmJz/NXUYhgbPU69O02H2GChtSGHxhC1ad+1uJxcys9lLqFLsmp4CGv19QyKXbZfZTmMg0nHa0
/bCARF6qSPA0Vjala8pyjXcYcrx0aI4la5HQarKb9V5qvTD9AUQgSbsPSzpoFUffXKtbJeVEvp7Y
A26TuLFnXnpXO0kaYfOZjeYNV+mkbefgspYn65z2mCji8de19A5Bc/W9NV/yqAe3eIqsnnfTigC7
05eKOhMPU0WZjutXYUm3r7oFxxtSBFV2Shdvz0bMdrMfvDjT+KU1Yx3iWEfcTrkoctWQnCKoyQZl
E+Rss+rjCqlGJGaz1TxzCG17pe3XJUuSxNd5nYzYXQwg18zkSTOzpfjDrNvmkGugOFAnxqVnDkVe
2ubxpV6xA20OVCHGzrmllshW2bcoLmMSm/M+KHzaljO2t72B92UHiK4jb6nCN5WzoNblzHeFNPQY
pJHBZ+baKT7z08Gmgs0nSWFafjdgh82+BCetXB7CITMRYSIA9uSbRqBjPV+GxGJ3mBhF1oLjDj0T
amo75KbPvP0WNZlAx8z0oOhXbjxZrJFLCwcP+ebAdslxNOnG55QvI1xHkOUShTlkB8zZmI6LksCe
OZQ7zf5AK84SdwuVOJBLbFFSnJrWWAbug7qrQdaUrolWbAufoo9lANb85nsewq5vBmeusT0Lj3nH
rhru4ySbPQta2rp2zQbUawwMY8ZZV9iU0V5FLW2oS1pz+GsgX7PPHftIyzFKNa0+FnY2roTTp4BW
MiP4fVqX6Wx+p0XtMXHXFPCm2qjaMtt9DzBofe1YzEpv7/ld2OHYqLG6Y31aFAeHrQgilGo2M/Yn
zS2MrIpibZh3g4UzqqPVewwNi+6VXS7FE4r+YcYc6nC2v1JVM4HCqKex+diUnDGXLi4tcRNxp0Ci
qibF6ps9dz0Axa6LTyIr1u6RZmXZvcyrU8x3a2gV9ma2iqG+NB4lQSruoMVls22FJ/rxgIh+MN12
bRIt9UZRLYYzVnCswgMZJmfb8o4o2tYLhS96LtVEgX0bLznVuc20drMuNgLGnBtuGkChwzs0kUfx
ShUIB8Q0nES+mE61q6Oa0hXPHzFPoxjnwYSTrEA+vJixIw7TYrW7Q+Suc31ZWBww1Yf8ZrYBthym
0I+9nSRAW5/iDLQ/B58a/Kte6zGApDS4DgKs7HCaAuTQhzurdn38gCmGIW4I6vLku96wa2t7Xi8R
tTr76Mz4m4Imoy04IN5SYA+aRJ607pu8LsUzpVDsL4524+umRSYfhcsnlAq8AUjXUFmPAovg9fWA
JRhQqk6p7plqY0yvsBjoazXHYJExdlY2JqdqFy5rkR+jdMiWw4pLewmgLa89F9ZHt/ZtAFsmC6pP
CUzIacFIdNDt5zCTUMS2o9/U/sb1ejnYOD9DEQ12Y27LQh2j0spxy0atIcfuU0FGL5ADCZCgBeuE
lS84sZ0jB9OKVt6AneUt1Viqhfffo2+84yLlPM5xWQO5QJPTHKhN6dFgfp61bBqxa6K5iybiKTsm
RqH8K4nGIprRzaEDFsf8r6wuI4LqvGUyxwreqGZx49FmzloOcJZDIqBE0DuTtokwU0tHTnTIdDED
7eDBmjm4rG1sEZLKpJ04enCEzzhlhgqy83rUvs93HkZZm+gPmKXJHPzMWblbLdA1DI9jW6bqrURy
jFtxGsvPjYTZQK2hGVvJNkmDnMjetEka9yhcuvVvIcmYKDrUc8NelgGQZtND0zOaOcPLXiKK4FRq
9U6hcPGFPVUuebZ1LsfS5kGJS6Akb6Wkcc6GSC2bM3oOPEFoMutwYICayjcnZ0CZmTvt4gRG8HH0
V79eX0E4bPldHYWQ7cg364i11NNl4/6BIZt9Mgfey0fczAm5oypqeqd7CbvQxKthNLHbuMPYqQ+Y
YlX1AdkVvwK+R4/FOQxNY2KpqvFNyJLQnmOMgKOowfkyWr2m0TcXDl4aRoGMusEG/3UskWkxd5Lh
Zw/XJkT6Wu5RfWlOqe8nmHBqxhH8o6lY0FQ3d+94kcVANrHIQjw+05KkoxgtBpZtJjN3MPZ4JCMc
/n0k1pYltBkbbyUi9auEb6xLqG1ilzsYWOPqDFqGIUtt4oBHWWJW/LZAxgNToa+vkQPTcZCNscfh
KWijhSf2MihW3WnsJ9/pbqs4n+bEQC/sKHw35b7MwNI1Ki7nM6B9NT2tQKh4KgeJMIpPXYdcSHJG
UNIEFfaQpYTgs6tNThwoivZvS+p1zrJNZ7vzB3qNLlFK7EYmmp9qwHTyZDdxPwX365C4dXqtEMfh
fvQKGqjfe15n86gTXbUJFKAwS4Q+vCl4VVnLB6IJuPFL5gCAfZu2jplgXjTCxDu2ro+H+C7+drom
0xRzaI71TKC69Tw6Kk/K60y8OSgzH7FZyoisbUYg+wLiqeIH/rv5NFEJ5tRzEfgcl07CfblY5fom
NMzVGJtg3mvM3X5bHvkgeS8oXNW81K5n4yuvvQXP5/cTptxpB+zfz9HBLFvmAvrvmpggO4gOIjHs
6MoNq5tydmKQPnFBT2q84gtKj6CWPivvdrQmKHH7au14BLuZUlODQa4h24VTTcoX+2HavUw4zwLz
6fOxGdhc9Cy8azE7A/bckXSZZ6XtmiQwayQZG6I85oX0gu7tPYkn73nQctUXb3bJn5SPP910XFys
NF6mBB1ooq5vkU8f2xOxRl8HHU+bIqZDYPA9Iw7WKiQwWOLYJvtCLcXjp5icpcOLGtO2j7iMt+u9
bU22vfWgkpGOQMGMe+sUqMYbn9RaeKO1tWaH8bdAHpiYXQUmCuuwCWXdgV8wgXzc0El8itDr5K2h
7WMqEwt4K/jG3SQrYpRQ1utrRt3suEj1kDKeWx83ud7kD0wnJbk8pb1oNVtlw56sTo2P9WkC8mBh
6oNQdRJSlTwgjvq29KqpMKFVYeFwixpci3gC+uwTdAcmRjWbspgVedpMSXjGc3VniwUCOwOCnxaU
4RBDbmMi55slTrYcNzcowQiCVz1n8REZlGV8UIu/9lDQsGA/Bb1LTsHBZgniA28ZJrZOVeQ1XxOK
oWOvytrKRKK03NjFt/O3rBFTrpxV2gKCYpMi4B/Vtqcg5xoBv8lkgd8SiyJazU3X6wKhADQu3V+6
/MFKxiumIGOikyTZzH78QSpeaQoojVsfMaiLSyOTFw3D3loQKrjxG4ojfHDVzCjt5mbDGniNVgKo
EC+4agPrGH1BGPpelb94wHf5Qv1t5wgX1KOBoDtAbv9m/PprSZeaEUKKaKbT0PElWM6fa0bBUuMu
RRvwwxINJs+cEqtADBtmIJyXTT92PO9fymq/VtXMJUlPv4pour/rtOumqgJ7UMMHqWbTvfk2NcAD
mlrln2tiv18KgKgRCzANI1pTvxQp3SRu1onqxIdURGZ/ArPlTQSFbNbsXX++1tdq4P/jMZnyG6pu
+MHhSOYBhv+1TNnbYDnnIvc+LF45ksiMCI8yE+UgEpZh0pWIMe5XVbNpjJWQSDqMU9Hix9cMLnk3
VQjT2UBg0FR4+m878/feR9XFJkWofCyW4WljHctPf77934YKhq1NYIvEAum4+6vN2IKWEyopvnwZ
UmfhPjigTFrI4UoK9edL/TbnwO1iMIKUJZ7Dv/uKEkalLqKHzUuYBN6oT5EOMpCwq2+WiIri+a9T
7tcWisOL8ZULzYz6uAtB8edZ3sFCDWJ6BS+NSMweNSwstvsxZWd//L/snUlv3Eq6pv9Ko/c8YDBI
BmPRm5wzpdTklGx5Q+hYNud55q/vh7YL91iuK3ehtxcouMoFS8kMxvDF+71DgC09S9nX1PsUExN/
/5payqxv2e0y5/j+d387zHRNsWVfbFBslpt4OyNhoI79oAP5GUyCq+MUkqP1xcvVcp1//5PejjIW
BybfFr8VPg1w7A1qnlAYovyNxWd4hyo5t2W6XM0j3Ns45ENrqRrf/8BfhXU0aAjHAXamyevQ4QM+
+nWQ29ib2Uym+nOd0ycKt7X0l22OTXHivfp1lY4CpUUwhXoNiyHkZHz/Ab67Gf5zBVJqSQsVIYxw
TDt/00pyS0QWX6r8cxWaU5Bv6WXNcFOqPNTx/kfZ0tfhUhqT673s3z9BccPBwlduM5QfnAvDj8HJ
YmeBeID+J1ZxAQGd28Kc4gmx0LKGwms2nmwND6M0kbTs1mpwlsMSikTRF5vQN1n4aPboocebVnWA
R2KoR0QTfQJEh8Ysiaz2GNFahhFWJMZSWzV9s5RdRm0pbjFYKCzHuVtG1DaqkcsRX5Z1yWOpHwB9
Q2nPrpkk1lI0xV77veKzxFIs+3FGGvPKhLbC+HtBXINMWv2ICP2KNBpg2feH/7cJp+wlwndR8mK0
8dvU7rhZhIY5T89FWElq1qBslyuQntulAvgJWb//kcu6/eWFs9Xi2U6PxoMLoN6qU+k5QTFsvOFZ
B+iV5bbDizo5I6a1EuPGbEyeAKa57rhEjcJfikIjzZanef8x3n5zKV0bUwZ8s/jaNN7fHKI5wQ4D
7zJ8TiDiZacoQyn4iIebVV9bTfsHJ5y3Owjp7A4aarQXxKmgfrB+XWZ45ARRWDbN574iBurJidUy
LeK4XCqr97+X9WZJ89vx54D/7Co6b6SPvPliwTCaaZqjw8qb1vQ2PvBlG+wCYFRuulE8cDqsaHhn
/JcCsGFejgQvP3FZc2pvVQLrAsFw5Vn699gnpNShAucrKmzyfEj1gVs9fQmLOFxgrdFYYACvdQsW
Ye+5C0ycZHRHLr0hJF/OSBzOoiAwlk6R6LNlv+ZCkIzV0UBbOaW7vDAD+/z+ILwZb8aARAVpsk5t
JX9vBDtO0OrM7cbHLouXk5loi2XJkdnBzfn9j1oUNf+cz8s7ZfNCM0PM2GIT+2bPHooSTFXY/sWz
i++f1TlAp0lfLaV+x1bPFvSj955C0mEUMOBYUNKff6v7bkEIjMFkcB1bLXgmd8GSnc7KGqzajkYS
d8Z83bBUXTpYpAMP+0l2XJi2Se5zPcbdabmW/Gz80S1amkgGmbusndkz0ajs+gKmqFzNTsynwHOn
HFY/LuS9AAFtURKEy5uMBVXLsFI9G3+xaetoAZZ/ttBYkczdmJ4H554PP45fOAlcSIs/nLfer69P
KZLTlGVaEJbQ6hO0+GYKV3yD3oM59yXtpfoU17lj7SzaowesLEobjD9sd4E96qvJQ1q8KW2fVBEr
SZ/6IDL7VU5uEE3TQCIcnYgrdMO2eiRNWzZ36YiGbh16vXWIdHyPAtf80qM7LDHGNELY1Spwb3F0
Lq5CHJDOnEjhzG09RNVpNLH8ONNH7k8+OhJnBQvOtDeghsmTMRstl4N0hL7e6PrO5lRKdnZqyDOO
U/2mLadqS088fQqhJpzS1KJLEJctcF6RDLTwWpF+hgfgXE1jgMgcgrApNih+1cXifH4pw0I48L3d
EAgjaJq9Fef5ZVCye4qkDOFBmYadbwxwu+ek080rNr/1B9duGsoivzvEYxfvaBNM5TqnXzRioqsj
Y9XZWX9K82LbDroHsAnj+GOHmxSoud8lm3aoi8scd0BiNnbdoH2GvTZd895uJ/Nva2qbzwKN5WPY
OXirjm52lagm2trRFP0hLeG3CUH5JWktU6nQD/qtTO+cRhcJAvnXKscZdIWHNtzkTAr4YH9Yzctq
/a/TianHfQrHJsohRHJSv71bjRgHWT10lVcxFEwlabGLrgruAdGGaEn1kFuZ/xA1PvFwZupo/IT7
Mkr3fYSQbExb2FBw2Nzb2q31Kce155FjqKF86NL2Kcs40602x6jdaoV9b/Zx/i2DCnydg1re99Zk
4SHG9Q2jCHTVa7zZbmVG/uYKCbALqJHQokL+Cd5U6+k1LoIWhL2rdyIg2M0cW7meuVf9RyXC9xH5
PvqUaWSRIEL49ewqgN5U5QT5K2tlvNOWnydbNy3amCVjuo/vj/+vm+mPD1OQFJcSi/pZvjko/RlV
PzBn/uqaKoOfNZoXkYNtr4j1O/e27Lh7B0V2T3tWJX+ohd+Q8PjwpQygDGICSM7otyUBQutmtL1p
fiVSi1kWRjLcYyWRHsZ5fMmFTp8l1sGbzgpoelS14R7snJybzftD4CwD+ssUVAtZEwGvhSiEY/zN
gSISP6N9EKrXoKNxAJxWJ3jsonPZNHRJ2k1vI1VUWYubL5KljG5PkR0KcKtzX7ooslMVGLezCOyD
nJESolzUn1Gu5A7p6saZCGB1PUl8QWUmL2Cg6W1hMDuxMazGaT23I20Xohn8tSq1eqBs7Isd8oxv
kxtHN1KV0T4BKT4gAypvM6dN203hN93fUxp2j6ZjJfdG7nFAuKMYdtJqh26FGXRwWYJk43VYmXyB
cMSIo28DWgAqrmIaIZyJH2zH8K6jcLIX+Xbuo/1PMEx+f3B/W96MrQ26QDgGt1n1NlkHzxLaa6by
X6vIdm6MSsZP0J6naYP8m0T4YRFtvv+Jb6IomFVogRbWLXwkCQXvbVIAITppnXF0fo3L2D4Bm6EL
8rvJuAKojHc0Ilp2eieoX0tppk9RMLbXUaTNe6PXcveHZ/k3U4tKFE4vlCxL/YYcSYteWzIOyVc0
wKZa6YHULHgEE32pPP9K1a5e56bzj25u/D3hW5zDT+zxrPnDY/zKBf4+JN5CcmWBY8rN7fPXLQUu
TkOQnEq/+pmL1ZvbhNOdO3dhigTLJRJz7vWlqvNuN7mhvy21Pz6HXt2Xh7CZxeUPD/NvpoRnL+gl
kxNi3FtOKArHoS/GJP4aKNP9ULmiebBS1HkK6PCKI6a76dKqPZVoKI/pKMW5zRVngkrbEUuN0IPy
ikHpdWR08hvc7MrBbztKPrz/lN+TW37dFLgksPkSF4AdonhL46yHzGm8gJcUkG2agrgU/ueinsN+
U2G0gdu8lYBNZSSJrlpUdNMGNaTDeAXRBoRL6zWtaswo68JVmLWnS2jrYjWbG014TtyoOVRSjjdu
FwaIuVRgY11KRjNJz8IKwabNDKHmEvDqEe9T7g0m9C5OWuOMPQPWkYBQxvX314i1J4VI7ETlLhio
u5DeRMl1RoOeu4DMUBkTrI4peI8Sd9vTrn4iSHDaUkU2H1przNFIprImbxKiE3sIjb61C157J3WU
0yyH4okkeaQj2Lr49iC/UeV5QA2HtjMqXRjRnlWII7Siod7jm2J9xBsn+tTlQ/vNjqwIkK6P/T9B
luK3Y2uJPZO4LFhLJPRv1+g+86dMV3b3FdS7Ch453Ryktvg8rLrG7G8st0/oKTWz62282im+hbOp
ktXsW1h9SFU0T45Og2tTDcmjVdsdHRJOgR1xYymLIYgVrui0e38sw//RWVym8uv/+d8vr8SvbKKG
S8qX9p+OCVDATesfy++3yJBz1DTLfwg//Dc/91Nu4Xl/CZO9i139h3CCX/nTUk2Lv8CicN5abNZ+
Ci2WYKB/WSqYfwkyQ4TGFpRrqsI29//LUoFLEsUqUDkXUQrWt+BCpKA3J0RAH7O4mM8qSOadYTXW
It5GU+u0oXlocatFkCbaIF6JCmMQGpdWTnJmgYUBsrZqVQQN3t9F4pJjoAXOyuvEt8a7OsJoV01G
+TyXeHRbmDNGHSSKSE3dNsf0cytFO58haKDH1ppYqykkYfKmhyjyVcVAxesqiuZdHUrdQHeT7gM8
SbWuYx+T2WEY72bF85Y4gu9Vb/unwhm5/7jUA9c8JsapMHfKF6mRPXqmTjZ5Z8jjhM4a54HQNvLy
kE5l0NUfhD93xsnjBobJrUHO22sfyAAtr1aG9WT2fhBtsy4Y8eVNQsN5Dk09FfhSD7oNrwr6KPhP
Dmxrwx1dV1wdVUCnE18rI/R2RTKJAKqE6e7MNMkqGxF0Zno7q+lbEzMA7i5HYS//MoAuqT6NdVLm
e7cy3VVgQOrHJCEkbtUXjQo2AqhcemuRuCKIUHq4Pt4bK3pef2fzFNz2Cj+4wpzTaNUomGIrgTXe
p7kbWwOi1zCSpVGpfefO+PlC7eSSUn9x4qq/UV5sNqjtA3lIXSnu5wgGyOD7/SeSkLWn031WZ+ZZ
NF669/SurGmHkQHnVld1NuwquyrvqjCxmDAlW2+LI83icIZeH433Y1I6ySfEmQnnXo5FHxmP65Yo
hq+L586D17TjqtJjtcnJ79iFuYiw8tLyOXYWXyxoxGhocSaKdN6ebJ88eyFS7FDj5L4fW04DWFJq
nQ8V9tCDe8IO4Tjq6aLymlRlAkGav50CzXBGbPxmlDI6JoRqbc2hza6UmTbbprSzdYjN2GPR4zZa
GSLc0z/VX1zUz5gv+HV81xtu9RL0pK+SmziZN3ryZpgNsTBOBGLyU/hDmPc1/tN7msrzk7TSS4yB
wrPrBthyWnbyJbLchXnAorIHae8IccN8PslQ2Fdjdqzl8HWhlb7MqIO3uixM/PnDoH2B5LONZ5rm
iNvtVVIOV70dOrdp0qQ72c+0uHHZKQ51YCdHhJ/uGeW7eB7hvN0IlaNBt4b2CG0/PaLN1GucN5tL
0xXcDQenOCSU8VcDpuA3KSS0QxaUzn1ZhgIbuTL+BIweP/NG0/04dvKqw5CBXmde3iQEEH4pg9b1
QfkDdYpqOd9VTttfZ20F3TAqF//z0lMP6EUyvIUMybYix+jsTbW81zOM1NXAkjiktKGMVelF0Sl3
A3nbISS97msZfRwbE96kxJH2XCZ9dIZVXF2wTx0+YKFdnmQC3E9AgH4uYE8+1b3bXsEbJths7FR8
Mmc1WzuRhdmdY2r/WNLS3ROAFmzMGPOjuuqdbw4U8b1NpfZxjK1kE2jjmCdkI7WOf07NIgf9xIuK
G/O4RWN8tHR5NTkmTAktV/g+dq8UBjhgJXl6WPzPV7lTgnaKpt/XUa52VmiSYDhiql/6xL0QYhQB
26EndnN7uI8Lp7oJE4QhRd1hlzIN06euiOYvji/6ewbEv8WgrQMzmsS6t4dswzrhtpSN8WFI7Xhf
2jFeLllXJI+4Fqd7XjurxVjyZ1VSvkr0zvvZy8ZmNfqm3GJVZYNF1e2dEshSoPBP7jomHgbXB8f6
hqmZNlamC3VuMicwfEtcSnh659DP7sq+1TdIzoNPlsf6n3GX341yMvqVOUXm2SWf4KzbRN8YRWbd
w5TAiEw0k75GUpPudYpNddVh/iBYqKeuC+zNbOssW/tDOx6jRASnsojzTeC5kJ06mZ+hea6w/GCr
ydP8ynCd+GRVtvjgQu9ERt8aSKdpzn+Bq4k7xGB4NagXSuFDM2FLn7hE1mGjceIs0VipFBZWdX10
TBsn3VcEXV8ExDN4Iq26sVpU0QYsDKhDU1I9NrT1b0ZHzee+KY2XsuhwNBZieEijosIKrmgU0QzD
9DoZBaQZpOPOIc+d4WQEWb/3G0EQdVvLk5Va+c6LquppcJzmbnQmH/ZnP+9lNIb3nGzls6u74m+P
+8C3KUraFMoipnlaB69DMsbgYLPGaq8k8NrrAPYaZ4MGCMedgufEXLExjp5I4oFuT9q/lJkn0nVv
gbjjHQc+m4Z29eSTgL6lxi2OBGsiN3fcOPmW26LaEc1ZfeRG4Lpbuwiyv2UQePu8Gv1zJ3zvqod5
vkrHuT6G2jtoPE/T1WRxvq3wWEpvWnojt4jcm3MipnbboZw4VYXRnv3WcDfkIzs3A8bkOADm3Ufg
dpeoDbJA1w1mHt6qkUN3D+XJu55hen01iSDoVrpDvUYURhVcpUNrkEDiuM8VDmr7MTEKLhRYMufL
pl26BOX55DybXnGrEnwgyLDN2ZYwhcb2ZBIkYiHCVG3xfU4MESpzbVTrTGB8jP+Y95IgId2ZkXyx
u6Y4G0HufPDwyVkh/ZHXQ6tttsHJuiN908RELz8vL/BUpVLs5xa3vimPNjqurHPntTHxIaQ/1GFe
3BWBJR8VrNftqIx0V1WFszfcOC8xEZBbj4CtTZpgpWoUsjxOs9ncK/xFvrQhBJ4VcVbzhquk/iCc
uNyhxbd2ZliLi+PHoY26qLTvMDZEs0o7T9+nQY6NR8ghO5jyGrnIwGvPbPMM8HuGUzOedGt5WxEZ
FSFvNKpWaEH0AdRdHZQRwzlOEcfj1tDclXNa3iVwOw9xaFmHUTo5HdDIWA/DrOe9L2r1kVrAuozE
qXEjQYr2zcuM7jkrPGfnJ+Unp0rV1oj1vYScQ7+tgC6+ok5pDhZbXrCK2zg8IVQyAAYsPGNAV6AE
K6Oav0TIlyqco/zhZHXjxik43iAYBUxNu9llceLcQV5MENlzWHdQg4A8vFrFG4kjZgyRBpsiGXTV
BsbtE7GI2W0/EOW89mfTJrpmyne9DRSdtgQ1GJFQB4u8hVuYA7j+myp6pkBzm7URexQgk3/oythf
B2GirRVcQJEcYf/CYS6M9I5GDdA/7GWge2UWlK9YDG3JQRse3BoB/QB96eiaU37bJtXAOpFuzeTQ
6pXCN9za8P5AvthWgJUopkcqVSQUljl86NH9P5pJkT7aFjWgHTSzvXb8qrotk1ZfzYlLtRI4/tFU
ZYdhuxlLc5UUnGArb7HV7/p63pB3F58gTGo8JnoRge0FujhklRU0X2UWK+jiJJdPZKqtZOVd+72T
bEZsek5OGlb3rtHIMzke042uarFBqYSnQlCNpzAf5sXjKvjE5fMqtt1L4EYDGGZ0k0eO4FvapyxR
4jM+8disTIT5Vr6LxQqI8ycx99ZxMtRyXQ8lgRtGs4W4+UIs2N+RMu5pxsAbDXt3cTwPV5gtmRh0
kCBmkj5KeCCtRa4IV1EqMnTWwSOvRe66ycONq9EdtowUN0Ya3fZ2JLFJsp9FY8Mf7ttuAf/STZJ4
hBVkKQODX+sqzSY6ExAfASfs/BTQst7lnbcLg3w6eVF/C3ZoPdF1BDWFJJXRq8gBx5UFXx/u+NrH
WG4zFxOAvp3tlTcOqzmK5fNkWOMe2icaQO1Br3XU7ehiv1C6eXLOmX4vBpnQULH8S0b35FAa/nRy
rMY8A1ZEmz4Y7PXs1RxzTRgdo1J5u6lp53XZ+A4k5Q4/zQJfX5gJnOxJPN06Jl+OtPktbiIZ94Sy
hk9bYkPyj1vr3Q906J8S7l9RCXTO9NiJlafhjPIXncMbIDn07SkldiY6xng8UMKNxCXUs8cu7XQJ
ycBmXn1BgeflHNnmn9KSfu2v//hw4DR40ZA6sBx88+FzlNculmjRUYxF/WWmiXdNoyS89RKdPLz/
PX/tDn3/KHrr3GmW2+/vjIKoimIXb34+qiT6cMsaAZ/PEfl8ff9zfgt9ZUARNdtAlovozH2rn02K
abLrRAXHDretHZCkfXQJjtumedTeYZeZ6Ote0zjkpWcvpVrStIY5CG8NP1wu137I073/SL+/YrBl
um/YKWLgjqDhVyS1M1sSorhlHIlenM+wjqe9RMtCFkaqSc4yg7D+MnY975m4lh+Nof/Bj/6EHzGd
QbT/e6OOm4JsuP+1fqmLNMp/MetciOL86L/MOp2/aDPB0/Ag4FjW9wC7nxCSZ/8l8YKw0bfYNDy/
+3j+C0ly/yKWULCsIIHCi3NZWf9CluRf/FOxcHk0YKR2/iNXfpzqf+lEsbBohYEpwdFZpMkYAvw6
uxQsjQzNeHzgoAmpCPAqU5u5CaphY/U1KZptX5oFzWcVukffQuV3zPFHQ05HFyFfW4OL5EXOI050
WHgEFQGnBXwqAmXzDOelUDZgeI53TdqtfWSPFDfY89rH1u6ERbUaV4R0ufKIihZYe8ADJ10lKbs2
ubjetQ794jnHUei5NGf42GjbaNrh4+1do+2xXwAPxE2mMyNHJxW47qorLK/cW5gR1NsmMZYfkT53
mITk0TuravVTB0XKWg2lyQJC8jY+kCOunzLIlQ91bMmjn2R0nGU5qvo2sPKkAK6qC++El0bz2tB0
uaR5hg2SCJFEcOEkKKO0ieua6Bt0axrzfI1S2zXVtBXUB9Ri4gLG6LwoaxwR5hjdQfahfJwHb7zL
ZYF5nDRR57hZI1AcQP9bsav4TzHYdwS5OSpxrtIxfACCcZvXuI4Ygdym1IuatHzGcJsW9ihr/pk9
Clg9heO8TAE/hy83D+CIgadFFTDemTKwLrGPa+C6ky6kB1ePfGs74TO9RJbPaWzy3XXq4K3XUbPe
uFi2XeXQgW5kYsTXVDJiVaP9Psd+1B/R4yXHPFL8jDKW8cQMA0+sbMy4XzCv+X9+vNAUcVG9CSJf
P1nd8obh4qEfN+em+eROxTReD4u14WZMcOPfcFVKonsjs/gKxRTzWyjq+NNr0hRr17RjXIbYWPz/
RgM0cphsw1krQwXRvmozlNvlYk/9sUaUJHeY0BgFtc38LYTvQCgKEuWnKSXkZG4cPKZC116nfuQ/
zVYT34NPaps7VYXcRWTWJbeZgAveyKzNmOjJaJMrBRrJbwLa58+fqT7LJGpNSWwiBsvkELQ9s4FK
mzerZavkVk/kLHo2wrlzit6pQk7TMPkMC72s31ssPTWU7Ssn0xBsqc3FTQhGNWyUHnnBBQaD1srT
AbFxSVxSC+UxBeA60SnJcD1T1F0JluV1UWrEIor41aMR95ZcT4PkuSNc4sjRTfzxQZoBjdd8IGxk
5YuueR1Hm48k0JF31y/zZNJj+dwtrwjOkTxmDtdgTzT8srYy0SbR28ccMUdV3/d6W9qifK6pyZ++
T+HIUIxv0mDQuyx2smnLZ9/tx4dBdgzJQGP9bgSHuctmq7iyQ/KRd/BBNGCcZuBadK0S8ymPCdNR
wl+lubvMgGVJIAyGIRpBLVxP3Jf2YK/yGImoep5VXR8q/H3xmO9cccHrz38yYrMHtGrisFjRscnW
aa1YnG4x6S2GntEeQv3QY+mf8XXQBqMyRoFAm23iX3kmHUq6WSxycp0YHx+L3EuPz8h+Mmd2EOS4
xAiGhb6GcKav58rlFbbRxG8oCNFc9BZe7SGCICPrDuw2UBujbib202DWGzMt1cF1ahOwmcBNpxqN
jRyIPeTOkfB9JY6lw24mJAvmOYsCgLDOeCBQ5fEhs4ohfJiasTwHMQTXCMfhvZxYy2ix7aOXJ4be
ZmiNKBG4b2JiSsxC3LJlYDcgLi1iXUYws8eHkolOJBmY3XNi+tVBkwiw91E4XZRkzhPIOPg7KEP1
/KHRSAcOY8cWSUyQvh6ThBllaIsXlVqGuPjkkJV4v6BG2co8w/QPi4loH2Mdse9spBXrfuAtYcBi
vzSRxdYs/Ik55ZNO2dODnnmtdZM6L+agWeFjLsSl6iZxiZEFgRrUGe1FkqCZL6JpsQbMmaVwmlgR
mVuJmwhc9ZIhxkCvnpWBv+2xXGUlCuRVJxu5YbW2cDp/DRICsqLQYXYDGV3g7uinmmtSfGWXHQoz
gZPy7vuch1bLD5kt33ltcdeXvE0X0DXq9RNkcsX3NJdtrx9E1d73dGhGEIuG/a1uEKukoVzmo54a
3NQqTz8Br/Iif2xpcSOibFOqgamE+W3dHWOvqYxVBYhYk8JqCAhmrK40TTDS7waGF5rm7vuKy3rP
floY68DclVOHu+87a1GEwgVu8KonEck8x9Y1mJKPzrDIR1J7yR4T/UBodtg6L5p+8TZGVXkvwm4h
IUP9CUd9rEtIzDS36YKukPCyAxNJK26G2WEjI6eZFewVXokRa0gHILyFxYefAC5H2YBVREcJsQoK
sjpoRc/6KoNYBRaiMOtiSCKd3s8xEdxmlCpvzXU/eOIoRXjZYrxysnOTVZOgILopWJO4PrLFFPA5
LSLSZVW7r0WePRWBqE+QBTqThDRvWGT9sr5YtgesvhxEjZunF1LGyyvOGO+OGG3TZ+32EjBZRqtK
iPbGMWVx1XS0lnsMkR8jqE8AZ7n/uWqtrWEVFRaIGiYNQW6mApMfaLqLzBgObTsdsVUor4j8JJjg
zgztYq11S65rtyvhiO4MNGh3iPZWcaYw3bEd8+PkYr7KOYEhjn8UosjYVfH4hWLpbmZpdtamNEvc
/l1rzqGPtw4Wi5Udr8vCyg5CkGa3iuzSI8cukbskt3qN2e28w1VgOOGGmSRrsrexD7byMpxgU+DE
dNBMS2TRTQe5xsIL96qV9nzrjYugGsvMexWN1SEajbJdZYN4tEUPxMZN+jaaE++kLJ/ZK+yFVekV
eGfEJS4G5Wit4gRD9xpLzbOSgQnf3nDGlxQTmsdJZY92jBnmdVo19n2VhOD+pBV6a3uuNTbksv/W
TLXGAwcQtSH2cIUA39pWjorol0/YPQJOHcwef8ppxF0688oxXCMHSFadbOKzR/DpdGa83Ne49fLd
3A0+53hkboNoeNQaPC6hAbVX/vC598c1Abvqb9CR6SF08J0QKe5yMlExtDynvsckFvqSzrFiHLPx
S9xZF4OkQQCxpjl7UTjf06hzMFfsMnzRDXvva5wxSx3Z26BqLhWWHvGqdqmMtk2GoXuLkxNQRkZ9
MoTllhBcUguzWpwszDXomhYNngqdfV1I4EoGLd+iFXU+jC7JJ2NVeVtDz8kqZseCF5gld3YVE67j
nQz80m45BDAct/t8F3iGe0xrSaZcgdc4XuYHy2jqPV7m1KxT2QMx6e5AqxikBvLHc0NK1SYua30m
WPq+izIL0XVuPmAf7V0XU9o+4uBkXE9ZmVYrw1P83EDt+nfbQ+Xa+JZF+glaQJCTtvhEXGtLeddl
PQETcHEvVk3UpRoknH4aoWtOXgW6a+865Uy7uEiy44BA/8VIsk+jUSW0FlRKJFNdNztDMW2wPsUK
eQKw3Zt+Eq4dLyHrJo1wigXT2/tB2B773HktwwAnenqha1GaCK7xbDpOyCZe/Nosq41fNOMnKuIt
1XVNJRiZ+WZKzGTbYjF6Wbwgbtj5a7x0IKpg4Wqpg9mMcp+FpOw0FtkiDmrp4TrsDPwbUHQuZtSN
69WMXeuYD/2QpAJwL60nanFyNuOHyBdQ85Ap2ukB4WMfvLL5B7swtiro2Fj/+6DqsDtDn3yqIpD+
vnVDg42pjtwDwv3hySB/w+PYw3JkFXUC2k7ZcgMJq61y6wL6Ausiku3wVLpeepzpLmMLOyW7eW7n
LR0v/hqraOcSfP+IkNRjisussI1T5CyFHxtpFukvCAyD66DKbsK+bT6iTe2usto7u0nerDm8/A8Z
RvIY7DduvULZ6LenpKqm6GPjlp15JEpQtyejErNFWKRcfLK07Co8osVihhtwcfNv/VYPVLM48q9G
HD+8Z79K2dT9OEZ3z/aNNZ2/ctBUksmCSfLsrK3UNswV+lkTQ3JorZ189ohdrHYWjrfu2ouw89ip
wXeyq8pEWL1Djj4DdDhZ6zF7LF1vnY4aNKxDqi3EsRQi7kIcXUdVmU4nU8zjw2QN4kItijsvJHjS
zA3qs3/c+P9fsDdBxgVMQy7QELbst+o1Qq7SqGyj+OAXOq03cDTl+HG25675ROzvXO3sDP+PTZET
d+MSpMjh+/4D/A5WLaouaKQCzQBku7dUxyHEUnK22uDgjNrDSz5fuGCdFr51IwAqA4pNv9xHMgqD
q7b053xbuo2PI1QrLqjrxQ2qdKrK95/qN7yKB4IFCQHHBdf4Da/KZecXYWwHB2KSKdJHTv/tiBWM
piLzUygFFpVPl80UR0YflM/vf/obued3QIOPh3fouZTgv/Efc2yCaTPNjMmUchWK4cLQ1MSDI0O9
noUTbrx0ATx5SZRvHMVSfuc2rVo69lVp3dru1CcY0SRtEB6gr2LjVWHl8g2clzsMhNo/0dH/zUtE
FyccJbVlEsL+Ft/rNe4xEneZQ+73hIyiYcfLLnQTjHJq0mardV5m+dZFbPyS2cn0ULVgFVXIXT4q
Roxg8upPJOkF8/kvIuIyhC41kA3ZCGmN4Bj+FRMysK6YO+qGQx0vYaEu2Y0PLZDUE36W1IGesVx/
B8tqXkEt5bHsuV/kA4bFe0F3IVo3TbncwRjZ99+t/HcP5iL8AZYVeBy+1U4qfKXqDBubA1YPVKhk
FhVLV3IYajVSFckm/1CGqWcfJ0RA4AmyaJJTb1v9Q2f3kJNCNJ5PpjlxW4beQV0sUBbuDUyAtoEN
a3YXBQ01t08vaVUvWE+uTVa2kfmgJYmqR/zlAQZff1xKSd0aH7p5QQHyqRwfSBuHe9XHBDEvddwL
NnjMrbnxMPl2VMkN6P3heCMD+/6e1EJzRnQGhAjl99f3FAoss7FsMfYydNgDrWLOw5OHuIA5M/L0
bPz6Gjf43viQWzPgyZiFPNYEvevDqF1GK5BwhUgLQCEWpzb/k8HizxEBX7D9Dg9Jq1xedh2D0nRD
F0SHIgABW+NL1wfbAMOowzxlfDq0cMAbN5l6ZggXgtfvX/Z/kOg/INFs7YJl8N8j0cfXl7D4J4fx
50/8yzJaiL9MtMM0EGyEx64NNv0TgBZC/QX2Kxx70bUpkOGf8LOt/zJNE29VC6Gy88Nm+if8bIu/
uOhruj4SSqKjzP8IfsYd7tetxlx+g8lj6eUcA/B+ozxJhF91jvIxrYXpd6SRP1ZXuZrImDE8McFS
JsM8S2R+ws7UTT/MUenov6Hofg2pJD7gny+dNRbxF9cV48dEGdEVre8RgYTlAQ2WuetlJCn9X/bO
ZMlxI93Sr3Kt1xcyDA440Ga9IcCZwYhgROS0gUUOwjwDjuHp+0NKqs4K6Spb+1qUrKxUmSRBwvEP
53wHa1FA9z33Ny03o2YTR0B1XtiNoWoqSYO0sDV5SbdXCrzKVaKyaTYj6fG7pIvLI8pfcrHplv0C
jWDAbEMgIGKvHieGaW6pFh+z2uvhz+tjSGRcXV+6wez36OqbE9XK+BVK1ydB9fJVeJ3+EfOlhDuV
1J/aItN9MLbO0bG6V6tN16WzG8/pBqxVfF7meDroNfx6vijtWqZaOAVSKiIbXHY9fuuZkWp9Ns5G
oXZ2l7NUNZMxvdfi2HyvuGNJo6wDIyEkqktinZlRWd3AsxGB1Ovvc5B+L5M9zfe4Fa19bXrvp8l1
tmpVT1mqeBSp1hzE0JrXtija4+Baoa+nSXKB6joebSdO7iCPvXpITweudb21CaM5NwVwprzS1OeO
R+xxDu21bzXybyxSyZZPXeMbslq3gQzYVgfPTL4Ng0lAAXPlD6CWMSRECaPIpnaBexS5+8k0STKw
iTHl2lTvi6R4T75mclc2Nc/peCSlqddsGDyY3AQ9oG/XsmC5Pa7hf3mh2IBbiVc8yQUgzCbU4/q4
/iJfGkW0CNxJ7CDhkGcHaQ4N+ewMZ3n3SgaEuChrryvLmYOalQS4MkRQN5EZ2cM8d8t9OMY6kkTR
XGKG3SSR6pPNq1jV1sMwskf43s4bIMzJ0+h0+cUu6vkSz451h0Eh3WF7GB9SJ21pjuX0pYczBmpJ
t3p/yLT6V+TuKSvyURj7AnTdpV3C5DBBwLr0IYZ+8Hpj9DXGxeDndY0LgCdZtJmHWp6N2mPimfRS
v47wjjbY1NBNteCtSh/Yqkc4WDe8s6aZpXVjzeYus7Jm9iekFoEZxRhJY9P2Mw3eOskBpndWBXI2
SJJYpnzVVC2BE9MlaXhTskHj1y1z9xK1EriMysz412pYqi0KNO8AdtK5wOn9CoFah1CK93CNCXVw
CzHWIcyHoaxVWyubT/feQ3wEttTKcx2WyUPhuvEupzv4rEiHxBpqOF+yJlxOrJrQeDgqZtjVajaW
hX784FXCetCyUAYYLECJ9ZUX+WU2zudq1ETvu8RbnlD3jDWwQi3ekgK7PEhbVNul8UqSiaYy6CfL
PHbMM2/A0O09HunhHRmR1SMYGBpwLAWYEyjWzlptzRsbHQGRSx4fyQH4Bvc79/ADyBHAfKvmLbqK
dI+JYd4miIFf1NRMDAoJYYltHNuxx/q67UV4B86tfXDILELR1T4nAMxu9FiHtrSW+5EpF4xUeaLd
SUhfIazkmITFeHBHp3qgBde2xkqm3aBXnZ/QmtZ3RafMZxNCyKdEN5pAW5PIhrEdj+6cxOGx1D35
NKGL8hlJ+NZU63eF1LZ6WY2PkWjay4yDyefw1K/dwNdd2SiByyIBK6k3XhBZo35cGuOrMdrOtRZN
eTQN9CNFN9DFGl3B2LY2MWGH0b41QyYISU0TVs9oxsHzPS1ePH8r9LpGrCHnw0z//IgAuiBy2cDm
Yq3APCOxs70cpjoA1d1vdHPpz0mMz7vMdbFr6jLyHVc5d/qE+o1Y1/HoRfFI8qjnfrQqPT7MNTor
bcpJHBP9rAVph0iNh+BygBqvfTNSxqwTWhd/dsTwaxpq1VXQuN7QKhrs8gp2EI3+Gi1FtG2IAArM
Sqm9qzoNnUrYxB/NJeovbZHfuqoaTrHnlL7VtvXZzKP+YSltrHSw1h50I/HuOzThmIbJJNyKyGn3
hagS37QmN+gylwQPGYtv0Vyq7cgRMOSx8jPOzHwTZiM6JkKjL2AzGzYK9vi+nrzEZ9my3Bx39ILe
qpyPgxtzb1hOzcSEMQE+nOmuZI7BgRWNm9FOxKcsJzHQlU1yNcKy3C96ZbyOBerOqV9ewoEj3Rxn
82ArBxOYroU2yl1jYii5uMfCy2+M6Y5UDwgsW2Am20wHk7QpgY4EMlGPI9Xhe22yCz8dCF+bnTJ+
SJGt4QRqovGdHjnNybMaeYrYLrucoCECNxYdftfrl05q1m1ZhgfKyp4wb50QslVEb/Pbe06RMp5C
5PvcEsm+9Izy4iC0OJJWe8tmor0nrMugIS2iZUQZucwznYEJWZ9vO2tAGOSGlzSrs33ldCSA6am7
KRc9CcaalQg3VLzDSpXsI2J2NuaUN1uAzsUlYtnLoygcX+NExwSldOe8qE5+YXSVf0Y6rl3tjvmh
VdhPiyte9Fl018wLm8s4EnsG7XPZu4Mc1sGmeumKeDjZTvGaLml/jFMZ7UgUqvYKdegB5yemgEmL
uhPrkAEtaSRuHYTJh4VVQuDy5GKOnD4aUW1+1MZyvHg8lUGXGKF6bySJdsgXZV+KOkF3m9i7ykrZ
Vpj6PbGB7yYNHbruFuiPSlLpZaSgjrpRvWdGj2bN7dkddHB79Sb85iLS9p0ojvcuEFu0/F1+6Gig
LrEQ4xlXQPSB5olVSgc/BSViEwhiY35FUfgcFyUagCyVT1nIW+ghrvi8PyCdqXWnOFW3yNQ/hUhK
Nwyn4ntGiJd81OY7hM5IAgzxkjdZeWogDmwFqW/7pI29XTJl4ad2mKe9mJL206SVmCw8mrRKmeoo
RxJtc6f7NBI1uPGAmWJDUxso6SjQhvhVG+w5aGf0d9gllpPnzRuZRfl56s8S0BSru6pQV5FXEZAA
vfJjXeYvqeaUTxRV2blsXB71NsjqDVgvN71f95h73C/1NY/ErnCslf2pt3f4A8qgnGxtz7SjQAhq
RhcJdnXbmulwiFh+2Zz4qYPkvp6OsciN3URzFpBzaZPkPn7qDM7aSraY7cbRWO7rEaJpZjM1rpa2
3NmsN14HN4SX2DX4GMKsc2zEEVEDlYz0JISYy/QFYEz9iZmFr1PmvhYRkfK8ESznRbMjadur/BmC
53HudNdHqkn04NJmji8bQoI2hsjKOwb7mW9lwtmOMOZiFg3R17BvzUCUC+C5wsGsbns628Usvafu
ZYKj57vRBEirhzVP0DE0TliHImA8VJux6+oglDX9VxcW0Ib8YsQEPcCZCkYJYldGHJQeyDPy7BEF
d8YWgcyrM7YK3W9KMz3qfNWfKjaRB9LASVUsBzbV0Uwn33ZMRqJY64JmzAeE8jKUH2AKsWAwmDkT
3KU/ypoHEpqAKMXq2xtfplrm98s0cSAoM/etMIMJWy55aTy5UzikZFYrN66+JIy1HQL2ytwrnuXE
XkWckCgn2bmfXK96ZsXCVav6r5OmzRuvpFLepK1jLATl5YZUWFtSO7C9JJPBjFqReOswBb4fzdO3
2qnjr5iUiBvzOhvJpVV90iJWq7Op6mM4h8jjDeVOSB/c5DQot7lroPohp3aqjxZ3npWxIOEVtbsM
8WgAs8jcJxIjAzPYqfzahgiKcYe7R8fE7b0hd2S4ysF5XmKGnk1rO19FjlJxg92iPoe2N27txWtv
yHotMt2K9qQVdfGo4+IJHItgK3LHx+Eg8t5dT4M5oOozA5jpbJPGDnVrlGQHXGSk4+W2edbLTpxa
naFKwlhp6+YxImFMACt8htfTs7p6mRIl3nfG6vZGwlNIwKSaya4dGafOlUMd4Np+AlH442iH9xGu
MqQaRFA9QbGIApWy4vR7mM13aC9MHyB6B9odncamsyHSbIj9cO9dnsLMX6aGZWpnUCOTz1mcpiJN
nyNA6h97Sk96pk5d53KJngp76ai9udiQltO95vV0X7ZZxFctZFW9YcGsts5Q6+wauuYpDAt87TCl
U6LBPfuYdW156yOPqKHGaN7BrzI+GLXbfCir6F2ItfUisH6Sf1fq2oEpSj0QaKSjylH6WXpF/YRF
vsO9EoKRvRumWDyWcfMqF8j5G3ww7Kc0YpR8d9R57CfkiGIiAOd7n+Vz/p4EnvQFOlu4d03PiPwZ
NdWeVqh/ydph/LqCefzaFNG5wywU8I7KXdqm3ITwXBcWV71NtFzTUutAoDaDECXEZzQROhW/Zncb
uL7zQyPdLMbtlSe3lrSwjd4sLYxTdmVbotCNrSkX7ziSyHaMlyW92DHmjQKl2TVnA7GRyGsDAPGf
c7daXljghFjkDCiQ656q2hI3NL/POCrMdSut+0sql3ttrpYgR3i5702V38q1TrIWflfkEKK+b/To
hOZmRRibmo+BvjqUaWj4KW0Z5OlyLWQNu70QnEqEaanb6wkWobxpRrnuwwj8/VD1o1vcY8norG0+
OzRjjcFTAK9kR+jZEDsdi2VGIstXbS718cHwtPTgIJniL1Ta/J4M+np6XkYt5fmqIaVw+odB7yxp
boeBYR0LcwuY2JlL0rq4CqMmhuPaGRURh/9dCGIiRK9N1yWaiD+VzTPynendD+Ofv1hLvHEq0z7o
4HSIdAK2xgDcfksrqpsJ2ZVljNdIw4+CRAMOrqn4Roqj5kKLij6ZhbVXqYk9y95pot3ZsbF1ZXhX
DwuM1B7ZvLb3lhRiws9WFm/khr+9NwbzzCtJKsId++8jy8JQQBhCc7zWdXuVNbVieEjUT1Bcf/Ui
BhAIvPTC0+XbC0DExkTTSzQgaKPN+h8Hq0cp/xNi91/fyj7p55+MJJEtOH8rjr1vv6Hy+HEm+fsf
+ddM0vmFebXHrgN/mGOtm7M/ZpKm+AUFtuu6jLf5+n7IsRPOL4ggyHzyJOzE35zXP04l4YBJlj6I
tx39HyXYW+YqXP9hAaKTz2Zj2jbZYVlIcM23U8luWLJx8JKHNPNYe1LS6jxq2ihz7r2wFuJROE3b
7atcx3wQhvAC7M2oEgdDNZOx6dqgEUbQlzWwCLDQ9tYtdtE9Tu/B8GuM/BzUTBsUshnV2HrKrDEY
X+mLRw4f2ZWJ69MPrzMF4i95EFSxSbe4rzwRbQkISE8FNOxfrahkzuOx2fqsrafi5LjRSWZru1hF
zPpB3t+oIcM9Qd5LYHk5nQHNB5WKRTDXpkFRBp8gr1ubhZjQXmD1f3bXU7tYz+9yPcmd9UxP1tMd
E09ylMoePlF9m8Qs1B7HcunEt/b7Y6JbnxhqIP8nqM2xIJ2m5hMT/Lv0LqTHvA48PY7PTZjtIvXd
uDI6n5P1gdUpJ06vtokCjspA3ietzqNuxoCHbMlBhNHLGDwSIHWPIFUdid2TtPu+DPgm5g/hXNFq
6p7CETmF0RNgQqLrO/IHMvr7WB0TJ2SQOk4oBOhr7b0jJv0YlZbagiTsSl9niW/sJOt5NDqJVb+f
2wnpTNSknU+gYXHSuhL9s7bm5vhFuFBmZKMEeJMLfhJ4fs31WQe0BCBGR0yxk8v5Yz/MjfPAJzF1
uiMSOAJvLYoSVt3bbi2UmK3Fv8q1gorXWooINUIaIssJ7CYZgqGK5WOzCGRTJStu4pn66jFb6zSC
a0A2Fo3xqK1VXKkK5xQKzPtkSVDlQclg6/W9+vteCMZzVcQZxbPnGrum1OqLwJk03+nlgE/pZGZi
dGvfY6ro4kNjGoM9Blt//SCyJq6OS5kYdJEWeqo1LitZRQJFJy5jyDyXUSk6bJdihcWDCIqFq/c4
dLSRm8VQ8qmoS0xIcg3PeJe3SjYbdoc6tbHnhJtWX1XI1jTJLnCwP1UnCPmtd3HqKP5aNBKIWZqD
H9/k7lxoF2WzmEMpOFVXcjiSiyr7+OyE5fhKuQbKLOvGYQvAuJiPExxTG2aIWWIrz511HsTcjDmz
TgO26XFCGuCeoU4fMKLJXRklyUMyzTBIiCaIqX8A7nJnhzwOUYFDiA9IiRhGRj+sOS/LkuBjMzVB
MEfMtxnUqlAGJazWwnrUSi96cEo0gD6BX4W8m5ZivGJo1fctyqkghlYAux2MgPJTicc812SCHbfK
GbqGYQ5s29AdlAS5O34wk67a9xjuo5PQu9sy9enyiO7oC7zwkntKIyTLd+10tq89eSXLrm/iAmbe
MFcfprDSBSHMQ/y8LNBS9qSDteWe/5HBuqeVfX/gJJqfBIZ+Ympth41hArHO2ee0sePxu36Y8Kj2
V6anL/bguBcrsbvliQEviJ4xi43q2IbzFLi1ZpytDp/UEqbmo2ANDM9BeGlBytZaSg16Scx0A+d1
stxTqrkzo41Rm6YL8KjqLNnZQlmt22zPjLbb5kYUUtvxXVU7INFpYC7CetRw86sdZLA8cLzUPFcO
bbblpmgKNLqJOBDgpp7rRSToznOT75lpQPq5bWT6mmJEfiEWT31crerttq2E4F4Tkwq0dIEuazha
f2yjCB040p9u60DUac/8HwQKH23VQ2LwqGmKHBfNwkkgejML7D/0X/qGlAsisqfBiX2zc3QaCKcF
SliqWh20pmUXEK6gd+xodoH0mzQX4kzcMsyfjTmy3qFLf48owQEA/F187JW6eWC8Jx9JzzGCiPlx
0Jtxc5QeSkZE2igUyRBg5FVNLJ9LJivXnOgctSnA6Rh3jMSqOxRCTrp3m8r60PTTB8TWDP17J2Ej
TkJazpJX6X1HIwIy8I7GbyW5G90NtEja+gxUp+jRmFTYovcT+bzMh8LChI0KUzDXDU/o+0b3KtzM
2H0vXP+z4v1JPYUHaN17/s8r3jNl2fAlm3+sqH7/Q79XVC5rWbBETF0lFiOTgvgPk5H3i402CQiN
9Bi3GGst/IfJyPsF0RIkI123HAYDFE3/MhlRn4ELwWHEUtahaXL+Cb7mTV4jRHnqfexFtmdZsKLM
t+UUFWAMCzeMTspAXO6zkpaPREcsOwsV8z5ppEei/edUG6dj3TBz3KSV691QlPUHftVqb9Fg73ny
k7/ww2X8i1bJNqlbf6z0eGt8uLVlorQUBuitf+9HMOzP5IW7zlrb1NW952X6vbs4rMZYttokQw3V
Ew9BTWzhZvjkejBsppTivy1u+LWFR/7YwbRs0GwjgZXvF7S+1zluRsC5cWd8LOK4J309V/WyW5Sj
ceaTlKffF8wtOo1BKqRqztNwCciM46mGUHUkT4lhi8zal3hW0aEibj4deUrnzY0jEs2igDldgN0t
vRPKcYOsuzndTq333LjMz4etMdT2A/vP/sWr0D5ZyQAwAtaX/qvtFe2XUovypwhHFOm+ZT7b+95m
Z+2HbOHGYDJbNTIkVxMk2aEXW9ZyOZ6sSuiPs2EGCvkjSZ+N+dwmS3sqEV0/9Y2r36G1Se9B77nM
lDOgGUttfK2HCJZC5nbnwcubE5LveKumRTKttRN1caJ2uRDbtnV7QnM2dOvGTYz9e7ATAzpN9ivB
kuXxB9coTbnhr2gBAVTa4zJk3uRL+OXbNEmHJ6kvxVVj4gpwkFgmKpbKTna8No6BOLWoJu1qBb82
WuXc4q5Xt7pmdau5E9QMGvIU3xsQTlA+6RqzPhlaco9+byvm0Nw1aOWfZ51Y9jUD4jg5RLXTtZe7
+nt+u9E6g9+hvNgua7z7ZIX1lsGItkHpy06B7f1RrIHwCLmdR3cNiWcN2e5AZOunyLC8E2Is9xQb
a658uEbM12vYfLXGzjejQQJ9Nmj1E4HMy9VaA+otBcAvwoy3E2t8fdEMLM9MIu3zmYeb+T3nPoyV
2C3NSIFaIwV+zfiJgzltJ2ppYvdw9403XdIf05+rsz12wzYXibcXTZxv2WCUjPlY+S3l2rj0Rbsb
dLBQUZvE/HypmsLdSCgCIMlGEMrEX7Ku2zSyOb1hS1lqvJoRwMcinedvZhOFd8B1ReBOU3sQtVCj
TyaL87Ez56XlRxcbR1OxBg+q0Zpj4JSynPeqMte6mora3ZhNIU0fmkle8c16c5BHeYTiE0Drsw1/
Rm4EyWdHgpYMeIs2P6eJ63hUjNK6DaLR9kyCgXey9fyW2kt44GtHhC2o40iYyXYZIHkWbr0CzsRU
niFmPrZMeOry4uWrVb9eGtjldhruMLyxLXMTcEBEJICIivBVqL1ycos1ITrYR0nxZ+9JVBLHxTJf
vHhcPktumW04duIIcZ7FvMPyKsDhUV05+caPKp5d7JKuw6q+oB00gixpM8+P2PjMjIBb+akMJVZ6
u2m59Som8OpqFbU4TgZJahv20KjaCXWNi8tcyd5EQajUsYqcyg5gqTSs5tgh3NtVRf1O72Xe1/bA
6saB6sx0MuZOn8suv+eJziLCxO5DVJiqtF3LgkIFdbsQgrEMjGsAmX6BgzO/C/uyuSWD1VfbKTet
u7AZmwsh71UXSKvR7xNSWJ4l0PU8MIZEBHrFv3f4mbIcMeb4pBab/YkZxw+JOULGKYzy2bWpzOcW
jpSOJgQpSWV5G7vLsi9p1GslJgj0dDiyWucBaXuufagtMNY4YBrvZiLoTLYkMgE1jOrWaXdCL7xv
ZVXmZ9Moyg8okyOfnClx03qvPTgWAoNGxxgY0WsddJNULdTLcQ3UCNiKHFX7ZFsVYXiWZusPVe9o
x1XYxk9yngrj0LVd9MAAqq6xMvYZIV4y7j5V4KWKjQBma+9buo5t6MAViBuvMSjsJ3XXs9PjJVme
EwpuuQjis7nHOg73Kwts1fF67JDVr5zn3g3BMsguyZ7LIVc59yNPXy6kTVm7NLLLY5uYLBlHu9ly
PkzHVGbhB5Upg3/wo4MfYXi+zW6M1CFlQXojhkOAnpHDHpKwR687Y/sCS2Own53GJDyqvhnOcnHn
Y+vG1sHAEfeeHJ2Nmclmn5TNI0SLMfBkKXwsalwfgrjPaS3lQ5Jx8hJ3xYrYUZYJoodeAwH+JsEp
xY+v4ciZxFlkkTZu2GmTLYidhg+czhdT48CthJ0+iAqeNdSYybzHVcsXWXczEBu3draaFgGyxv23
mb2RtZyra5+IUGgeW1bpZ2E3Ive7Oi4/Ih1VX5SVd2e4H6uySpfnPGrbL7mWVV/4adqWL2aZcGSk
UrnbOQ7jC9eDzqsurfaoJQ6RfrYVE7xodIsUWyCuswgYaABqnVstYYK+DPo7J2UCsW2cJvssenB8
29ljWs0yMi3DICoG4hgXiPsrb1uOpJKC7drXWaKI9lJ6+xFZWfaOMq2FU/eqiVTda7rIbrPuPGWE
oe3TtGCZaYlWLn6JgfCuS0Z6BIPi6p7eWxwpo6pPcxX2u37QiqDqddjd7Li5ozWi0j5ZdlPcF0iL
vzXoDoLJETXPv7gt7tymMy4dRxi3Tjcv5OuyU+XTc05sGgcRW+5S5CBvGcdXQnA+97FlBPZsEJSO
oLc+pS5z6w33myaY5E9h7A85/L6tVjXFDUFUf63SdGZAZiRPU650a5V6jzCZpqbdtw5fiFno8lH0
mWdcVtqaTXhi13VsRHGt8brMuBiWqIAIV/llTKfms+s1tWIHoHknKTqEEcD6EYzBo0BSjsFC4Elu
l6NLnDvzsGpwLn2hL2LjKfCGCMfGJKD4SU4mbjNEEZwbqd+W7LD9nCS+9wTrzdqjskQh9gPP+Udu
Uvj4sMlEuPWq3DmptOXgZ35UNgc0SGIKpjGMWUhJQXlV5Zb7NE2GCKpGIgMTmBjObptxrsbeuiyu
nDy9g6eSTcB8ZHFNS3d6h42huRnWKD81oZsiUohYs2bof74IIwRyWMmm3Dddy+ISaBVeq9ggFYWV
Zzzsk6I2HkgYjYuTW6MyiQaJYKzUBRMzPdKPtZvmul9W2F+RQjg6/WkTW/3ZcWezcn6rof/Ttf2k
azMtkI8/tBt/Qoxev6nXr68/9my//5F/TcHFL6jsaRd07AoYFWjN/jUFpx/8Q4xrIsaVFuRyhuhI
do0f2jSbf0V0kq67gvCkVQ//DyijUE3/vRnS8WetL2N+79Ng3axj8S+vt6SMuv/zv4z/jnuGImVb
W3cy7OQ7wvjs42wZmJLtJV8ndyQaBlNdnUDB8EirjEZtQdd22xGL0n4wu+ZihxgaP9jxkl0rmSNh
bSZuLN9kJ2UHQyvmd5YS6kOf4e/so5ms93o2J99TLtTguk97jiqwovthnI0bvj/oDypU91gIsfS5
JOgOm2zhVNw00LR2CX6Ig2xTeAbcbrQ49dzvUa2zF6/jdMoY41YC1tWML1/Ms3R28QTxk8BPg+RQ
eNA0nQNipU0+Z9lXbt7mPolsVWzGsZjuQ3xlyFCjkM/OlIRuKZ3Y7h+ruRU0cwYStX03478KyG6t
zdPgYm1vYruZj5FW2mlQFPPEncwbxOgeLjDBOSML6xFERfXoMYq7LWmm7hsMpjX9QB+McYHmNewq
tU+xNByQX2HuSEWFmyWZelCt7pChLBDt1Nd3Vma+9HXds9OHAapXfXMIDTsZ9kVoRpbcAwHK8FG1
ib5wAqRFW+p+xtFzteRSlIbfzyRri99Wk/X3PWXKoKIE/Z/8tqzoaiwB1k1l1F3t942Gayehmq4Z
LmUv3K56XiKBq6gtdjUSxGgzrKaSyLe1OMUYZswaY02UHCOKrt4Cj9MMSva4azVFSDj2fVnhxBuN
8IzamZCPRnRq/eHI5UCXaQOjnNakpKxwxlydyJVmGX81CJ7uLfDRXcf0rNgQ5zN2xocI/o65fJwS
Usbbr/0ICaLY2Nmy5OHj97v4PwfeTw48HMnroux/HlO99K/xj8fd73/gj+NOx1XApIWdPg91k4Pv
/x13BifhymVnvP1964dL4IfTbz30vtsTft/2WXK1J+AbwGPPkntFMP+DY+9NEg3vCLsaZznnr8U4
zHmL0Koaco2q2Z3vABDjt0VxUc8zOi+sQkUhrGM2kfjuqwhPeWeL7qsxz8l+SpwJ+GDZHtqGMTa5
ztNDioNy+50kE8+z/cBDuuO5XeVTErImQTo7KOCthSPC8Yb8FV+tP3DyeaSrhBOKkMNQ0PQ6iNka
/NZ5qN17KAaKUwUkvPN8gLqV+6tVS/w7h5Gh1qSOkRwY6R5DOUGTZADYqKdacZGfNMLlTNgcsYlj
mcNkOXMthcXyioNU52W/E9+R1RWrHwLzE96ItgCxO4x5cgWZE+8baS6WP5ZO+FwWJpsE1gwHPhQR
r2CYP3NYJc9uKlrMn+hnHoHlXfupbY5wCXHCVuHwyuyR4QTdcLpJshakKlQ8hMcMlKRPYrY0y1PK
NnB1ebBvBbI1jhjAzwhL1vNpLZOuMUm/2nEaqxUBkZE6/6TNBjogsFdZGu1CUdum3JtsC4e9+u0Q
JIgrNBKoyxn5TNPNyfWkReQGcZhvATKpWajjf06E/x8hgME072+9SZdqSLrk9d8BWb//qT8m1+4v
ePlMz4N/BcWX4fW/jgWPU2HVcHCPOwYigdWH+PuxYFm/MKs18fzg8qR49zgxfj8dTP5CrHAI2Slk
OCU845+cDtYb8JxBPB3+XgBNa2oQkoA3ghUc2yPAX6M92tTuYFRSzbjpcQMiUpF/UDVk+20wnOif
O02Gz7AW0FoWZXjS2iQ8dYw8fJlL41JBV9hnYlG+qYy82LA41Z7dumBgEtd2Ag2893xCm6d7o9SG
b2lrGpcpjvJ3wmz6LeDYBOFjEd6xwmORzDhUBQAtWt+I9BZkcqEtB4oL52koh+knapq16vtBDMEV
EJz8wuYycE3/FH6WMp5iFF/XRwZs04MTdt4+mgfOo75fPxfv+4eHxl8N5f/i9ci95QFBZh+03Dcj
eVNDbAEasj6OWmttpij/zJxH+RyiyU9e6Y35bP1kEgQbjxB2E5TDb+rdBWDB0sVOfhzDpgtM+lZm
Z+h58TklT6hFxX6mkLn9448HxEmyEeHHROm+ipd+KLJT3exGwCj5kZ0hNaU2QKvvdKrxYJhsDEP/
/NVsdjg4REmxk+6bixl57piURYo1QB/t7K6EIrRDHGWM90PuPf/9a70JV6I5wfm9PpFdael/kfky
obKOcbQlxyaecvgUMduKoGmKCsKHQa2Pne1+YGFxGWEqHZC/9/U26ZyfMTHfyL94G+jfXCmFzs6L
ZJ43X2sOgn8mcis9NgMgMPQQMyKDKAyfPQdi+08u8J9/Q1D4qGdov1xXiLe7rZb1gNW3TnqsjWV5
rNy2C3qNO7iO6yxGdp3QCMjSy9yfvO5ffUhoQySRYJ6UzttU14yHehI5dXoEqa8YQ/JtjtYwjpsy
wdDw91/sm9daIaPUZeumkK+X6uHNGSgSbSQBxkMKxBYjgKlCsEmtt/M5gi728vev9ea8/f5aNvY/
IpykTsP75stLC2atrcZvaJmX0SB3ShanPLGUEfz969A1/3iq/fY6luOuXvL152r++204OHnXoqBI
cIYwiGSgwwR1A4vY3ITKsp/iJCn6zdT2GFCWlW62Zbgc/yTC8s1vZ30PxH9x0BlES1L/vpGZqZnk
cHj8vAfVRawEVMOWZdGiO+LYKfsilwG+Y80/Oc//TEjgIcsRhLjVtXiGfi+IfziBVOQw4Aolul03
tN63CMBPlMbztU7LeN9addlteq2CfDzOE5kN4TjM6jiS1/EV/W7TfqmVV5yysAwPkU6sKvA8/rGk
2m991pfpf0ffAG3jIK/K/yqH4qFKCCRkwPDmwbNeHpsvBr0f1QHbtzeXJ7OtcFykph3AVjqf53kQ
Lf7DHHRQmDujA1+C8fMGQqCEbF2N2R0Kf1Y5FoGZx4GF5dnryRSYwIlcV4I0GfSKTNOgIr5D7f/+
1/TnX60LBNfCdss4xnHevlXdK9l95CMCaE8H/J5FpAgzue367d+/zp/vRDSRfGVQNVYW7NtnY6KZ
XBStS46QD1ADJQt4BhiV9jnvhP3096/19jjn+rs6YYAmT0cbNcBbbzaxmnYHSpvjvGoJXnBDtXLr
Bj/nVtmRaxT59YTDkkGI/KgVZbSnBeh/cmEN3V7vxB/qj/Vt0J9JkFsUBbydN4+wvK01kzvj/7J3
Xt2NG1sW/kW4Czm8MosilUNLL1jqIGSgUKhC+vXzgfbMtNsee937PE/udkskARYqnLP3t+NDgJFx
ugpKxJArhFEA2hMt5nuD1PevHvAFJOEwl1YTtZ+EPxdE3fqV6V13SR8fI62nO9VHNmifNhdyTYQz
IUw2zKZzmXbxMUUI/zCXTvzZj7p8gS88n+cSLfcK3Lb/GLRjcbSr0LvupcmE21WD/XBhLAP+I33H
Cq1TCsxcb3B2G5geh/l+SmJHrwhT6W8raaqPMp7Mr9SB4nOHogms9ljHn1VoeOJYV201L7Kh+DB3
oLdoEKck1DgBzJ+VQTCmuapbiKdpFFvfeKic58FxREtqRF9hpqOz9Vn2yh02ZAY6QKnCPD2jJ6yO
rsfUYsk++6pTJm9KWt4nPfTQxtbJtpGKtEnNaciiRGNh8t39QIBtt6mDsfseBkg967wN3sJ2kOFD
Y+WMN57+hLZpE/H2qLiN+9DumDvNTgdvMzJ/CmtRcg6W3+3ou58TyJfuts2GDnFrVhpPUeNMZ9aZ
8qVtp+H2cntjf1Bbu07Ne+EQUYMDKijTq9hKfFIazIoAswRRwBYfVE5//TJbaXLapZqZoUJrNN7r
BmLKujFHy1yXpTUfdCa4dxMeHuR4ppk+YSZzX7U08UzbiVnfUUALyDFzeR0o/enZVyKBUR9kX6UZ
YUOPpZwSdPAg8FZEQXmPeeI4z2Hdo4wybO5t5djZ15Ij9M5CVfaRw03Bq4UPX67irJrvPXRuaq0K
Od5xrh1vs8ml8BW4VvZOBh5TE1yAF2tCmbh1lnFYga2E35GDRZrgpGXkkpCNsrGqZt7VPeo0iO0k
MSXDBNsg5ug1rVTXwyrzDKQxc8U+R6cdnZ6cCyBPMx9mIjgYYFuzS8VHukS5NGPI6PUKl2pinI7N
QeOtvfG9xniCh84NI6l5OidECx8JathGM63JUbrjLUyUdqdyNA7JgMG7vYDPjUbeJwoiurmw0Qfs
6uts4aX7NopAy6nno6bMd3AWrnqigm2zkNbbhbmOOJe0pIXDjnJ0D0tS4P4iMMpcaO3hwm3Hirs3
F5K7USC0NBe6u82Zb20txHd0i9XavWDguav2SwQaPlsY8blFONFCjR902mA9hSSfGhqJ6EKXBydA
6EYBcR5/V7mZ+gWYsPDoFWB6iarmnFTZLdXVcIX3f9z0C8eeBcfZoct99mMY/1MH7b4Ee2/qwluL
hYRfRBWV1YWOn86mv4kWYn4WpQ8dCP1I2B9iYernRuVscByjraDjdmWY4ZcWCQPYfUeU62kMWdW0
sN8rYP1QPq1VD74/XTj+OPOe+j6+buog+aKEPW9TdxqPaVkxAbvLHqmypxs/cxwwdF17T+2jOxpL
dsA8+ye6t1MoVu7v8QJMIkn3o8WTdZisBsIA0KG4XaFFzI8WWWHWKib+5aS9kg/UlCBF6HDb87OH
DHM3DiU+VdXDBFCQCW/ZKLnpZvCZLwpCmp4lKslngGLD43RJTmi6pSgs+nk6FwFSS6Igg51bwMHI
q0xejaWPL7KNKt6UXfRZJuZD6A3DQzBM09aZtd4u648HE1Vg+c9EW911lLthceA9vUKUxVbALhpA
GMRCJAX5EHVRExVBl5HUCLSoFLZiVoQgiYKDyDn6aMbfpmKbt4uW8Al9yaGQwq5uUZa/BOWMD3/A
j+K2S3JFUjZhvlGXRAtUWxXOf2Iu6iXwAvxit/MDnbyqPBmuHXIx1BKQkePZVysbg/Y73F0sd94l
TaNnnryqI5kenUvahj0QvDH3FQMzZ+/AEaE07stJBttqkjjIgIuYlerftFuHn7RlChy1tYWzv/KC
13FYMj/MJf4DhsNI8rlmPwY55SDmmVwco/XvQXpPa6dpxNpQbYDNgGCRaLTIGBGWlj8EEUFbQT7j
sVW0e5ZQkuiSTwIb6kQXvWYLQ3iJDkpiTC6JJrETOxz+l5wTKyXyxMjww1uqjI58qdHj6Ol5wyJM
SgrcDPcbEpvuPlAGVYO27jZhg8ssJGElvmStgBb19uRJljt/iWJBvOE+F1PX3CWqc1ZVbOVXcd7a
Z+5gtiFRct1Cnt73HhEvRlSfgX+Z67iK7LukLb2D1wbOKVrCYaSYvcfYa61NFQ4NYmYyZEoATB9a
cUlMNO2675A2rcNL8EyBwXOf9jW5OfVgYTLtYpCkBMzc6CW3BuQ42/4Inz1ahCXYZrqE3GR5X+7L
og7evMKniLOk4Yz4Axq8fG5JlgZxOYrj+EktETrqkqbjXJJ1UOyxpkN4lktz1rvhxC72RRUEHACs
5lguMT2qp7Uz5FV5J3xP3YbdOB6ctkujdUbIT7Wk/Qwh5AOklOF1s2QB5boO927SV18LYuNw6Iuo
fXUTr935S5JQ5C2hQmLJFzI0SUMCLMlL0In3ipfeyrZBPBF5M97YLp77D5PEqoFJgOSiRCwhRqFF
nlGb1rjp8llfY+7O1maD3tDT2bao7G+DQUR2hmsPylXkdNsa7uwZwVLzNbDq/kgnx9iEEWsgPeh5
Py0ZS0iN1J1l9t3XXBbM2W3JqsEkIAvirnsXc7L3rExNCOs3DNshHgS3HtPP1Jha3Mcdco3EVTXH
JGV8Al6uzyMNuJts8PQzMsD+qyuz8C3RkaxXNXF15WaEZuCx7E1VGcCuqqv6YPjudERlFuGp8ftX
fAHZjUnw38YIe5wCZBaj1RoKa80uCkmnPQUbbDpUNew2vvKo6jt8KjWSD52bZ4QyJcFBA2sG4p0J
1rTWvs/uskkXTGQ7HixitI6WrITeKNdumM4mPKhAFW3QK56tr7xoZBmxqA6tihhhAvjWGWIkAfQE
iuDJEywKe8cU6igwIXwTnI0WbUgJp6biLsgwe4/tZShTUSK1JBA2DBw0fwffdCCl0pH5MGxhfNqI
W09xOCVPXj3nwJN42dEdo2erzqDIak++Y3HK2E6a0Rrd4TMbY4KcYt9cpUX74DsvCSo1qJ1Mr8Tj
MaiqF9OrYf0DZgj6kTZpUM9rOCw7dzYWk5Ca1m5hVquRzQn4IgwiVi0TpDEZhxdnQeiO2deitNMa
lK0NxD9VDUvl4v827J32hx9qdqI9Z3l33aKb2BW0i9Z0BaGrVuCfst6irq93YQL0xQttcn1jhrOZ
jxZRcBV2XetjFrxw2uhwb0+4smjNlntXZeNj68McIYcvOed1/2kIOjYt7QeAkr19xI9kbjuqWWTn
TSUeEsoD9thPOEOk3otUmV8LZUUE1risOmyEjq5u3G0XZSCkB9WdTDXmp8Ia9wV8hZXDhmvNodrf
qGG8HXzTWqXu6B88kHZrE6wzRxOBATYEmsxW8G6kgbRSJWjbUHU/lDSarTCaeW/5gJGrNnqXk1Ht
5CR86I7UDma0H/nQ3WvH+Mh8d0caCXYTotLqqjtWRvs2VPOtLuKjavxnIeMzUy4FozJDGiLnTyDp
LySaPtCX2Qt20+s6B+5kZsN+hhcL0x7ylmd261kmehMZlvdMOIbcmo39dYwsNlZGwiSf2lclyIAN
cuNdDit5RAFFFIH/DTmSWNkVVe2VZ3AiSAZNcJ4zfxsxmfm5RmoblNmwnqIpeTVFh8ZTypB8OIn6
Z5qmVdZkzt6at32bfRn7sTtolYJOfzbDXiN9biGCdtkjZOIUKG1UrGXb6y+GLcPtiNHs0HOGOWkN
jxcd5fKYT+bRc7Lgi9+5NZqaluTeLh3kVdb6lEeHfDlOBFE67pvBYguNKtPF2uTPJ9V7htyl1fiA
MyT6Th97Mo6GKCnorIqIkIi93duDc43eD4rTqkVieVfacnk9uy3yj4miM6LkHDX8VVIpRjSpwIjf
Fp0HzAAzBxUB/wB3X8F+6BA4OjBulFYAmjoC7SD1RhRNfTrnJ2KwljQ+O34LkyKGUunzAPKutBjA
inMQsUMOUhs7bDgWJQx7vWmYXqgzLT2NqdHxm4YqvI0J+trVje1dE5KEgZE17iVs4+lswMZZ2yRB
bRWeNvMmN1Bub1U0cezQAdPS0NHUA+/F6QTQWP8jn+3hNvcn62RaxL5aiSyOaTHEb0llUORO3MB6
sDpPbcHfcxJBf2Z+xXTie2eV9suRN1LNtE490b22ELw2aBF8cy8s5Hns7XlpSB3GNm04oKNLw0QQ
LEFhJvq4dx8rzCZbRGYrNxV3npzXBTGKV7VA8UX7Ul7ZBY3UrHPio5N6FAU6DvngWqgRLJ2ay/v1
wjW2E1rZq9h36NnAz9mbgVt9ufwI0Cf7wfQL/7EJ8mgfeN58sJ1CfHSV4gw2SpsqQegMt8PMtsfg
sEmvZ679x6jgZkI3QZ2eqnZ3KRRDFaONMjbhRhfUjcsqw1GUZWkEjICPWKVDcYSLX+99ksFfm0xx
AVnOKzKPzPgOSGjwstL6UmmTb70uTD4zUYtX0qvHu2JkvzvDEDjMhZ7PI01tBeSL63IrauFogPma
+1Q0a2/K2z1bNc72WpeB3PRFjOwim6mKULxkMliyWmJTRtgSeq+9KmKzqhj/5mycoiYRHxT/sr1Z
5FQUw/k6krLD1l9GipJMi1RxVWNB3aliGFzw4Mq88ZDAXjf5TIds9ihexXNxvIw7IyMEuM/5BpxZ
lfgGy/k+JY+LYxLcDT5fKuJPg8YwRRGOWfelXu5JqemyWfyV72pEP9Jz2yhSrhdY0tmuLZxvSymO
vJr5HEzxcDuXQ7hpyPHc+S4jQLkLxj/qlxcsc/+RRDhjS+ZZCEYJSbMKsOqN+K++VCa/gv5SXgX1
8q+N4m5Z/siAtZxgOve80BZZe+RBKDHMLynYKVz0aB33AJ2th9Rge20BieGJXA78MDDizxnM8HWf
M5qcmRfNR6P5oJRYOxuW8/6ZxHTrFFlDfOxJw/mIySu9I0yHR8dIeYTBHtObHFR8jGnNfxRBhxS+
HQ1nNXV9aaKbLGPrgcMBV1hjgllYGUnBDhjR5j6qM/vEuUW+qmi5vRU8jqNuuE09DsqHoVA5Oy0+
uN0V+DIJm0YTmvHWIGp77BxTfKUouVYrHRrdB9HG68SkIqdafi+SsFOYfL9qr+vXKeGACLzEt9oM
o3VEM2/f9cRVmYpvB1sND/vIExhr0m87sDV7JXu1TRof5jsl8LOo+vhNDrh11rM/W6h6besWI3NM
Np7DJ1ecfLwNbtlobzoexQ/aouHGW0bBICjNecKjpOC5LoStEEvDaiAv8+gHs/kVR6z4oBVpNChk
Bc90I71403A6xffA/Bi53KnETwy8lHH8GcSCC44wmqCKMgHv4AOMj8jqIQOHzjQfjECHG9gMhCiG
OJB/hIiiPfAw1vilA9LyPvYhXaiODbmklCqSbcq2gpVR5O3J6vqa4BelnzJzCL+L3o0/ofzij/KA
lYMDZGVyM9JjQWPiSIxqRkAftfFb7ntkvnXSkTHgeArcG+TSzfRb+fn/pU//JH3yiAH5qXr+J63n
SyaTrM7+oPZ0fvul33UOgfcvG0mxgznPDSliL2KG//boOf/ylz7l0jwF2xE5VLj/W+cQER9G/3aR
O/3Zo8erQUwNaOvatu3/W+LP31oHP5fZkUEtKlNekk+x7DT+2BADqQdMb0qsQxhONZLEvoFCQFF+
PddTe8oGwomJyJjqkLAMtsvps6nZ0Lh4rcDzJSR8Nj5zqCRpA56rFW9l4IV36ZLEIZdMjqYmYQPg
VHjFivBE0Ynojkm3H6ZD6Hy2kdzgZ7IS6hdboawS1QAFr8cd8N2La7KE0iQ6UfXyPmqzXUDGdud9
OMLnh6CQE73kN8aPYgzG58IhfPnH0lIiXzrDqnqTNsFWVrj5kzG/JnBYhHu/j2vapW6yzG+Gdm+0
Ql21sVOqoGx4iMWYUaFu0VFjlGglFIcqA7iFOmK8seRYbmSRhu9lQZHsGjtZyG3BsHSwxiE55RRY
QHj6i4bLXvy/4TB4O+A17irusAtUc32dDCSreOEMw4v4rS/kHNdbiGPuxkAhQxyVM7xwMp0eCPOy
EjSahB01ohJ3MVWrYI/o3r1C/WW8qY5aq+Yc/5xS4cU4BMSZ40vfBi+iyzCFBf6IR3om3JQ5O49h
6cfRElkWANSxb9vMgVJv0KV8km3ofmj0YhirykG8uYkbnlAtW0/j4Cx3ubC4F8QdWU9RATYDnuMA
YJpYCBirAufMSjmX1WYJfeoAOep1oDrRcVKqSagKvZ4tRJhGkKMN2ZLhM9S6ubYk7iEkZvyxtHK+
11j40l+1xJfjsE4rfgeYTxGcxBL2Y0czUW6eqkhHo4KQrS/GdNW7zP9lmmBvTkZiuMKmIAqgVqSN
WdogsUKG6FcYmq71hBuUy6jImab8BKgUQmdEoFEKrVvAAOw4Ey4p1XLs2MbU+B1XU0Womp2wlUWI
O3NB2HB5nVZCjFfFTMwRBwk+wGC1cO6DJOfuslaJt3JYguSoRhQV+1Tp5DjgAsjBYdD49k3cL9FK
nYrN5EqJHn520uTqOwEJuN+Lmb+74/KyadOCVYdKjEO/MdgPk0R/yVpDqcvLY+zgh8IZNsBqtgvu
oBxG/s9MSezqEv40jimbgLlTRFkn2sDDLbiImCrtHSu5f7q8I4VM4Oe94TtXJGEwNtt+IYrQiIhf
BknBdu24HglW7mATji2l5X6Y05Jr5CZjc+2bUry1ACf6Veth8gPf67n3SY4asqCZ01wRQCC7xQ1F
tFdrZ7x+4rC1209VGJ6oGfqveDAn4+XyKbHK6ORQTti91tCN+LCe8Bllhu1YN5EsESOXRYdVpPMR
PFAG6Nv5UQ0FVr6mXL5S21x2c2E+md2NmqLmmsNScz3Jhr9H04Jo/y1HjZN0ti+aJfYsqgAdBUPJ
DBXkEM3dyrSmXUaaxOeMVQ1fqG8sY8qy8SAmnhFW+0b3C77Aqka9Ruoxwkwv1LBRkT0futkfHli/
xzssTmT0MdIcambaChmnNeVu2t3ipEK9boQXwpK1DXKCOxv2vKaPCplUdsBXzCC+zqMpeuHLBMvi
OGzE8nRSZIvJTrwpV3cx6Fx7fOwZxUjGw2o3w81Zm33iEfaium+54VgOlh4eizIqx8fQN6o1VSEG
ti2BBZDB2xgn1B8GV1cVjbOaQb52azXI0tlQB+5ICssSdKtj5AWHwYqCby1idWdrUaR2tkhZaXmx
O3SvkiR3r5x6ub/TmMYvktbyydctwJnArjgQsRfeuj2BqVtD4cmljEblpJKuuHJGDvZNGaYwT1kx
7mtL1A9lD+Vh1RcldbigSDFT0hPcGbSAf7hB5RxjqbJD3ofW9xKM4EuY0IbemUyBJ9q12Q8HCtaT
9rzpivQE2jaAptZNZjzL3JAvqGJpcbaFaiDykQQ3WRBvqDaVJ2ukrAV3rt4Bz5yoZZrzD/AnBU/A
gK2M4zhmyx7HEKjAOXbeJkhi12qIqSxjwbeu9CyLMyJTUIDDQJELhK3to12bg5OXtDdYE6sfnhel
7pY04b4EhdiS5Qdi8AYs5gO2OBxL6J4Xxx7IWetUks/R3tN8Sa+ox+0VTE185E5Pn7KgTqxragSG
ju9oSjKbTAHyH0PoB6uuvzgJHvu1iro5ATiaOSdRQJd4joXTvAxpKR9xmt+lXt8+QHQF8Z901kOM
Fvuxxti8KjVdsNsWBdshC0qxJTDJ/JLYA367OHyaE9t/1bgf9s3oNXLvDXUT8XyIUhx6OS4P/nAY
BZRWLey7roPP5lci9bbwRUwS82ZaXjEnwfsubfCQYqMnPFpaK2oJEtsUZlaxLQezNjc49AYKkmNV
ri1Xezl9Ea2rw9SWpV4bFq3T3mmbNURO9WTXRfiWoQqlH5U55q3OQXhUJk2InqM8FjMnfx9Z3q+h
R+obZZvvdLXbs4BgjbluGIW/DuoYg4IPeASLg/04RYZ7PY25dV9Yvvrs3VG+T1HStB+jMsv+HiRO
TLSKnIurhJbAWrTyC77m+D5NrXhTLPRltoLjqVcA+cqOLU3gy6PuHONWSuVvCZVLphXkgB8lJcFT
S1b1NvYm+57Apf4N4s7iJkz9u0hE3u2ohyRYFTU+HHzNgbgJjBjRS9za9SbVpnHvogShvayHLbcr
WPUuEfOC09R7hpF/TW47vF9hHqkTvCiWxC1xRSiMcvPNshMKh3l3MibP/TIMCXiBAObk2oo7i9oQ
5KYucZNbJ2z0WQfyEOoBt1pAOyk1Lc2s2YgRLhAOIq4wtNZ26mKJToStFYufQZAoQ8XM0lM1hM3B
Lq3XOHcD/NN+hXu9cTkeqWLjj+CWLQTszIUCNNLoAyt3IuAIidv6q9pnCd8hJMaLb9vCuQ8T1yfF
T6rHRrqahb4GUEveo6IbOxIxpfozyhVvBYbg2Tdb67rGwbmxwF6vaRV7uwiPyGOWNwCSc7YfO0oF
GQCEEgiMMEcsp8r36I12+JSrUUKxd8zpyZSyv546x3yFV8sE5SfNmRmox6HTZRQLqujeUWa/F/R6
+KvtimunmltiyKqyB8baDVtO2EDn06GxjhpHL4BxPHoy9q9ClRPLVSTTMyGosY8bUr8gA/mSx1W8
9oDjs6EY++S5p8WzCrpRseJ2DsWOajyMZgLaFl/6ztc+34OC9whoqoILC8hK44meitTjSagUsecj
7SGX3BM2Xilu4Daoyr0Y3PBFRFx4L0b5GOdNsOvGNs63LIdAxwnf3SC/KlZhDIQKNTCJJz5iMVKr
3A2H/+66cSeXtkg66Ws0A4CwbXt0dvzOSI9xBLAYMN98z1vtf0IJHbZZAUj4kEaq/IaRmPxJfF7b
ctlaoYzGitpP0NRd9A/rssr9bWa0YkuZnoO1DvV5EPAo4qlU62mJjSsQTV2TQdLfjNA1gDlQH0Pp
s8rDqrpDcTivrTHtH3qP2HtcAZBZ11QNliYGXIdVaEI42wVxBT8iT5nkDSmqG/RC6rEuum47XZgT
eRfG9xpw49n0R4vZdnKSL0HV183GQZ+CyUO9onqwHjqZYkZNgREwfOaTSX/iJA3D71nsvXRbCay0
QTJ316TtTnvUD9b3DjnnTQUtfheYaX5LUck8Sx4BVvdWHh0VW0+aZtrKt60NkhvzPr+QOWokpxTT
PeZN2rt6ACpeznA8JoPmbzUEg7d3IauAeovM4pEzYPsNcpz5OVO6XlIbaLylrNlZGiTWqaA8Xn2b
KK7f0cacCZKYZbZNRObpr6EST3QEa6hcMtNubO8rg4nsKh79Pa29AHlQ+SqAsqbXuImD+OTU5oca
IkF3jk0bTADArIRgITeY86nYhgX3+QF6hGe+ZsQlRnJYyaKO7xpBkiKFTTAj5doTw+uc0iRyHRkm
wV2ClxAVwHSlKlbL4fDTqf0vNId/khyaDmqzyHIsglKQvf+iNUsitI52wh42kAS/Dw6nTi9L7ad5
Iv05ktY/4jD/JOgjmwV9ne06i9rVvojfvv2v5RKj84QIsoNkisX8pFK26R2T8EdhKJQ/dqO/pWDv
3ZukD7VzJSWJa9Madm5anXMvJxH0El7kt9Qk0ZgtadiGTwwr9oHopU+JSe2Lhs2eO9cgKZLK775j
EHYiDu+umh9tf4nIRtkmDxnmujclcu+j8fpBPXYwDbvdjM4DBnSNltR9nzk7oNkJRw5nCake7OuT
JbKT2eGpCsiPHsqp+86QqT/Dua8fnShh967ajp8HCSreTDJnxxPayMBY5kmTw5RlxPez0eluF+Uc
EvZhQiL2xA/KW7cRBJpKUk3HbWeF5DAv595L1uvff+l/Em+aWF1dqjIwJxE8/hqjVLAbjv3ObEgM
W87GJEdyDtAWVurffEL/p6J1GT0/l1guLNJo6VhT53DsX0dXKDmtQblvDmVKzi2FiKraQtLg+3Hi
eUnFXRLYE0K9fEjNzT8lo/353ReNaoRlxkW0gLj2jwUegXEqgLTdkOol7Cd/oD6akR/FXrGUC2SI
d/VVwIbfGGhE/IOE3LL+dO2/KVcj/BYknf167cCxjRjEX3PoLJJvAKMn4NAgZJKxnXcckV1rCVDu
3am5VskSOWXKWnPIq5OgPABjs54uX/r/lzL/oZRpL3DTn56PP5Uyzx9d9/Et1TSUVfeznfP33/y9
nulH/8L9hQGBaiEHT/we/1PPDJx/sbySD4UngufKcxgL/2vnXNwhbsivmZc66P/4tkiWspfhiTDA
obC02OH/DVfnr/NqyDvgVnAgnvFmf5L3R87kG4UwxCHMys+0SWiphU28oEOGfxjZf/VOlBTYdQaQ
bPGp/fGxKmu3dtFp8k42mwkgru+ibsYVgAj9D3alv3on3gNxkxvYzFfLv/+0VkDBAXYB0OlAtUPT
KjFvux6Iv9/OLz994X+xCv7FG4U4A1wOET6X9avnrQ9KK2rkjESwKz6LsvgkPPoz57//ydt4WJOo
X0R/+o5AruK+8kZxiA3SqKOwheaOG2tdjNl/cOsYqxGeEsoUoXWxGvx86wQrSgOS7NCjBzyNaDdR
zdnhSZLs+PcXtcyiP8/xDDwsiTaa0GjZRPxaRg965LaQoMQhHeih+np6mJLxxTKml0tM4t+/2a9T
+uXNaAwsHQC4yL9O6UgwGp7NRhyitqPn1FXykNO1B+KefSDrRunkSmdFTIb694di6ANJxhEYEFT9
q3vGl422KWWJg2iz5lFjRUT7ZRQvRs6f/v4af12dL9fo4Xdw/MA0ear/OOpnnespa3BHG5rKHIrJ
aQtAL378+3f5qyHv//Quy/L10wAJ0Rb1BoihgxGNHm3L8aWvhvpYy//s1v30Tr/MFwOWNA6cvFNa
6okjb/4xI60Gd/uPj9fFSvjHsRiFTLILMTtybftXI1wTV15Y0Tg4iN4mucWEPb2ahBrvZpfaVoRd
emOxqd21kecdTDk2G7jxgFVbtz72rYeAjaS6cRuOiV7Lph6+BWlG+TCPnavF4EjOc/GJQtq5ovbe
n0WA3BUFZuev7KhpV43gRyAsVVsTRsNas2IcgpHI+UlGNll9dnPlxXn8DkF32gDc8A4xcSCrZqL7
Sy0i5EA3ApPoJghHVD3IAujbxL1SimhxXZT1ViHff1RG7h454w7f2phZ3lI+n923eBe4GdfIbPt8
nQYkfGwnt4T3UZA9lHV8HsOO3I8q5qILJJc7AsPEbWLPDZHPrueveyfGtm7hkhxXraOQn8VS7Foz
HrecY0KkHcJYVyZXN4NFQWsf0G1RtQ3RjskFqjORrT5LAEYKa0c5q0HYyLnj6JKevc/lTPPDROYW
LpXnMMKIARDQfiV+zbseEyt/T8KmfPGHggTdjq1161f2a8y1gxUfLPEmKpdSt08fjeNbQPrg2nFo
MvzeEIAQUr50A2YV+vLVPa199R5za67TvBW3vs4/TYvvVOe+/Yq1+HPsBiiO/twQ2L18+m4pmENN
LnayNNmLeRFIprs8IwcWBop7xYyu1jhPsn2flM6KbQD1jNLWNX1wbFIrijHZTYLoFSFQUn8CMLNu
UJtzE3Xp1fCThzCk0sywL6krHWczpg/gc8uKjJsQ6xS5jot2rWpF8hTONvX8hDC592imiU+eM1Jb
LyVttKSMNa8bIiLKfUbAnThbmtrIhmy9/ksaC3pfttXTp8AcQkvFB9d+MpB9vIYAWp7Guqg+Ibc1
R66RWq9i5qQxSuQhQqOXBjbVE5mCjB9PIrZeS9frC8B/ad/s9EiyqhyFsyLjgK9AxSN1phFPFACu
pDAQH/rRS9dKHjsXmQyiVpa4GQ73XjkCVI1Hky19UaA4gd2Edf4RDbaxo5/fn6GiEESSRaiMO9qk
DwNRBl9o4RV7T2hF8o4h7WyXC8eblzTFAjA9QEfSCcfC+jpHovtuzzxbwHona1MOXvcMdEW8UZ73
roOJvX41NnxYqQ0qRzCj4IkOSMmtgm/CS5PivU0AMwBTr7f0wew12r9Pm9bdKbYw4/BBEKcl1QRW
p2uHTVr56U0Cj3OrkzLa5wbfkHZY+hAhlgQsSVQYmJYe814ivU/FmP6oKWYe6oJaCCYQ5HSupb8A
e+v3BJijzIg0A2FG5HwECYaiLWtXraFMTr3lPpLJD6VlsEm78REvw0E1PcamKTtWtU8EB/3Da5bC
4D7VPJRWzccyrbI/90oS8VvwnLvgzVa2CIrXEHXQtRmNO3Th4PXmUSjqJUUHcCbLydxRJYOaWZHw
8FJMm5pY+FuHTeWuNXjqCw2ItcevtXK6fKLFyuyG5LPfW8u6K1yu267yjwxe+W3I6eejHLvw3qEQ
fNNQmH/K3dg5jpoRVTChvpO9jmK1nJpNX3P5sLZ5jCo0jbeq1sM3wufQ8iXEj61TtwjvLZ8oFtcs
PzyPiVJK5g/y5YP7megsOjty2tCR4BTrOTq8j5tCnqxBM5Nddlroolu08ZXe5Jgn15Wtm80Cg9wA
j6YQ0IVqYY0M31Iwg3RvyeOMyGZC22RvZVbeOkI1u3RwSDHsKnHbtcu+urGXFq5gMA1tCpK0slyY
g9ydLI4wpflQai+zLkarN1UQAWoOzFb9MkY8wt1vilhlN7k3Jrsezz1zHDuJlWEo7wba4a5Der7u
GwkG1FkyxRXo8372m+ds5A7NQVyj8A4kzU1YQ5pvGJAiddpDwmrw1IskRolT15hUdXXfaeYeI2H2
GCIeeuj83HOocTsHV8kqobp448S2+TWytLruDZw+RaPhpiyhaD513Zwm+L6KEuOsZHbrYE3+YuR5
d0vTS53jfH7NTGd4DYsp3IQTAXPubHmHGavmlnyf6lYYMr4rizdkBdUmc4jLTBamsMqeeZ5fZG8i
ew4bBI5JhdYddcStO3WoupFm7On2fjW8Bs9SwKKHy86FWJhio+OkfJQ1M45ZhRbSIQtVHz3ISfw2
yfpuJ3Yz38GOsxfycn8M1qzbpHlO5agPFZIVua/TaGVbqRhWqotyBN5lyWSWc8gj9xaZfLWwJorF
bm4ieBbBYjyVYLz+i73zWo7bSrvoq8wLwIUcbtHowG6yGUVRukFRlAgc5HBwEJ7+X6Dt+SXKI9Xc
jy9cqrJodgAOvrD32sxeF0a1jSXK0ErY6SA8HYEJNqX5oS/J8BtbCzOzJ/VmU/tDewTPSMSBUYLO
iuJ2qj33NI8makUePgQFXLmEaMZ3LQjaMUJTmGp7WyjA6+AHLZh66KyUf7QVQ/RwXSmDaqQW7wig
JNLKe+3nLIWwztb9W+O4CZrUxLuYfK8B+z8HrKGBQOq41ybO9dlnySE2spPypnKh0HQsjAJwvn6S
bWWTdoy1rcFQJWdP/9nPCYWHu17cj5k1FRhpXOamFNe2CIHyqGNVZHmEhPOL7Q/Yjdaw05lFig0O
a2e63F8cHOoWkqy2WuM0nEUMxUPNNuc996kJKijD0TcAYDyY7SC3jN6fGdnnW280862poxOFCojc
E0ngeeAZbYRT0ulRZZss9nFQLWdu1+QlATgCJ83otbDwUJhmhaZdiMnRmSwnJecbwgAO/YTqhG4J
3PZoM4WOGt7wIR+QLWz82fmdQ3rVN/3YGAFjofeHIeBYrOrtdxV2vxBhNfR6cUAOzXljjupKJsRQ
hH5HnUDIhzjPFpsm/HHUFXnQofrp0CNLq0xEaAS/a9Tem+/99fUwITA8JhQ0u2vf8V3F77GI5h7g
9XSl8TjoeElzztTRA2dTDHfxzGPu1y3GT51hoBs6raFtsyVnzvFuttwjnS2TsSkQolOEVTFrs7fR
W0WMy0lj8PWbaaPxU0+z/kIP6zYwHMtCKfbjO6w6ChzbzQsOFNSoIadEHYkej3GUdeUzFn/WtPhC
r11SYm7eHjssZhm5pkh7dqlRaJs4Z05ZL63aTz3P9V9/Hist8f0VYYB6WKN2PJ1J0vqBffcNNJPA
h4wh75DC2ToOqi9fa6vlnhrl2OMXwbw3bQsUuRkUb0OeV85yaJB3eN0ABN8I3gSlTHX0zdaPZpPO
kwAZZs3FPDgn2xTBZQU56zJ30VVITANolIbYIZmRU9maaFy3CAnie8vW7Wf0f8hXAv61J9vMuyWb
kgcwCRfFoy4EabrrU7EiPtcnPSQnUevXn4Wxfhc/tGp8V5gFEPq5LrnqP3FahpGFqNbnB+miR3G0
vg6xjmDMtuynFvX9QaNsRNSSmjsHefEGWujx1y/hpz6bmbDrmyQ58pVwmb67POUMUqERhjgE9Nt7
B9D6CXfp746BnyYW/BYGFSYqQ9v0vPff+SAGxc6wFgeItBasMw6uqnExmJkBfYa7KlBmwv7OCHnV
06/foPnzZ0yJYq3zHyRalv2+HYa2YauuGNOD3SNsOhR2HVxqpDd9LgdKY6wwznwdkKvziI3/MSc2
DjuQM+J7UA46irpKxXregmltsehY2wT44s622Z1QfweXWV31X9G04OnQ4p7G9e3V/29e/bt5NQIl
HiX/mTp4/jb+6+rbJF7qH4bVf/7YX8NqQ4cXpq/yW4anrrvOlv8W3zIbBksIIsL+Oz3j38PqN84g
qqoABAZgVKwO/x5WW8YfFtEZrm9xlusm65z/alj97t7TeRpAGGP9xA7fDdhC/XgStuSsLGNSZZed
OYj52a6hNoSV7RG/oKfk9QQsljvcugdBykKpXdQm0LBufXpXh3oU+t7V+vlrZyXkHmt642ymbFbL
aaKo+YZ+0IscNVGmtYdEW1TBgCYvxhlIIKtpH92EGpBT9F8Lr+qKUJ8T33O2kDOzNLjWhSa9W4Xa
zbC23KhYvO+tt6mYi6dK/1QgixIzS3oNxWeX1jqJm8LXgEv7nhaaqnRmZjrJ4uRTeumqqm38+xTA
Xz1mGx2girk1SjaRXZhVrPwfeqaARBFmqEdYCreeXIZ91SifwB2eCJV+4oDKh+2ity/EwHY7r23m
G8csKm+zzGPGj7qztjCBxwH+J6znfzfg725AjxvmVzfgXVp//favi754rr7+cAv++YN/69+NPwyT
OwW+ZkAWDDiff9+CnrES+1hKGh5PII8y4f+3RfwEN5cLIpCb1uQ//UX5Y1uELUZnCf0WBPhfbIos
/afnAptfdioWr4HXZXlr5fpdHdJiZ+zKgDRRjew9Ep3SGreWKdE9MJjbCtN5GkulrgoNAD2OxqcC
BeiFPnpn1vPk15ZLmkdNb5e3gSqrm2LQH8EgU7M2RZvtaps9K7xMlvdEiG/sWfN22Uwx5SPxxDJI
uz4ZNxlh5s+BVV5Bur2ytHEfyyaOZOcEADlLcoMVsVGqE6+DPohzyee4ab2mCtH/taGu+QvpBeYY
gvo91YF+4xrY6NFTPNekRAH76Bh+gvZAMfnar01Kieps69X+2bOm/Si8ZtMwpgsIgx4NdReThBAi
DtrZZn41zMsNRPOTnvC3EE+GUyqeGSKT59wuL47Mj4UyXmjintq5R4HLGKMrU+tj3NoH0fluOOqU
XzXecsAA/tmQ1lOuimciW4ydniCTRS+5fgKyZKhq58Vr1lQAbVDm76x1HGIxksE+SoCrGtVDYo13
fjW5G/YhyUVXBC9k0TH1Te0DrvNTPjD4WgqW+NrY88HgyMO+eDTTwdxM+QThZL4bG/sptfJjMhXP
XZtR3jpnL7XW7bfdb+HSv42dajnf2MSz7WZLMh8HdaPZ+XGxKdonkjawUlGnmjUflJl2wFgcygIc
rymSJmaxg6ZYYzMN2Sba+lmm5fNgzDDl18OQLOx5s/6uhtnbFt/lDdXujTTH/ZCCaV3HR8TOnxoP
KThhDq8WByzuAHGV59PJ5Ms5+DXhi5ngHSK4elxiJlqFdItIBJYWEcyCeQO1TZRSzl52TnasZyYL
NtNNtm0PJbm401yNmyrFpUst/FwpZpOFOb2Q1HtSZoLwO+0ElGfvSUz6F7+1roNRGBuXtmA25YFc
oO4A2PthaZ0Dam7JhWodkpLvCKwJ8xKpJE7C5eTWc7odR75PdmUWfFquhGmRFFAE0MJU0B+rxHgJ
EE2F6OuqUCbF0fDUQ9sNwHqK15JAg43u1pIMgenBiiGs5IIZHpNphqmulm4MQwiEt3zuRuWewYg9
1W2V7VzbOTeO7e3k+nO8zzCdPC5Fy30SXjcf3InLUTOmc2Nqzecs1gK2Gimp8WuDbq2tejExNCJk
3cGOLNWhXfv7FmXMRV+6/sWkNO06T+cCIFFTXhOsOANPglFNOme/IfbEeiHF5/OsOvfSIFYl4aqp
VwcJvpEmi5CbW5GXL+NzjNlMI7LELNx9ZrfVI/qnx3LS3CFabGzkYWkS7JnGZ7vKP3cWbrN8KrZT
6hK+Y4mokTPyHXtKjYjcEhcV19QlZAdga3G99lxo6U0F1GVLit9jraEG7lFEb9XgPE/VTBBUhR2Q
QUS6Ldw29L05I+wmcHelYDZoEi9xY0iHAJGKy3/JzJeaVSMW9RKkjiLEdDKNHdp2vreZW4Ckzxgs
uwFrHO7lNUqbYT8h8g7xbzx5mnsezHYEdNG9ouE+0Zf+pn/5qb32EVgHbCW59T3np85CAC+HnJTX
BxZ50JaHlg0FAGHhtEQTGu5vGrafeld+W8ADDcINpZv/HviGJ3Co3JnyK+FWjyoD129hpaFrcaB/
9zC9+bMH/B6D91PHRA4bojSPXwYhm/nJj0+n0fMmK4sbVLMyfw5WY+56HGfGCN+lJ+n0gj/pu1//
zvdwRNadzAtYGMKUoPp93yklVoWOFDjRYZaIFfFvPoCNKja49g/jOhFd329RLKeu53T79a+2LN7P
D53w+rsDRG90hwC+36uxkP6MyAP96sA224qyuvSxu7oEtPT6iYTC/MDI/mVkfrfLR6WOmSKfviN9
JcQ68JKSLZpUy2lAL8fszjkE62otG0jG8sfT6HJ8s71vNjnMp7bOrpAU70pH3U1lAsQiLdnHYgbz
GX1MNWNeB830p8RhHWj7HA+/fqf/cAnBFdZNSv6VevfWrn5XdpiFCMratKtDavY7u9Zv2GLelAtD
qN/8nn/6RG0D1iWOO3b272cLBHIR6+uv12pQ2Be4xW5mQ9BZFBzCDI2zqPdzZnHsTBHc3jCoLW8h
D4uNvSSvreJcXkuVbGWDGeZ0IlQ8DtFJPgAhOFud2qc+x73TsBlOkhQp6GROT4nDULNEq7mdxCxO
g971d1U+PU7r9mgwhX2Uwi8JjpBEI1TiNRYO+u6c+U43+fUemvlrXL+ZOpAgsoNi03ZIZ+eQphUg
ZJwX+MqmUw5BCHbHcuPNDH/A/6MO97XPnZMTdoMZ7zcf5D+cMEwNmBkaoBdN4Ig/3omgKOvW1qzq
sIzGWzkxcbI5K1hEG63Dr7+0dx0hW/vAQkRl8215aFbeS3A6c8Z1Aafq4OTqzu7Zb9W/OzDf7qR3
d5pHYpDNJMRAsPJeqiJSDDCFrtNCBqrZ9WIyN8RUvKwnvVisGQt2fMxN+xBo5nmMg3TrVcVRm+KP
fZZ9wdUMyqxUXegXmXVQGQ/xNOB0aubyyjCSV/YP1taLSTcuLJdwXIfNAzly/WUh3K3ymw8+C2cg
Fj4Gx1nMG3TQY8jchlkQeT87s2PIZgWtuR9YzIW6KV6dikuwFfkVkJlj7qDf9t2MAtUYqX4NcCVM
aDZKl3d1ZaZb21pOv/lO/uGO5btARYSyDNHte7EuLm2JKht2kFHQKKi0hG8g2ZebWs57xrYdCsqt
qJj9c+m4JCr2HTlQRnmNPe/RJ7hpC7uCoOcYoZh0AekPqf4EZ8SKcPkipFXuOR48d8OU8pwGZoY7
lJOogfUZedn8qJvjywIRRnjifrKoDoOWN9xp0GVS/XGmEAubOG32VjHug2a8Sxx3CLOO69NuOPh6
V8GyJG0qKuEL7U3WTUHDvuXXH9I/3CQ8M9Z/CC+kezN/vEnGBIiLHFV1YIEbUeJM7PJ4ObYOeKBJ
fvONgHb++WkBwtbiWDOQ8P90T7a2NVumPVSHzsRDa+D0i/w4O8Y8qQKD74dBA8r3mQaJmCsZEjz4
JJLiCmPOEg41Fou6ChqYhaolD5w0Edh5EMxm/0ufG5ea8q+LAOswFoksnKraiqymfymz5W4q5hN7
Kh7GXGaJlT+Dd6JKRVeSLfoVBlY4DjW7cyG3ClPHTvKVvrWXiz1ZkXD4i9Cujq4m+YlmVLsmHmRY
LDJlWUWUxNoExRXiFHwx9ZEV8IOQNJJ+jmxjYTdGJM/40MlED2c7CFmMPeDQvQHycHzDghqkTYsq
n6P1D1pJ/Rar9YJsBrUzbLZg623UTw6wjPEBcBENhINqwXdZMBct1ZIeZ1dTmyMqa/jbneY8tZnD
LSbj9jJwphdWZtE48AHjd71CB16uECceGYX9lGGyYGztgp9zDop5kKay45tIpku4gaUsjjTFpNTw
ZMFayIXJ3eGO8qownM9pj+oqN5wzTteIyEo8GjRGEy6E/Yia4uRT2RfSfjI7Vs2/uXL/4fam1sF9
R6YSV9T7BU0xWzDnbKc89N78UvXqrtd57inarJilXbTWX2+tdi0DJD0Bld7bPV+lcjeP/Ri2GT/W
gnnMZZVtgzyIfNVZHiqVpN0wcK+2wTTMB/jkOGwEqDE2HGLbris7wKHBVdMFabQkPBflgtyi4izf
LJ51NjXOmEzOj8qi3NIhNEM4RCI5JRIvrE9lndAY8jxMrZovJKHM9rLhAU5jirlK3nU+LWkwFFdq
GO5ssG14LdHUwzOywJQsJzgzDziM/Kg0tIWU9vnF7QHndY288+gODrlwz4qHCE3m8GDhzl+reen9
/Xz934TtdxM2Ymeo2f7ziPs6L57Tunz+Ybr25w/9NV0jKgMfCaJqNqtru/CdGvvP2TcSUTSHb5Nq
So2/6RJrkA6XOlCB72drhGuQ0AOKwjXtt17qvxtuO+/OaCbszNDBeJOhgT7aeF9/dipfRzYETdpS
myLLLtDDKbmzSunfOinbT9h3JGahO0gXBs+dO2gfcORnDKRdE+c31oRmAd9Ygo3Za4zSuocB/+cJ
3pvIbpB4dJ8ZjYFjXND+pUZSYMjNTAhleRe1bO/KoznF+c5lpRRJlVUgGkgC/lQhyrtSMwjpfTkb
e9oOhQooNZsd4Yhd8EkJMjoPvg6vrJPt7D6pcRpoRkzHA7GClzEzawb0FoVQtUE96ItnRcDx0wB7
szzUHT6+XdNDgriUDsynZKcVpW5vBjzK6RSWI1zy8VykmJC8nQ/UojlDKeLtphOZrxhRETDGB9hH
OGK3Zd2uqPWKDYJfMD4hZ9mJ8oH15RnZeUxcdVzwebahmMthbDcxhxxOMKU8A1wnTfnLiH15XLZ5
yrNHR07ZOwzdq6yOGWAO3aIBGB0qfHAV/LxyAxbBXpWF/tLaxD9msJY2CLaYBGw6phWphwkwGwhI
/brEgACcfCNLOM+RSmphgx3E5703ibLszl4p12Fp1d3oREei0dCscFQ2A/8+rS5STVP7hBr6Pmfm
geiq13lSG9V4a6Bc27lBMz97TZZvcexiGc7nNBI17jDllzl+utU2zuD1oq7lsM8r1TJaqsB1FqoY
LnxFRvSQ5ruyXO15bppcOyYYUJUWU+TaSR7Z0rFCFIqYUpYgvu3KsfwYV5qEFhwXCBQ11VzDg/qQ
12Vyi7alvxlT5d0WTa4+EdU2RUlgxMeuSafbNUNqN6taPBbAuKG91fNHZj2auYFyB9fIM+NoNITH
jCqPH5HBWQemOBrZrzjEQ8AnwU55nXUZgzTZa+C0Fh7dsDEfm9Z3Qg9GwofWNar7fkblByE1TaaN
g9h6onbpvGnDiG+5qKj1XNBEfbkdQH1ejDw392ORJ48WabqnYIFvFBrsNB/AvCI18WEAZit7rHg1
RtsFne8tzoQDqUKJadZLCADDuSHn27sAvfSQtR7u2gGHp21N3qUxN0nCGHJBIRZ3g7oeksQ8GRMO
I9vGWihBOljIWfruNi3c6rHrp4qMJq/5QvLvR6PtyFMvfP/IN40/vyEmELayf7WgSbrFj5UeK9zW
D2RkL0+DtQAcC4iIesnqTj8RUe3B1Wst7zjCUNvZWfNtxSAdDIfQ7ZS8Lr5BL2OM7w9PupsVH2eY
Gh8ZNApn47R+/rFlqRaNjAEOlGAdgDfD3AbeKHcCBeFYZ+4GXWyBUNear6ugco7j1AewEvH7A96C
KXptZILK0mFLFhKfIW6qOJuOE1m83aYGsMVVTM2YOj5KISG1PsL6NW/rcWg2Yzym6+ciQw823ybR
9E3j9OOxJkYgsmbHfLQ9zbqWWveBiPX7rNG8r7jsyfDWA6VDWR1B+GzMZskeyBa0T6U+x5Am7SZ0
sx78k0guArv3ruaRNK66Hvr7pfCB5XV6/eIOuh82ALxvLGAyX5DSMm8wtILs2nJsTkmW2B+SlLGn
2xamHY5lO4ORhudum8bwSTpaRFlCRiGmv82SGwZUlKk7glpPnnsrFd+KkT1gr9pLc4jHreOOU5Sq
wXoy4fMfLPCefjiNI7m/E0w1O3dHDIKSIWyY26l+NgCX7boaeyNRun59C1wBP1ojDebTw2RQFApE
jUUsdBWmJeGwBzOV01092mh8GRxZeGVj/0s+llAp0BoAl/ELhtsxIMw7BLGYq1XlPA8OlWSAoNsN
wb5yzg06CZGJUcUNaKO0h74JEPkN9AIZoj/Djx6Abw3WiHncQYjZi/SCwZRixzMD+tUMsz5j/s65
RJ0a1d70Qulc3Rmju2ZBxrCH0h42Whb3Fw543r1kZntJ6c/s2m/8Fxvi2Gut2V9F05rw4VSPpbkt
yaUMsm3L0oWbXMuvRhzUV4GV55epXjPszZaXVDdRx+pQSXBWfqj17n5qCTf3jS6F7A8gRpAytBME
2OC+X4LbFlA9TaiZkoPcjz3Ty/Rc5CrZ2YOIo67qDLaujr1HdAm9s/VesqXy71oTWWXaFvVD4hmc
IGnXoMbLy23XxU5xRRI03FWERVd1hXwRs/EswD24cm8TWXfLlVtGKGfGGzHX3dd26jUdBa5RUPZg
OE/c2D7yCufIHJtqU0NqayC8OOVNGWsOs36EUUZFm6T3+hTNvS4utQ4OAoLOei+HaYhsUBWfEL2m
UeEzjVZe/ln2xpesxa268Hi8VGOZoI8mOvjG9pEmVn0N1L5MzQ3JoP2rwdB2y35muM90l/G4PXZb
wldytMJI7iyWAvcgZvsVyCL3Y2C1vArRXasks4xthuqQdGOSIQAbpdrFOJw6YacbpxqJEbCLz3BI
hl0y+vnXkiEvdECd79X3P6d+8a3LRX9haTzudS/Po9bhTyDxg3Bm5nhQQuoXwEDtSAnD3LGRNC6X
Rstegsx3ODtRRkqn0kK7j4vbTBYkJfSZ2DUyay8GCpLtgPP+AGC333kTlZc21s4e7ZI6iZJFXVhM
TRtJQ9Mi9lKwIRuQEBYr0BfpjDCe7eJBDImxGebUPYxQNjbCuVpsrE2VXZIT0ATmrjacl1Zvbgc0
7KBHqmyDUnfPEa2FiPmeGDPOYYqyfwfTiAqj0MFT6/WZpvLW0/t90Lf7ZcQ3r5PMHOlpdYd5ChQk
gac7gmj9sGXEEGIMwMGcpsAiizXyjw1pqWl3AZK0feEOwcFGMsS0F6NDXt3MnUjZ+5A8iMGg2rjF
zF52MCCC5AjqZYPBY2kq5I+1HzrpYOwrZRGDrXnWtSYnM+Rs9x5ANIvDksWwiR3jWxu72hZKJuOB
cihDUxDwrmJy1sEXD7ejaQQvopzbLQPCKqx7jf2Sqm5dxgc8jBc2l85gbPSgGS4mXN6HrCLOPBGL
fyzlfFsI57Mdex/eGoT/9VK/6aUslKX09f+5l3r4Nj333zdSf/3E343U6l1dzXukh/+t+fkL04d4
8w8cnrBogPchqlwVcn83Uu4f5Cnxn4DNsQ/6IY7Q+cPHCosRELkpw+P/ztZq2Kv46fv9CGMuBwM5
SXzsDujdzHV3893aQCddTLV1rV+Mrdl9VBoYlb6YX3y4JefF0Ch/NFD2E/PiO2/0r/q+UU+uytr7
ptbuWwbxxwHbRdj63nJl14N2McdgNPeqztKboWq158GDXBG4tY4Rxo9Z6mL0TfqbynNm69a2RW6W
VECF4V0sRuebZ7bMev2hL1qT4DEtX2qLqHu0cVeUl7qHzIeY3mkK6b5kCQMvzjN7hxhY94idH7uu
/VD4laTs9EBRGMc0mFzzrcORWy/VScJJC9tsjtJOBNjiDMSPruO0medgK5jEGUevnqmYwI/A9V5Y
UXI0Ihz198x6ZudiELWjxyE6by97iGei2VRoeLlqI+Ac9TNWf/9rgubSixazn/p2u4qYFAKD3hP6
PQV01kSSl9DvcwZ6Jyz2S4+XLUhPcWbQMY7Sg5Og9CxT26VmcUXWQXYoExZHUyVkSfyPJQ/YYvzt
qPvOJ8SEduivjGoBrDopioYva8iugPjUh8wcH7OVcp3RwYYGLoNDPiYw+VrCxz6KSYzJdoaW7fnT
VW13p5Tm4mOflNWGcvLGemNrVyrARw9vW04xQI1h/LRkDkvpNmB3jFVvyh8nJdH3r8huIu2+JKLu
tlacD/eIwZCdLRrIdD5SNh11CGZo3PdeSosKFZwm/04t4tEtzFfY3/K0rABxlJvnJW09Gkn5qV5R
46quDrkUDbWoFU1LaYb9CilvGhyBHYKHNCnhVpn5YwOqLYI5Um/huH3joHevSneJb8aALo7nvYYb
aB1dW8CUILDsbWUjel/UtZlZLvYbWryEAm6DUDW9jIeiu/LlaG6JutUv6NHFrpoWJxy0JN0QjeJ/
oSRU+1I54ouftpTr3Txvm9bR7pIGoleVJd/IuaivHU3ek8uGxWjlxOtNidlBNGI1LYGnF7BlrJqg
yLCCOi+R9V1wLqS7roPknZQOqCVAv3sFuL528vICqgeGNc6OkOktVLsY3H29cu+VA5ksSagfAp0k
0LrGLdBX4PKdFZzv6KrYUn7CsjOnB2NF7HcFFluY+8sK3y97xrqO1D6SqKCHVj5lx7RFMAQYWbxa
1Lifh8XbIJwOs3y0YViq1rXDYdbzy1Llw8l1JXf80PktM5lFe62ZpNC24Md1wppY1iTqMqJbNjN6
hIOZ68PdbKjRuy/svLlxdRNIPins4tywkN8xefS3sRd7/cYohuyhBzNEIWzAHgOwZDLBJiWcckvy
27iwaNAYmL8Ma6CCHit1w+be2Ci8OJiN1vgFf5rmry3eOX2beAQ1DFJUbMDHeaR65tKaNtrs6tOm
5dXiGe1H+Wq0RKuAyI2bnTsNQ/o6Z33AvTYGLTRFvW3GMxuE/lPvcLWYkPdT6OSq1E9pFZSooPyG
GlcDU2XyFG9zhqhz5u6xB3JKTMzraz2hCrAw71nNAp+iaYkzCZZiT0S8APO1PE2GHTx6opnORaY9
c0t9NBdBcFeR19uylUeptfaZANA8gnuZnSpNfI17v4uE2YjHssso493GEVeMvddIg2GxIrZHjPXL
+APtGLFnAfLqy8Yu6qMRMEHzLHUJ2q25Q9ym3ec0fc9m6YgIP15LHlQAtX9IUm5jOmdzG9fVtJuL
Wb9y47km0kH2USKlPBdQ2FCFiGpXa/q879a7ltbYvS1Bze1ioI7IlIp07xXqhoGV2Iq5hwWop1DB
1/qm9Rc/ZElf3Y7W/AmbgYMIowxe2MncepNNndTnljpYvnxy36ooHUy2aakLuzCw+Q6GZYXSaCQ7
X9smKUlqJyT86c5f67ZKX4It8dqCkCJ/Lf8MzgN/Ju3Dz68XTVdXswgyOvPBY+VBATf1GbeWZw5b
qrhkjwpqCvXR9DdBlgE8Mrr9rCWsLS15FQycWqw6yX1lRLvR5VRdyNx2QnfsnDAxxrsB9ykU/jon
uoqil/cWIH2a9iSRBBedroAKGpMeem4ANmktoHWNDeawFtVkBbVR9lZpo7HoHxhWBpGFMYyc+yKI
etleBBrsrU5rXqfW+1AKr94ubNZ3et+I1a20bDQb9U5K9skO6N101PL2q8oJrJMxSSzQ0sJldNpN
gRH6mj2vTlvNF1vpc7Yb1+YBuLp70NaGom1AMDGoBJ2V5GSE+LznIc9gN0J9vHZa9/OyNibV2qKk
ufyM9zc/AbbGowINOIRIO9PrZsYl10C/79cOZ8zzV2I0g93ULJ9BthRh/tYLZbMTX8W1EZuAEjn6
8al9ITZ8xN4ou5s4N+NNurZT0MYUD3fQ166efKKTeIVq9g0nXLErHAoGNdkfy25IN2Xet4+Fz/9q
6RgcNrR7r91gszjr0TLaHKKw0OjtaqfIbgOzbi70t64PevlupBkcypi8cMXdxSmlPuLK44EhrXuw
a0wDk4kl6YRQcXBF8cVcO03ytOqLwS7dXaa8eUNHUO1YUpWXrDtXP8BiYw+fv/RpPLNWdD1g4ryG
kUyxrR60/iNxvstNbvU1HyhYcoJHvGGq+MAaXr6SefaJ2z6XV3Ks/IfWc/hZyHL33RBfuMU0blgG
JbdDX4w3DlbGT17m3mPGHzdMXs42E/GDBYDZQhdGFp7Tx3zQxNfZHwInR3ftuEQgSn9rL7FrEuDi
ARiEVcoYZ50oCBcX+iapza9kBJDpM/M9r814fa2MRR70ZfIO3uT4nzHC6p8GJhlZE8vrRbe0bKtU
qg5ZI61rh8icrbFkhITaRNJANcOtHZgqSNddGVeEXt61fuDcoU3CO8qpCdE/NhsMnHZfvPYdYeDr
jQqybkHyVINA7Nx90xgOt0yFKuTQ9cGCQx2rSkQ42T1aypUorF9idsqeenAiX6qkPeLmgA6Y1Wmy
aRPra+H2zn3lCvOF4Rtj7MV2A5ICxDBdNG+TLpGn2RBNzjy96OtMrHmbjq1zsnidmKlUw2NcuTds
Ek4xnkUvUjwOSO/RUEXA+lPe1zjxyg2SHe86kI746DSdjetcOBHj42LrCLZzTd0sMKKB6m1radV3
nUUg0WbmozhPOVZqtqs1Q10JlzBaOl+WEcA15ozrxDExumwXr5NIY51JNrwuhBiutgf3FZd7tuvi
I6dZ/pFH3PBUjJN+n2cyPuiZRwqfM1Lxxq17JMoCpKlAqwPyAVHxY0JyxIyfdYZdv6TdEVEHN0Sq
j/m2IWToCNEYSn85GXk42VUTMezX0dkzvJXLJD/q/jJ8dVhUH/y+DshuyOQ1DsLuQ2058LG9Hnpx
ZLVulJcrDJrqCnVBJ8s6o33oR8a4nLAb+qQhiPCoW2gSMFWrLWFaMj+BsQCF5a9T7jH2F/cJCz0T
cOVPPFn9wQ64EUnlC+fOBbJs42o7u1aeflLe6GoUK8N9AaXcIL6l0q6KahKfQF9Uuy72Szsql4mw
7QGWaAbP2w9tO9dI2lmH/dAc4ls8CtVhKjleUYHfjyW1cV+1wxdCoupIAwW4c0mZPHVvi4W3HYMs
VfnA7heBCvSc/bguI7J1LTGXMo1qQsk2jbYUkIu7xtmN6zqjsJ2ui5wlLsOM3e9WZcZwWVbLwOgo
qw6DNyU3IC3j+c73sq6+npJ0cqIgmfTWJYOLRRjFAgTVYO59tLXm6teg3BSrfYOIv9G+r2Xi5lg7
hrn2va4/ZEFaBiGmEYwgxWRjEO/xR7BmqrrI6lPOUSR9E6WTax1k6jofTX+VfeJDabxDl3MvfkGt
H0e6lsXJpVAKHz6XcJchpUtGDJyQFja55o2cPrKrQZxCWxr6wLibWkkvYLTafnHgFitJOg7ZO81F
xzUZDdISl3DmxCY2B++1JDnzRceoSNqP6GS2n8rmoc+DWHzCGTBsSuLSyDUEBexjIXUiBEP+t9pv
koM7kHsZGhKgRys673HJRn0rXE7nLbku+Q6e8vKsU1ifMEIjoac/rr1G39f8b4+L2crbBhLZ0/+x
d2bLjRtpt30iOBJIAAncciZFURKl0nSDUE2Yp8SMpz8LZbuj7P7bPr73Tbej3RJFicj8hr3XjkY7
vw7QiU9zRfqQldsVxAKT3EgzynF5pczpSxFQHdRpsx/T3lxrnZQX267zDTtZ+1NDFbltR5y2c2Em
0BIRJOUN0/7R0u2WRJWjURX9pqRxv7Zh7O90KqwPxx7tQ57qahWkzOCzknGXistoD0Kjx4rveGcZ
5ziY8WgOnzOfRRkT+Ts5RiQOFYwf+UlYTAprXVnWdKjNrKaU6sIzEmIPFiQS1S2fm3oH0dPZ1hPh
RQUfSkEcWYwqO8ijLXLAiG7ESN8bavoVsRH5wYgDyaSQm6Qg8hknddY2eIqMicmelERK2cxPfWXc
tXKerhVuum5Ms9sx7Yq1ExYSSgFI6G02RdG3qnLt2yCIyUar6vAQYGu304aDv6swXwPBI0oKODyA
8Z5LZ5iIehH+pR/DFMpn7B5SN3a2FsjgFYTE8hQL897zckjZTTOWa+IHPhpVJGwkJoQQlVl7l9So
9ZoctXRrZoG9SjJfvrGkU/inFgphHkf5GyGOb2yOwJz05OY55MWCqum/ipGL1cNBcZxybFAmjSdZ
tw4JoWMRLrtHyfRBhe7GncEu+ITs9vy1VlYxvlYeTUSIB3Wuv5KZ9dok/fJ560S57VrimVejlFvX
Y5SJ5jMg6YbwgpQ14SoPBYwdOZHNZBRjkm3xf607aHf1mQF/waelUXtTpGptaTs+ZyS33DN/EGLT
2eyitz1Mn0vTUm8norc29TL+Gb2mIgGmzmBowO0OE098G0h+2SVt0h8wW3WbwaghDLeKiUClv7TR
2J5UHicr4aXqhAFnE0VTdfQqt+YCNpA2q7x/mNMo3IVx/Zl+jVJsKhZwyJzkx6Kr+nQdosN9YftC
8ko/3EoJpJ9S6glka71WulU3kSuHdT3OFI4lyb7DXLPq7gy9Kfru3TdrrCeTxOhrPRcGR17S2/aO
NABvPWDffolIwl3JWhcbFkM9os/AeZoXjImDG/emmKJzbBTwK1UDtCx61K75XXKS7oaJ6qgIq+Ix
Kq03iav5KPvC/tqwxtmIEIVxZeTPI1yE71WVG/MuLDyXxRwrsrUxVl20mt386k2tCFdlmJibtvJA
FkHJ6Vdj3yPe96fhWrMIK5nqB8TaMIAYdk6DppHiPzfpcUam7p30r8Q2o6aH21K6vD04QVjfo5YQ
T54BV6T6ZBWUknMcjrQ6ATGlvJ3bFNnVXe/aDAnM1Chxx6exuXIttq6oKNESbTsRVReMV96Rf+Bf
pUSGWqF1tZOSw8OLo5NfifQ0OVyuphy+BGnV1fvUSMPt6HZs6xUsDCcbT3OsUh5181lzJa0zkz14
Zy2zwKogkNjvFLhOoC08E1R5MSslJIQ2MYUWR4I76n44JGV3UH0NvGg+ITkmiBkcwjGFlRH4xFDP
mVNDT1KnykT/MchUbVXqZqfKYfzHqB/QKKU+qxOUqIFdn3XYP/gJyNI85hMfTA4CquKhthnfM5hR
x8JmJ6qMNtrTuzBAnHPjbrDsl9i0gbIHRrUZQMET40qOVyRI2onL3DyQR2lstNM1xwL9HJMLKPAi
db5WaFxh+4LnTAL2H1E5vaehyeSsneROEVKCBkt+DpzefISstNCqWbCiLS+Hb06j+kfOPnYVLr5M
JerupGuGUcIkYTEw7NtMewZzljiGoSLS9OC7xa3dZs06mKWN2SImj4j0CDNXq0RE6anmfjR9UrPS
eCJczCzLt0XcnW9SY56/sMQJxrVJHulH6eb6jvBd45Bw4WlW+Go8gNbVZ5XSIuGYSKLNGIcnbdjh
VubT9Jk6i0crrPKPODG9u5KAj1uEh90XI3a/h5q9PpQjoznVjKEf5tEGPR2rAbh5LIZP3uh09xZ8
7/mySLWr1aDycs8UNGdnC9to2Ra7O7OMTbVx03jcVFZc6HU8TxW7dRRptgiMixlrp187XAaHOOif
ptD5RIXgPMLwKndhPbUHnoNp6+rGpLnyngfP5YSPCusxJIJ+3UTyzjObAP8/OskkD7y1qSwr3mQ0
6cbNYFHUnLOC0Wrd9tENNUQ77kKodTjYYrc72QXnz8oFSZLsQyLTliERoaIDszBqmtw1VwXNDeXd
UGKmVW6pn3Vl1zd17XlsnkvlC3bGzPimKsEmxLnw5pLSJC9D7Iinnm/gbry6m186FNYrHuOAoRED
anJLi6m5lV3VndWynl+LamCnWBcxm72q0hsuLH/V6i6kYpoQFIN0zluu+aUS4pR5y1NXvds68ni0
u6Q9VJDNwCMRsstQhEwQ4mygjEOfHR+drgLGUhD1jPNpEsSVWQYxEFYTfgXzxMasgDxDbDFhy9cp
RVO9ljxo27le1reqofEeLa5oStC82vSy+j5QXm9ZETyAlk6IFHHFqUpdAO9VN+xDuM4PY9hbL0lC
Bb4h1CinX3fMewBBJgEtde9dG2xyVLw6LO8z1DUvBi5Dkvhq5jL57Hu35Fm2L2A7xUXkw7S3KqTG
NK+NfGhwyFx9kFbw4s3AvzGMyPo8ZXF6ahuvf7QsyTB0tDqe0hIidrQCfcfW0IPdvomdJuGhHBbU
VTcwFVxJjaD3woS/5T7xtczw01gA4Vt3cPhL50D4Wx0mJNk393MIfWjlTpW1RUUzPolZhSfg9em6
yKLpe1bl5ltgYvjnpmjRUDJgQrztx+EqTOL6pSNafTcY3LphaXOZ8ZHa0OzEBCo0yb6ChCZWjEZv
dDCqYz8IEhUbNz1DuICsnmJFOJdomD+1CSERnLJxvokMUtZB4QccJ63xUKV1dUE77x1ytG9b8uCr
PYZCe02wEp8SQ6Os9bB6vDK9NbjEhupJUN+ddVkPu66l+mecqZjSGNEV9FK/9vywZ2hfkkBLeMBt
1/pfjN40txxOqGUip4X8NZu3fs+jIROU9nEtj2Vkeveo/MbjADsGXbNC446WCY0VXUdHxbhm3qxP
BBl3tyy80zPYws8E+ZnbPsC/lHjTRzjlRLHaBM8EXsJY0QzA1NR6ekbnRdCJNqMt6edyCzRkiW2u
mnWvJ+uYNiUzmzItJmvle/MmkqO5cSGjkOpeUsuKWb/FeClIq47mwwRSfeYia7p7kniYA5s+oQOF
Y/XZdXSieDNFXDaJQ54M86w+PQN73wwO6xtmrCQITGW0M1P05MSRXJx05n8XwUMjx+luaAvmwH36
7DcW6Rsc1o5RbGMU4hsmJR9+gd4EoWO8GYYoJMkzA93DynhnAaY4DKTd22Fynb2KVgFQAIpdtHBk
7d6hqyHDJalfqqZO7mFmAEy1DhRW7b6f7f7dGFmDWKzbJTyYnZipkEeU4PuKGI3V6HUfuZ/UD0NX
P3SlRYocICGudjJW9CbKjDt46NM6EFZ0rMkHOWOf+2qTYXdbWoVeac5/XIUzWm0bd2U7ON0qzAm0
qKoR/2398u/aumjjdvqbtTUe90Vu/r/X1kdMy2BR/rC5/u2Lfttce4odtAKhbDo0NLTmfL/fNte+
yVLbAVbh+dgWHQAo/9lc2xb/imkZEF4Xrx1k4f9Y7KX7y7IDX/ihvxr2rX/CuHCXFLufF9dgmC3I
30TL+bZyUAQvQKafFtexG9sE26LrC9FOglIZluo9mVgL1spoVhPbE6Q8if/IiVYvSEWH3HLRew46
S3qc+qA5gCC5IV4/zbOySYqA/oiTRojxoZN2bu9NgnmMh9RP9AtEfKLU+gpE/RrRfzpgCcUdgReP
iA9Bi7XtyC9lH1127tlPgC6umkHDIIOxbK8s38VhnCmpt72ZjBHpPyVhpU1Q9SubSu6zn0zqCxkW
KIo5L7chA9JiFVVLszyB+yfnNiUF79xxED5ItIg3zljrfZ8zXoGs1gvClfhJHqGETQ8kdLUXTYDk
NWdPXGzVWGJtTsCuOmwYBSMrN6mumVMBFwyHmrlrOR2IgmRoV+n4xoy8/RhbtCJRGZc7p8CuaDUR
83hWoanJtDMg66NV1gvZHdYqljp7xMjnknBqv4f9VN0h+fc3xSzlfWclBEqWk72JTOseOGOzcYCI
bI0pdldjZWT3UhnZRRbD1REEAzgZOV5MklT0xWW8u7dVKddaFemNmecY0t2xvi4eCGvVRXF423SN
fRmiQvKzdXN3FsO2tsryElQ6/570LiLY1J52jRN7EI5Uc4V6/MUJAji1gHXWOL5rZFz8R+TML75t
MABRLL+rzDmRxgWaNvaLx0Q38ipHf7yRlUJ01oiaSzL6nFgy+qD3GvBYjDeZcKYNRnaudotJgcb5
AuZkzB8zneb0IVlzIdc3wn5C7RD46YPOkvZiMOdYk0PdfEpHTIh2A4ltipt8U8Ff2JoOPykAzJBt
QxA+zSBQ2P97CCPWCflIfNskIS+b0doNRY84TaL7mvH/vws7O3tQUIGjzTQGJHDHTvXgWTbBbSh0
g1UVzvMF62GLV6g39imziv1sdMVVWB0dkNu1Zyu1SSpCIVExbWavaTW35Sjnt14rJ94akGNPdoJP
vIKxUK+k7O1NnaYwB5ju7YyadbD0m5OI3Nsex4uimGHtU5desvZIpD3IYkFVNHwGeXoowrrAaNfu
3D4bRraLmvnqxdzifM7tHsxkUxev09Al95HUqKqyZ3MiPJhx05UcxGxbeNWXplLqmCfl8ySjgmFJ
854rndHu0G4xp7Fu2NJiNF7+UtNXI0SZWS4N6dyJF2bI4B8nPzgwjzZuB6DyW4KNwk0i7DeOwObO
IhBnBx+G3Jg0dI5T3djPtrtQaRLVYH/DlmcwznET46SCyKGbtZglB/UWRb3eZ6q2jklzmtv4TPXN
fpPINeYdlyJgGc9KgaLKzjf5mOBgHaoYI3IyEnGfNFcvkNlD5TnhsU/4NYN7kEcSGcaHfMzmfdGm
Fpi9ShOoPrq3tu5PMHuHo57sIEUe3gwPg90+I0WE91VPDisyM1qYPIjcB/FYJMayOETDaSV4ogeZ
k6TlXHIydkvYBPCGZ/8pkTRatsW2L/Li4B4LQ3znRM1HYVf20akxHc2x+eFWdPGrSIv2vQHiuBd5
VG10lVk3YVbkO0zLfKQFY68+J2GLYV52j7h9xpvAMZfhbSArt5je5w5EQR9wKvcdn8F4Gqd3f6Lb
XNGx14+1RkEhQAuEXpHflXmEVa33s666D53APEqmh82+smyF4NPpycSdk/KIuD4oV3HRZpuyKvxr
m6jvVSmGdQgmZDcgm4Se65lMow3q7VXlFnkZrG1m1yP56p2z7Hhj19iZM/t9j/YJBnU98ogXFVpx
8pQIKTHtw9QXLdBYAQTRK436S2okrOsi4pgEfIXBcu9STdrVKsH5fkg7CtLzaGv3YeSafiRll0ck
HfjoHXXbO68NDe0pmvMJOfMsnc8tn34a+K5GeELEiUJJ7VbqWmeGR2SRKfSptIR3qqfAwEmGIPBA
Gtpxwkh3BxY8e/SMRKoV83K1j1KgrWsA19Fb5UEN6Rm3HKBaRh9gbUBx5p5OKNWn1j6HkoSalbIr
vFrzwDaxrzyeD4lOZiXHmV6Bo/07s3ZCEFCWMVfvm+Z+Gq1abJQ7jRqzKlnpeHU7OaIonjs2JLL+
qLWI37iJwwJBeHfboMa/C3rH/y7GqKPgJrD0ajCPfjFIoLzkQh0ZFGXf8ly6rBl9JyZdSNbdqnNQ
tIS+HR+dsj/mnLagNmm8NlCJPfZSAb9FLJqR99z1k3Nmm5d9NRKREIXOxoPEewb0D4Bl3GfuEUQB
IzLRbposY10qWLMgjM0IKkw8jl/SOPZtDiMCLMHa9Pejqpng5VNk3EOKaIhblrl+S6Ygvchs8TH0
QWszZvXBkKIKSL/abZ0y3i4eSW1D/BEToHNMTZTMAAh5WKuyre/mWtbBGh01GY5WE0MFngifu62I
tnpzaN+/BezB3j1Cp3f46HwNdtYPfYpzFiLaTPr7wuG8wfSijS+2mJq7SdOTr6ThNWyEpooYImOo
3tkCFYTlYvM5VmaLCD2JkxrJgsqTF+K4bTQupWyv2IU6NvujrC9uW2VHnrk42XeWqNDwMFJmfhgB
d1davAV+G9jbIhbpuKErdPZdZsfXgDnhvpaTWhesy/BXeHay53hOEMqy4ljL1FJnhhL1yYxa5uCo
c6C/dgTXW3zgCAkkl9fT9rYWaBLcxGq3uLtQ4JhN9WB2Tbtp8F6eM6NHQ6sCqC6jSqpjo2yaizwr
9Buk6VbhCe0aVMdjU76mk1XBebdh8a2Ix56/uY0pbwMxVHhD3c8sIP1PKiryjzJsyp2EwJJtOOJZ
sk3kHhnrARPmU+KMkzjGSqhbf7bVe4+r+lBFFWnlVujMKOHkJD+rQUfMDE357LcRpD8vl3Q+LEVR
xAE3PpBaxD+mc5d6h0RiJ/DSoO6XEYn50fs9W5jCqd5BVrYPjt9iM0pGiwX6TN24DcXQ8VkSDRPf
QplfcbXXjBhY7hjAWpLgNfbb4hMabLfZySIab7qmm/Y9c0r8oJqJaK5kekwY/ou5i1/rQl3CiS4x
yvt17xnbwWNYU0yt/2C3vrh0yg6xJuUq3jh+Zd25GbWhZ4ZqX7NQIXhY9/ZnX80I0shYCp/BHapp
leSDzTqNwFA65QamnM+6geWCNW8HLGZHK8n6/WzT/s+EfO06IbozRo2tCzzrG2P7jiFfB2/OJccJ
yXNDxj3DIf0pJA76s2uXwa4vhcT/a/soKNmad7eRNZKbSJlFIG3giAr7PJRyMknt5GuF16VYgT4v
VpURZRwtcrgtgzp6yYIRZTqWOiwNjkFXEBCtVo1ogMzU9W6AEvvrUFAj5gMsHGbCDVryumO3g19+
ATelrxDCTb2KAlSDSCcQWWwrMA7bOpjnm9QwcTe4tnnmHWZny47jL8Ect1Bx2vaAlbrfhb4sjnUW
yo2Vzi8VNK9ubVqm/ghlre5lXRvfTBHrX3mu/0q6/6Y3xtJq0iv+7954IUCevunm2/Szrvu3L/ut
OyaTCKuAq2C8LfZYDFL/6Y5JZufcYRtkCSV+0OR+l3UDmQM3SAsMFdVS6g8ASI/4oyWQhH8DAEgA
Mv0nDDq5NL8/szjwnIPqXWg7yJIBCv2JLYL6osgXzebB75l2rQst2+0Ukl55Q5QBkRBC1/1jiNgH
l1gcdceeAukBf2Gf79OERQA76T7LV2BTCfcOOtC1S2tjVdREYQihGg9EI/YqReEZ+jXxCqMxgO03
I7mBYB08jVbhvLpF/5Hx+Id8q6e+DpxH4APzQ6P9J86JZM1EnS1y6WZs+RxTkfwok/m2G5BgYQf1
zGvjwm9tGTu/+uSFw0UxYutaFEN6anTfbrFMxWvqoIZqSLELdtR4geDbbEzDJHuWnIdt3hj+98bS
pVhhWcRiTsusjyFCMk1BklYfsjdbNpsNy3a7Qfa3/KLSGQCwVtFn/v6g34DnCvK4e43ZSs9s5JDz
l2wJuuOM9nytZMcXNs7QWBurQNSGV8nP/Zc+meuQoa4nXlXezrfUyChWCB0/5GKcDzCJaY0NuNyz
6Q1YPxKDTjVu/fUQl7JDBOGjGeS0sNLVQIlEzJrX5RsiIYy3rpPOI+GeOYuyTppn7TW+2A+OmT1P
aaZINgk781UTHRSv0lHw3bI8Gu+8KjO+z9Hgr7nUYbFEY/TVwF8K28wjxH75+Sg+9JFPtuYA5z+P
VtbyxygQbrK2UMWwE7or9l0HOQzRxLyLS37J1Cvttph7tpuqjS0S+UxsYsSd0hCeaYej6BBkJJ4f
3Aay2y5yFDEkcpYlPPhgRvZsAKOZ7fLYa7u1MHr2yKDj0Hplcu+x/KkmT+ABsOdDhxHnFY8bnh6A
5Xh3F8tbQ3+/ZUbkPJb5nD1rQ2aPUaWn17qKmrNXSO7sufd2kbS0u6FlkRifu/CGyi96IVCbYag/
OTdGxR8bAkyKrholFvkAvMlkdhDpIuUv9vg87FXq1C2DaL9lfJFU8xvC6WlPGe3vM6Lnvw8spcFi
6BzhMUbTMdqEFr5OwghFG13SrOR7QU5AUVy6FmWgTd8c0/LoUkGIRxtyDXJ/uo3nge0JGSObuRUB
EvYcgXIfDt7eXFgRmoTRZ5jB6R7TMDvc1I18CpU2zr19aormsS3tV6fNUAQ54oWh+IQ8oq/RFyXd
bMxkOGa3eRjg0WpM193F3kzDo8BY4SUvTmHg2Yx1Ok/fzXNW3pNeTMqBIV2W31N+78Q2MbMhDFnT
qsNtrlz7MCu33ZJ/M58iu16Em9Yg10PmyE+j6QLwzycUJNgjeVC52xhzpDwYVhHzoYK3uCvaftwu
5ndosSQegKhsjH1dyeaWNTfJpZ5METcPzn3rhNYW0SBLMKEaEDBhnpHN4Bm+fc78OkaKQG7Daz8b
8W0ANOjLRC/zrWhLWmL+9HPlp5vCle5APm9JLMSE6r9YC77mY4YS5G2MBMj5ISxzmk2fbd526NkS
dFEvY6woxfwJqR8ytqSOLmywNEkzVflsuA67pVoBn5WsslivhRWC5IKtBs6JrLU3VlQQFNAVDttH
DgoTt+4gNr3rTjfIy8uHaJybF5/3L48Qk8aEjPGSwYI7h3hhgyRaxOkdHmQkyqANiyXLlJUw5BZC
YU0650qvdWZFT2QOCIpmRk4IPPLkBlQM6CpgBiheEsvFD++y5aAIGtlfhyhIJ0pd4LfkcLD4oBpS
l5J4pKc0zTj8O4uOF5N0InmJrK0wP876XntpelIFPDQ4QvOD5VJ+bxpIaG8/ThYYUMF3f8wBuoEf
2FjmjBjlx1NUEdiEAYYzSg/AQVw24wK5a0nNpCZuGF26xX4MOZ5JHbBsHofBuprO8kJtpMdNgRuR
0OtFrzyIoQcaOBh+ceG2ny6NTssJw8PcbpuumG81U+1f2UD/lkt/Vy7ZlqR6+N/l0l0U/xGV/esX
/L5GEL842BRgDVKP/MDr/qdQ8uxfPESnYDygMPvmD4r276Re8xcf+IgLxxMpIghreCa/kXql9wsp
ccJEnQDfXpnsJf5BpfRfoQYkJ5jUYwAe2XRY2Or+uEUIBhKTosJxjv0oQORayZxeyecJTg5t9hr3
PA8mVcmOyTj2jmEMTijYqjcSbMZPDoPHNxuT/AvT+uaFzba1/ek3ef9rwfZXsEZ+Okvw9vkBLemC
VfvjT+dzCAfm4NtH5EvlhxPZ432NrfVcOCNXex1nE2Qu0a+bqqSS+uvXlj+gcD8XkR6lrWey13AJ
0SSeb9nA/LRhCSIrq9wuRswcBq95jWaxYwzl3y5hGku/7qgzU6cCMtPkqpvR9uNPZqLj93Eu5q+q
awjRruZJnsIsbLYpWV37NiO1aavr0n1QkccgYeyUg3grb89mJRk0ispmRo1FKyERy1zbfZPfRdZE
1osyUUoKQh0najGlNgBh0Z/TqRqMn1sXfT/pY29MBhf7DlqLufHKG9XY81aXBHBwAmNHmeyiXxkt
rglUIb4frf2AbDAZ20v6uja2CNaeOraTCPrnmgAB5VbFRduIhA3W5D1nFL6TySA9Hd0MrI+5xcg/
q6FnJglUco2kBH8BronXgphwZ2WgXz07QxJsXD21L96AoQmqMqf/SpjRyBgNas6B+21iEgmzdfQp
aAxGacjeXKu++p2RPIgmjs0NHCbw6KVwN2WhhN540ehvh07qeNfLkYkRChn3OgYecq+grqFvzHbU
PpldGRFFpobuyDIvQ6WBJeFKIqbHJBEVI5Z+dtu73EwDb1UEbYpQ1XErk3I6nOVNMWqGe2EYgwhj
3LPw31gRbypGxwentywiYWwMAoPjvCrMitvIcYv7tNDjrgnxkzKiw21oo8NFSSKYt+Jr1DvN2vee
3QKCXrS/X+vIAr4p4p3f9v2GJ9U/ukgEr7M19ZT/ZQfuC6n1xnNa9REhcz/MrNpQm1btYYp1Oe9a
qw1ZwifWBMe6t0ey8eqC8Ge0AjeB4Y0n3zODZ8QFdO1DNDAeVk70jRl4f2fit3EYD6v8G40U2kqL
KdwKuRQODN8Ma2xC/ewQLYGhIFks5Y9RyDD10qVxx+wDDb07PJqaAq1a1Yp4tzWOP+r+ZAwKbGdV
myLhBFbhocJJ9pYoh68pGVHmChRzztVXgaMXt03ta3A/MfbNg1/0tnXXNNASZyxbx0zIBMstU3D/
DMyj/JhZ3JDX6negQZRJltkXwl8SDAJ+W0drzA44qtpOF8a2DLwJJJFZkPENbADhRG/M8eOE23Bi
Yr0skoygAOtQFjrHn9dFYfWOQJoVQUqiXYEY0UFsFQ6pONDMRFwFbXHW0YAVsxay/GhKJY+mnjI+
6qMojxNxZ1ewUsthGPH+oaQUd8ncwTbvShyjBgNRQh2X90aSo/Oog9lkZ0cfinizt5uXNnaZ2Oi4
56cfQzUf6pJeKUZl8tYETvmG085vVr7TszgCkCi9LWUgts5OjN1nkehO3DIvcsQFsq3skDJX5Ydu
Mp84IiOjmlmOcp93HiE/7qwtKL2lRTLa/sLKcwa2I424XKeDnBdxdkAW34z0yDanDwdro6hOQDoE
/5WGwKH5HE1miJqnNNHGvrJcymI62a4zPwoFhyMJbH0h+Na91KRU95u+7EtjN3Qt2lgbCNW+9qzs
bioiYqhMN0byaWYqe+pofUgrL3mu4sDL7rST1ez6Qrd0iADr++OIkwR4C3KM/JwjfiHhhh+Aj27O
TqYwTa+/2OxK0FRJJ+g2Bfynd6OnU4Guo1N/nYUIyzel507IzqLJY3RVqwHLlFFeInfy8w1tULkK
WO8f56DiUUvK4XOPqI5VHTel7yfO0okMD/i1ZLYxMPeRcxN5NcNZVP89JHOflgKHyc6kp7iNZB8s
8WtTcY6yQcMW7EacBWkQfgZCPmcrP+k5kRuNl0MDWe9tRZ6KLK5sFXxMxb2+6RSTy1Vbe9lxrL3K
IUVUs/Y0svboQ2pVKz5DFK5cNTNv20dL7AMYWZl1rqy16zSLzaG0LGr+lk3TvkAlzQHYu4leJJDw
RkLH3oH1CnFyyOblx1X6b+34N7UjOQhIQ/536bj5ln0MH/rbz3O2X7/m9zGb84tAByTRk7DiQYUC
neA3EQpjNoXfgPvxR+loMYD7nZ7gg0gAQKd8ychnGcH9XDzysEJtQjdredIS8h8Vjz5l6J/HbC7P
k005yu0p/oztTpM+wrXv14fJnaLXNmkXp1Ml6XHHOS/Xo9J5u6vq6T4rrXlYo+9YC4FOvghEhQcJ
wAkf1tl8DeIOvWuBH3wdQ1r7NrausfH45ms2wEAZQwLlPMPAfp+9c3JAkcGluysIUmShIsKtHn2X
YshW8QGnkvOI3784j2M74xx2GFh4aL8Oqm4Cex0w+jpx5acbeKXExYGMWtFfUUT5rr5BVbLMrxBU
GKOT7DkHTQt5o1sd1RwHx9LQ7bUgKPCkm/g9UbXxGme58RTWBcP/GiBX51vhFjEwPH6vqe7mkTzJ
fGwe2PZ9dYyUN4lTBCuM9WBbE4MRP0Wj4EhjlYRFuxdh+h3BQUy0gY/JHa8uS5+Kyht7DUGZM68e
9daDK/HIxgrHY8llzS7vITa9p6DvbtFyopsZi8ehns3zOFQkN7Kvw05N9WZ5+Rne7tn2qtcgR+Q3
m+14SqfwHXjT0a3LfpVJ+QCZ+r12elIjy/IRdff8Rjqw2FQS7WfqVR27CiZDMc57PoJPowwwqjOc
TAN3+RFQlDh8a78e5V5hRryTqcFSlv3RY9j42TMNtv1ssvfeo4GosBkGcueazEeKFt5eJPLvwDLv
Bflhh8A24FRM9Udpm/qpojxiuxBYEilmxpLGqu6zgZTjxS1NbVTfTX2kX+3Ue3KbuNyXI5BTsGzh
2Q1Qxs/wp8j1dr2tzrxP+Laom205fGLFFJ7svGxgBIZN/mD5AcptwQB5zY5TPrSA6C95XKP1gLM2
eqsSL96WsO5HSeLBVuoCUJJVymuTtf6u8cjOlDJy4Q4he07iPl5EgeyV8rH297pGRXrE0WQCrJkY
/5FitGq93i1xHIzdTRiibN0N8GE/KVJkb/DMCgqStt80Uxuj40gQZRObW5Y7k9aIXSe7OPxYtdMe
y0QgAHOSdvpO7TIbew9ZQfB98tVwm1kamn6IwH+b4UbXXLThGl2u+fjvQf//ozdkOeL+5Um/7FTe
WC/8fNL/9kW/H/Wk9jgwlxXSwUVu+PNGxf9FucKyqfpdD0/ncgv8PijggliSroRwlw7eXcJ2fo/0
EQgYoZ4DjgaE8mNF8w8GBVwnfzjpPWcBmzp0xKxoPPfPJz2VQt0LETKj9gwUxWkROndSD9VlzuAo
/3QJ/h9d/38xr3ktz1+o8OQYcb38qe9ms2KwgTCLo5KDeZkp4C8Jk9Dnid/Aua7hF/z16/2XktIh
DWkJdBeE6LG5+tOyiIG5RbkqeD3awJCEnYoiPWFUd2lHWx6BNLtyS49pPg14oZ/++sX/vKniF8uq
yrXZVLkoSf+cz1AbAvNdo4sjh3v7Nc9yPKeZ2XvnyZxH+tnZfyY+9+/e8v/xK3b4bYGN5loDif+n
wUrbtIkePJUfSesc79Msar+ClibT24816D4BDeiv3+Z/vSAIXEFkHK9IJhSchD/OUhKB+ws/jX+I
jIC5BJg+lOGtv809abxLaNpvf/16/4+9M9uNG8nW9as0zj0LDM48wL7JWam0ZsuWbwi5XOY8BMcg
n/58karabcnVMupcNxro2WaSDEas9a9/0CPN1wvWd03b06PGkIf7kxs/pCRziSM1HoYa423cCKLO
AtCXJrGPk4N4cR5ScRUUlYMxSS7uJO4xj1UDxXGdeDk0htjv/Lt+tsh0aUd3wF1Jj1MERMjPsxX8
YhW4/t/8Xryo+PYd3iYf+xsgripDUnLLfji4vh07DwYpwtFlFxem3MU10Hwp8c84AtvPBTV674oH
vsH5zghJICewx/OOKWlvFyXaXObmXYtLgqej6brIqi/LJRB0eAmxv6NpoY+r2lFclZbJc5C5u4jN
gI4Fu6k2tRC3WEuwa1wlrmiujBYWn0l4pTGrOwHQdBMhugRdacfa/RowBpgBdxY1Ah5JXFha21U3
HruEt0mJDcaezRyNT1lBaPmdbIHlL6BgSmhvfodviMYbEiH+YJVqmhvxQ5n6AKVhdG6J1JlOEMpI
zvDcjMkls2gko3ojaOeS7xQCiboxpl7dhLlE2Kgi2TwNmdU8La1pX3hj3ss1osLmKSjt8cbEDRhb
dYngb63MLNxmonWfg9bE8LItKPPKMWqQNGKAaUhDPLg9CVrpkrqoU12ruqjmUCFL6gENYDPUZMVE
rrobnJY7ZTiHRhkLUrkOqzR6tLIcs+QhmMgpH3iOwTLy3FpHPGAkOCNKkOEjFZr77BmeukspjLbS
nlx7R8J1j7OKMhD9n9PqX9ZqksV08wmF4fAhzRXZgllN4+643CwoUYOFyDQWSCzbOUefSExEeZFL
Q6J18vBeO1u3JJ8Sgqke0UOg7O9zJPLbcoaCh42J5zzXHVgu8AcfvyzDUwjB9LEpSsJTyRNhZTAr
NtZOrOrL1px5/Vq7c8MctJmY41g8Ur5uLLrgcJJbUjNB3o1Dy0sKE2FfDEmWomxr9L1OhCOvAkbx
h/PzB6xC9jIEDjYpoJrkjSTdWlbQbs7/nz6KcKqezYx9Y0kOBvd6CwQ2biYAiN0gtQo50Z+H1+c4
KXZdFkWXohsBTMduGja5VEF4h62AaIHSApuZGSa5ZnbVS1hrLrSk3FL3kB5NBKFRraJxV2QYt0S4
SJLmUqQCYzjR+yAUcWlUybHr+tTYwzTOpo2MjTm6a2AqYe1cu8BhVTL00clawvnJC63p2zgbkJqm
rFvSm2k2rOlTx+NP9l1VjfuOsdi0WkxANyMYId3hZL0y3NHlOXcPmBckOu0FbWgVziA3xVpCvLyY
bInaMACCc+FTrkdkohEc0cs+RkzllUO9ThpcHjA4mK8cl4YKtzHxuTMtuWmS2Vv1CAOuDS/p7ybC
tWJ0AaP7pXfy0GF9dcwtcQFXl6NvjAf8OmPGYDh2MG9DnhOgo/smO7ZNBrL+sUoT76oxq1CHVTnz
CV+GkheudNjuQujsvmqW/luYJnJCnTPE6YbFHR6hdClkYkDbjFB9H1yy6tCNCcP52IMtkkMsnyvh
Z1cZnHLnIPFy0RZzNosOgyCW1Jy73bdE8B/Qzg7qjmOOtWxFxJXgPhxxSut4g7ljTOGC0jzCUsRJ
z481IO2Oo7pjLh09QkoVV40jmqe5IwQMPHJ6VnUQP2aux4ZZW/lDZpjZJwBfPiyAQPsiAonep75t
o+UOUdGHIcU+x2j94LnldkmzatNxG/FO2GXgHt1iMcNPS9eIL2VrGMvFkjhDcAFRckG6LZpO7SCY
6tQKy7a/LvHoetu2YnAYNtFpMpr4pgXIv4iD8MFPEix7+vYZ8zC9+6fisSvDYZMNPCeoWuzzbiPS
Y1g31pfBwMCcXnuCOhliMGZ5wPqbdJwuiEU3iIGYpFjzXUIuj+o22IVA4tdqsNSwWxzrsWQwsakV
kwPIIsm0cWZmuysDx41xVdpRdYXIyvlaCJv/f8OJ1X50CVeJvobBBN1Uyiaqd0tQM6OFGjY4ayBR
41QW6cCjK+GdL0yxP89+UB9SpwquyQpEH8Yt7X3RMLidrah7giRMLdL02rRhSo11zvDjYWJi0W5J
FMHUKnGKuL2C9zFfEDMRICSYORawRyk3BjzXb2aRhSc3ctnecm9h0TAuVnddjGwzVoZeSozwYSck
tbiyrVAPk87e+FnI3zNiDbvHzS08dROvZl3gGwzZdcCbe+UHxOqkjcN/keQVS1DZ4NJeQV4TXIec
/b4d28OcjOyD5Bx3mLKiJDqFUE+QoNRcOeMwgfyJ5+BNY3N5z51ksffh7B7qlgvb0eI8L4zmYVLr
bdJPhqjd+kasl/5kFsmN9jkiq7KZnNM0DNCQCpew7RZX7G8VGgu0aHbLigDJd5/9gvOxg6Y4bXAy
Q6Q/yxpZBLQWn4phpq/Zv/wsUcHj3Msko5KIDO3177fs9rJo2wOu/uqmH6l9S5S9W4FYfj7C3/DQ
VA5z6agPwoN3uDbbEIjagndybbkjvzotG+4V3wQuWTFk9+8c2RQdp4XXOzVijiTWfAlEm6PvI411
vOOQdxnWuNKd7yOjdp+8RLCxzq2RnaamxbYsxw+v48gQ8cNE8O3Mvll4J2exg4590Rf3Ba5rR6wG
jO99S8+dDBMSCn4zVU5q+OGjpZCxY8ShzSFk2IsHu9Vh5jHUh3zXMgTBvlal+onKmjdOkBLH+oAK
gQOzZau6p7UPTllm85qGkhVXdLxGA6g1WkHvNFtz43aNkW6LgODSR2HMDh6VHJX+dO/ZqTHcj54q
iI9J0S0mwV2RByEBhRhZLwyfgljO6W7OUyMWH4Hnozreq6nH30hQbhQmwoTURN+wjooyRW2M8fDk
zda+hAQyrXwrMY85guYr4gsAaYxkZnQ3y41y3PBYZEvzgdcv7xCiJBc5/kyflRGmR6OHJz12CUfP
HJSHmMkzAjLf2BXD5HIfGBFVZgSLwg8vnbmL1rK0b+OALd0m7XUnzJjERLz1Vq1SeKSPPWrdvhB3
lcMWg9tmDw8dGgaMUiqS3ivz70bquBjS1dEBVX6ZgmyT+2dhPLhmV/gOwfS7UczXoXKmC9Y1hcEg
TRyiGhOvLLi6o1liwDOXBzXggUBtHN0rb5h3GYfoBnrKtFWOQ2hi73xAxVzd8rY5lytVHDn5UIYi
a8fpAAFQUHpQ6IsPA25/MMWT+dqcm/hjQ3zCU1tb9lU9oqpZ27FJAankvgiLCjOnG7sUd1R+1dYy
JvO760UuSUFnMlNpwXaCM4ZAOgoORrb84UqPF+Jgm5nvXNeekk05aI9xKgI8fwxOYOR6w6h3kMRk
h+C8Yjfss/pykJZx4dmzbD50OeYPqzJht0m9lhW5jBHvHvJuguYAyQyMLcruX7Tiuut4NQInL42G
wwVYgKlkvW37l9HKQk685tC456IfloC1wqVc3b3frv3U/SCuIIwMLIO236Fxe90eMobuh6xmtFlU
HpsxnrniQcLjL2ApivoSO1Bal/N2+P51f2r9ua5mnXoenSmew2+6LlrywkaS0uBiUXjPvVG2h7JT
hcLoLmH/qstqvvO8hL1YjrrKff/q4DZvny4CUrpiPnB+BKTXVwSDuctAT4RXHyb0O1i3Ba31EOhd
F1kVu32PC6A2xmxpS3TlDX2Dzf38E/47mvnFaAZOTsAi/M+zmYt6ev4RrfvzD/yJ1oXmb/B2fOAa
50fuc4iltcPmCFJHkL0Fc+TfSJ2tlcEi8OGRsM5QqfyI1NkMd9zARGXsMNP5R+Rnx36zrMgHIkaV
CZAN7wiNsK2nNj/wVnBN68fKT4OjKUt1aWQdxi24A98p28U1vxq1Klerc6gbUOrkZ9HOWb5zVvJA
0TBuUDeg70HUMd44dh895guqzkuppUAJ49v4gsEDWp2oGmzsws7CIUYPW3Yj/3Fm4nI7tPAXVzTq
RXRE8VJ8G7UEaZRD8JioOkMaddYo9We9UqWlSz3KPcxF04tRy5qyRCucvLPaCSq3941I8+IPcugv
8HherrJQjQzLpXOHnAvN1DA20XcstMprAmQ/UCIggkRimD0tWnAFxD9+UjS2aws3o++GbaPKCmNX
Sg4s/6bxRma+ara7m8yN1YcFb4SJvG9n/u7jjH9bVxnTE38s46vRsJiUOFoRFqO1SlcTzsMnK8ly
jLlxz0aNNA3J80L+96EActpSBiVPODGRL2MH8FM7MFZ/FZZecT+LJLke3AH11lDHh3Qq4n2MbceR
+Mpxb7Ir4Vdblt49m/6S7pcqKXws41B5MHAnplMXoAJCi1OH32ZhqgapdOuba2Q7w6WHW+DainIJ
gTLPtlknsGlAG+yRR6fCyxYrhrNavGLS1ARXzlyH6S4a/eFu9Et5iEltP+Rgk1/B6wLiztKyqCEF
ec29LKb+KPyAhtVSPJywKPqVAWfxWuBXbFLALNk1vnE0p2hVxs8F46IVxkh9cCmwekEhsswKjk7s
h0fb9KJ+ExM9siUCsr2mf0b2olJITlA15cYhowM3obTrj7C9dSBwgrEfdgvfybaah4PZLzLdGIFd
f5/wYXVW9sSOukqdBVJIa3vGAQup4jEa4JSOdiW3dOaZDcHSG58bxAM3GNMi/KGD3xGk1GIWZEsb
t53QBl5KxXS99MBij9LMQRJvFyNIazykF+S/dCtjejfNfnLDgT+L4htvl5wTPB9hb5xNH/H8OWGW
AaRzBXpPtBSONSGhcDUmGU4/Pk3u5F0Es7A+xgHXiDq8Oovl3umgW02VLTBeF4LkR4g0zc6oUWGh
d/bWI9qKI/JEHPnKvOTztts1QSDrJkaU71cIcZgo1/BCGrC9XkS7LMln5py9tU0VDKZWO2kUubi0
+lB8qE3hE6bt3DGHPsDLcjHOwaFopordKrOaD0jOee6DUk25Gp052mAHwwp0KmleGSjdvU3XDYzk
2ijcpRDCjlbZlvhQ4ieFaHw6kTWEQ4cs872EGYL3X7nIS6/D0cnKhhIP7Moht7D23D0ObT14ZneL
+blc5XX2fQnsj8JgGyiI+2Cc5WzoTpJVnWbdgzFgQIhfp7/GXTLBU8MV962Ts2sFJVLrsEMcS1SR
WuOQC/F7ioM1Us9+NQ75je1Uj6EDyy2Gt7IyavuQ9THnfJWQDIbFVCSJIMtSE9s51RXBAQoLGV65
p592PT2YDPg2JoppPNHh1xE2DvvDyqw7r9HqvWLJtwBr7gW26TiRgR4CHjnd8MENc3MrVaZO0EiW
T3bhOEgjiEJMiIzCDoBIDn/o/Qffd4fLZsK7lk2qY0/BBQA9Z+pGxu84ymISleT4mJg5Lo5pFWc3
y8jemMdNcKgXxzkMRkizJIxQbeMuVrvIwvq1ryiZYV8jYElzeVVSb+4Zz2uBl/UMBxNX2zgdoYCU
ZBaGskc6osORIIgnt1OR5Fuctapi7cUFT9uyyYBewzsnqSOdOUQCW/tZpqpX6yQyqlOKRvo66wIg
MBMFwYhD+Z6Js7k1A9zGMscfdm0XlJ9RxAc3hLlBhYx5/Z+zwN1Z7mBgBaOqa4GJNmLW2Hwgbxeb
29npn3wYR/c+o/ZbKRPs+4U0d0WD+m1c+uACyXoHXwA3tq0LuYhNN0mHezxj6mOQdPaz3bGkbVtO
J1S61YcAFOagDFfANyN0TfVy4Kua5nvMebxgVRoiverHsD+ZYTSeMLnDGDZxs/WYdTmuMgFbZhFf
i7DL8N0y0hsDWDUgeDagmWXP39hZb2lT72Q54rOV7Mo8K69Sq4g+JhUK5FVJUNWXObV09JUxpifc
brpDZ0V4+S1CfWUcQOQOfkIP9mgjiYwyv13hbEJ7BZnho4QhflqQ3Z1gP43xqvDMjPUmkzvXG8S9
FY/WDt+hZjNPEhcAb+6TT41sOjwPgfGTro7iFRuTPHCiq+ckl8WDnTgwNAePyfaEodyaQQWRVKzK
I1ZTt7A9u+w6bm3R959xUtX+F7jhitz8DJZfkHwM4yP9BCwdVdjV197ASZSbQXa91PAWdLwLUWrC
I/HHHlW5bRACfQv60dtG+VyhucJ3dJWQ8k3v3U5EjyfzsJ/M8mGirdynZDdsWaTRBa+y2AxVVdwy
fcAwq/JRZGBPR5/1Z4n+3/r4F/WxJUhsea8+/pD+jsXIc/VjjfznH/qL+m795giyW0IiVkJd1TJk
/MtBh9m0iTrPdUC/QHF/nGgHv0EmMrUjjO0xKdRN0V8TbfEbXHATaIwx2cuI/B9MtN9OCOE/YYRP
+U4xbjo/95xko/G9Fx0mVI0z0lCPMSzWQ+uyMUaJWXklVI+5rE9ZLozpY6qYFKpmThryykKGbD4k
TUtsmE2wlqmlvGUmAZLE3uwytgigRX9faeAR+mG3/+FJ/3pAzjCTHxzwaE1N3YcZ/7rAD7oB2Kdd
2ktgCYZyuDSvIVlDjx1982piKFG8dIm/q/8b/1H/zQXtgHf1Y6vKJSF5MZyEfgDjjGf2+pJGWtiN
QZl66Xnhqe59A/kiLmagh44DM3ulp00HMHmkAeC0Uq0HZ/QJjWYLiHZunIj6IvJTWvuFPLF4VXnR
sOwtPU4MKgCGbV0BMepP/6GwRL/snaiiDe4ETXicoq0DOkJAhYBclsvaVQNQXTxVPGvDA9EvtGIR
rY37DAON0VwmNa81ROsJN8yH8rV56bAnzyDZzuONIALvu2HYRZ0xf5j1WL8VNotgsgv3ubVLBgiO
Ady89I0AZ0aLBj2Io247pSHb0HkQaoJCE4maxNaDEBhsQ8nSbXvXZvIJJIlRmjfxM5SVBmprn2d1
4wS66NWWTK5VUtLznwcLKKUS9bGVkMUBog1LPFh4y3SXVo0s7WrJJ5A4z5+95rOFiio59i2Ot7CV
9MTP8t3xDj8x6wHdn6U+NYFQTNStXsOvneL3zH2tUIA1gYakWywl1uRvcekCn9l41aDAZ3qSMf5f
q/N4nKkH2UURmQLEeaOjTSjDbe4/y8n6o5CKHofZAyV/me9NkL83MvVuEwQOy9rEqBlj0JmUtJXn
9H33OZmqsTkQaqQtyescKAVTdx5LahQMhhTEreV+BgNcqM9cS1zSAhXJcdGvxNdTF3Rt2ERMYOWX
oTSYXaZFbxAzweTrQ0LK7K1BpqyCr8HHy+RcBBspU0StHe6HBdJGTeloPX/yN9jTFVuyweINxqkC
OS/Jeg9eb+FD5IYUkiWEZQ5ed6if46x3P8xz7D0aoy+ukFth1WTn8TMlfnqomYYE6xR/2ecqzsdP
jW1mCocUlixTF3UzTiNT3CSbeOI0wDlgufKAj12cLh8NT3b9rZWSSbNxR59lg6cQj3fCnbq9NnvF
GJgyjUgoAoCkLfDKAfchuyRjRVq/T3jKa9epxplIZCFu94l/W2bfGzUxXS1N8ZB5lAiEZrJGOqsC
5E7qUDzMln7zVEYSHXE08W5zeiXGVj7RSjwZPi4/q/go86aeoh0cnKb7fB5xE57Fh2AsPg84JXPA
2+fA0Jcuk3vMtlXXHtAT1/kuiywFWuDKw6BbvJNdDTx6vx64iqfybMGBEDny9mVIDHsVvByJdn1Z
JbnVPuTLYhiPBkRneeqt1mhxUgn5JeSIs/0uVGXhR4QqZX4XjVmLw7yB32c0Mo1bRocNYpk1fwUS
Dc9SmVD0mc/FPIjGBNQjfxZQDzSar6eRPrOK80LOlcGLqzWJAlBXfxQ9xtALTbweN9JZ47g8GILY
SxEk3mdVBIN1nWH3IZnNiLz+/cxQSjyM8BkolFwTG2BiNP0obrMvDPdwf4cQH/ffbLro/FPLDiEw
Ao0Wt8XAp6ooMhWJluHWL2KYFviL8TeZLKdjJ33eOYIhyE944KhPAUEE+R+uX1lkVMKKjKNtaSJB
uYbcwIe7Ii4s9i6iCpantaLRN82LxLKXVkvLF53aEJtfcB5Ef5PGwVVlm+FndxwIXFnEvU9sByPJ
sh4+zvVsbHOyowllRixpE3hzYRch7pg4j+cYEY0T8yVBOHFC73IwusmbTrWTSSP9RNLp0O2cBhEM
ooBmjjA3arAgglz1iNeVtbZL84tRkfPZE+ID8lT1WNlMOAKJ3Iq/Fl3k/6FiO1rRxVbXPWOdAVPX
eZsXrbr1aj/+4uI2vYXh66AC6uy7QEbVFwE4vLOIyozWWBa7K7P32xtoFvnax/rOZg6G3jdt4uKj
lXVgL2bX72jh4f6OSq2rNkYRXE64QhdEkrjOOGyHyS9u2dabL1k4JPejU9xMvqky+Juds5OzVOhJ
a9J3sS6D1eoVH6fS6eJd21fVKeQAo7+Wy7EwwnwHBwuBs5wYlRW+z7Y32vUDh07zuXIJINhkC8Is
fNLrT3B49KMt03AVeC7+754/oE33FB4D6chwAGTuOxUyrrYDXZ7FjH03FZZ1xZjRx2HOdKt5pUCV
GEO31ngpO5yEg0LOxTor7PrCT5S1i11xSw5js9deQxtc8prPWd42E6fU6MFxicS4nUt/uJKkvt2H
TeLtjW5hbmGE3pogZZhB8+x5V0bSy0s27PlgVtV8MRmolhY4GNu5a9t1b2GwK4cZ2kbVeQ9jOi7f
TGayJFOEC9EPLXrt90uiNwME6hMMJfgHsKsObXrLGZR1aQeZ1i2qHp8fPPuLtTnZHEJnujgcpPoy
4is/vH9VXfX8MB45X1Unu1swfpBHhbpq+gFpRayc+MnEZA2tRfOUOikbQ9Nb1BjvX+cN+/J8HUYw
ENmo9ix4dK+vMya0Ul0YR0f8/vWeajISIH0KgoOK2DD++cV80xQ8TiiC4VtGInEOnRFTBB4DnfVb
14lz0cElW5P78g9ZgdwXllqBpucx+mHS9KaQlXHoNwinvKPtQfKsNCbhYh297oK+vux84mLfvzX9
971+X4GgD0E2i1iBbPc3TE+BO1BdFSXZFJoC8nIEVQm8G0zSO01TSWce7/vXfDNi0vcIARcyK3g8
L+9tsT6XsdMDxiIZgGUEjEz4A/bNYcQJjDE7ZyCkSc4jgxCUaEU6CMfH+z/g50V65piGgQnP04KF
+Xrx1JUjTVXkjNaHtD1Mk2FfKDHVL/rw/9gi/O1VmEGHyHRdqLT6MfzwKRSRNVVR2nnHGDUFusQK
eElzJf75vdBQwoL2wpAP781VvN62JDIK7xhKhBVe6hdrS8Elff8qf7NMXK26sckahDz0dpnkeGQQ
T1i7R4tAvj3+SyyKcZ5gGc1RDyu4UePyi5bu5/2LPZ09jNtidMNlXz8+vCCieSo85wjQ630WQxBj
rjBSigxFHeLwOOvg3m5hibx/qz/vLEwgkZkze7Xxsn17q5DUiOhoXOtI1gnzGxR6l70eIy8ZHIf3
L/U3t8ji8Bm06ikY/LfXt+ijfONSpXVUbQL9FiCcvEtIWqSmsGPrDg4zwPQXz/Xv7s/jE0Rez5DX
Pce//rAsRzOt7CT0xLHwZHuoSvjchRkke3jAv/zSz/Pa19sL3GZQXcfxQ1+T8l/fYZ0EbWCynxzR
6oUB6o7SnYj8NIu7ZlyQQsKCrVbRTJmsJuq6iVqruxrlqKKdY3QOzUUNgSi2um8CsJKqc8HC9CbI
vab4xWP5eYWHJtAHsCkuAgA0+mv+4bFUqTulswFpwSqZH67TKG2e8CXlvBwzh6WWhZT1779+8fMO
EUKwp660wzDAH+rNZh8X4CURZ9zRQMrVEqxi0z+Q89MD7QuOTM1bZL1n8AslSZZP46iJyXYaqjvZ
WXCkZDzAK6VKSvc9E5fkH3/1+DYjBdBEBN6d9ebtmZKZ0hjw1Z/Z0qhpsi8iNuxjhxKTQZ8kYPv9
J/LT2tTke74GoByWKLzv1y9Bpp0u+uflODqR89yZGTzbWVYsU6VpU//8YppZgfQP/cZPa5PcxdBE
8z8fVazUDbm/4clErVSsMIqjS3r/Yj+9au4MZgVGXrY+8dw3nzrsGtF0kTkf4cXQWMZpz8riQ6RL
fP9CFiqb1yc6vgyeLh6I6+BIf1sZFeD7CgusiQqihQhj0sMh6g66Pv8IfWzpLhuiYVrE/E5wImGs
VHQkvg1PsdDHYC3VXZLm4ATGRLOEH9ACe9yH8mYaHlAWqJe9MwuNfkwypzmerHi+6TEfhrz2/p38
vBi0TwgKIM41+MhvS6G0moPGL7vuaC2EHk8kY16WU5Lu/7kWw+L1M9v0HKQGQHo/6V1IabH6URFa
15KIfcHkivuXyNO3hgXLxKnUL/FDfXr9sDHCaWA/xEeFf0YG8tNbqpbSFrJ1naMnlfOH51njkcCF
8PEMiHh+B6ojSbP5WCtl/eIjs94uEYcr42nkMTA1LZhM2kvlx73OKaI+RUyXHYUASVo2ZhaQ7Laf
vWVgqIKlSfDVE3nuoE/vRHcVatIl4TNxerD6uYpWqKbnO/PM9FtyjdfI1teNBeEYaK1hkSGiIQxu
P/D33/iks1X8TSSXHEIIX9pFkfH0rQsH/LHVy6swOAz2c9/ii0jgQtOtLA8hgzspoDHyBcH9coAj
jCnkSIw24XBW/sE1NSPThD93O4E2XLVeb+yVk3o39UyY4r7GI3wFil0tcPSkZZ6Apc0K7rc7hLjw
ts2JHFYfryRcRadNPcuFBnpJj1OQapeRwsXqdBCJRD06SBwcwb7Jnaqf7QWnbb4ZwWQaDqQoxLcJ
ByRAcQP/b4QKjQZD5zhPbkZ8G2N4qnKpL5BJAHqHLbyuw4sOo5IL/+si8Us4F59jHoG8hKTnkk7e
8K0lFUTL76DlhMblIkYpCelThaglA0Pd4U1bJpDu6qI+5bEc+9vO7oB1LbJgoGmJssnvcHLivGiH
XkgYiWgNctMKTrHn1fmd34jum+pM7mKyM3f5g7nm4HxoJb7qmHAVvGZlpvxBbh3Bx8TPvYcggCtu
bmXOaeRpjiAaA9hcmve52nkY3em8uhnkisxegPCgnJGJjXbE34j9WyS+LpP2tVTZYNwr+NALUhtN
hA3NygHCSQobRVI14Rx9JyBqdpuc5ZLcIG9mmi9mHyc1DP+ci3FsOx+5co9GYMEvQ4cFsoW7S8wK
QkhAI2H5U+oTNYFZzkWiiLTmXIWfgPmCFrag2e2WvSroYVdWiswZg3RTtQ8vlN8gdVlgVRJ41pWR
tpwN5zoAzJ7Vt8QeUEPi1eBmCNTt+RKKhwpwvZ5r9T3syRY/a1teIDi3GPgxdqLEg5NZ7nOK9V20
7YYOacbLZ4UbnvYu45uZfHjbz9rLqwWcn8WDUAICP2gv2LzVO2zjreeyimTg0ZklhctztTqNmdtZ
N3ydMcVgXJ0yQXgZzSBTf45cWxcSsUNtF9S+81yKTCOxLfA8jre0PwrlNxNNffz5HnFpNwnYlX/C
VFUbjJmpynZ1kJvdJWHxfKZlYzBpKGaHB+tEo2PvMgTe6S2cA36IMMFOdth8d3fVIqT6MijfNlBR
E5CQ3wV1qBj6q0I8eFlWOeuhjdL5D/STLNkskJZzOwuIpptkpjZGxy3IfuI8ZgwA6SUBrmCtOExz
8B53etv/RGGeM/plElujLy/SsSGTNIqWEmzeKNzsWLQdaP1cIJvcgaAtAZAENsbH0jQVUBsIea9F
EMswZtPLif/fOekv5qRaXfvDQb957p//haNe2s9Xz+Uf//N/NnCT2vT3/l/1938RKDyUX9NXtMKX
P/+XBpiIEJPBJ/0KPT/UN4qEv+we/N84q4HaqaheHB/+l1mIIxhNIzU1bdyZP0hh/W+zMAAWBAy6
5KP59/4Rs/Bst/XjMY6NGac3B6nluFRd+s5/PEnh6uBwOivzkJMXWcbfKV+v1RxdZEGwqabqgEv9
sTOjLRL6z6TrwabqflGjh28rCf0TOMyZ3HLPFkjA659Q0+Q1QRCbaCVm8ypyPs9hc+rGfIvNfpwT
fm3C4diE8O9IxI0+NPis7n3LqbaT9eRgK70gRGiM+IOJ72ZaB7ueQOOGCY9MPJAYJC6iyTbGGMN1
b353FKwbQimZuQHsf8k6i+ilhHmMgzHp/LFb6n1aIgQ0trMbHhw8zBHZ596J5hIodjH7ekBSSSe3
Mcm5mO3qcQ5yTJiFfVCaXgLLDMjoMgZvXsGdunV6nNSDIlil+Mwj5Q9w9rK7bZefHGO4pXkctoRn
riwj7G+98EnYeI/GeDd2/ALE/Cu6jbXjMciScJ8SjBvrYgPPYo3p2B2ql4eMULht3pXbsW++4FRh
7tNiuAE9Jq+rQoEESyjL15J84z2pnMFq6nGatKvq91I5Jsa4uGzN5vR7pf2wASRPVTcRzInWrvHI
TcSIKs3t6xjR4H83l5c94hebC+5nzru2Ap+euwSGV1+/omH8+cf+3FQYwv/GitLoBzsEoxH/fzcV
+v7ffD7kP7eavzwFwt/ofmHDw77gdHe1h81fDAy8nR2E4+w0wN10ruKf+Me8bnkcTAk8OCDa+JBy
zKINfv0tL/UiB6MbvNsSg+RlXaVqIBam096yk+y+/LDt3rzsUv/ZSvB8MawO2T+xqcVI8G1LGrvK
Kfykd24TZi9P59HeDLXrMU+JA0cuCXMhBr54DvVw8f/j0rZpmlrij8vnG+AjNXKhemKSbxfq5acq
bBmCvsCJPkyrBzvQE93ObHUDih9w+ovOUv/1/9619Z2zwVnoKjgheHFvL2/ZKW61TIBucaqhkQ0M
TXYxCQxqjmmtL6fK4FdY35um68+LslRg6mCN4b/F3aoGT7a4Ca1b1G7WQ4VG88IqPeAbMCmUxVrZ
55xpAIMYKPKQf/TfvAZ9ZWFAbGcPqglc8/UstTNaRp3LgioOuT/FIZGhpriE8K25AAuz+BUSS+oe
VVRAWe+/Or6Nn56dB6TH0MAFzHDenHjBFNjUdIl1KyBVPuZDAQeoGKj/g44it8DD5VJpOer7V31N
4H95eDCdQgwh+DD419cfBtawfqbclkmd1j0SM53u8dZLvsMykNSM+EK4DrQU7HdwFzyrhd6//s8f
JqOfM0Rnhqybt98KBmdVLnMlbl/k6fqDIa8WPssoxdX7lxKvAZzzvdpMY3RYGpjgT4h+NPswU81B
3Doa6DNwkMx3YypoEyLbpmfLHed5NGkQYxMGyRqoh4/FyHz6lJyo8vd/zd/duI3/PLQzzcN/u2ot
x6hDaUbm7dBLPhJs2Og3ybyh+Ut1y/D+1f7uI9ESEr5L/uFTVb1+z5QaZmrYGDohK6SCIhZoedHY
nx0XyjZzSFfuEGFKyDKrEAXjVUkeFOnBGZS0lciW+oX/FEsX0vi53+3zMXyhJyXJSONUzRmfOOmd
ajqGCREMu/dv4g3ofX6BvsX7MwVHBQDPm08kK+JoCOZQ3EZRhlnFGT07rxvVl81T25bGuggm9r2Z
B3jWj8bpAuLYzaE8NGcnhzR3gHcX+CjtRqCyBhCG1/b+7/ybXdBH4gVK6PBjf8I/DWSAoxc54tYF
ssE6QQuqEBw3T8JEMo7M9VcrWxfrr/YOiI2sas5cVG2QHd9OA8oe73Mzn7vbM3fpDCxEZMc/R7gw
xsjqbXXT2h4Nc5RGdITmmDEdmKC53Ke4azYUXjO8kXpkpZvsAGdEMrXBMZHO15fnR9Rxani4Zmip
8ujXlzMD3dMZNLB8bgiJxK/GfNzB29viTnjPjNodoqQArl8v2iXIQ1/ChLutOYTWYTMv7SaDD3gt
7YKg4Qp/8gnK8Jj1G8tFjL2GuxAluzCJsX38f+ydx3LkSJZFvwhlDg0sJxCaEUHNJHMDY5KZ0NKh
HF8/B5FZ1iVmuqz3vSmZZAgA7s/fu/fcnN8tAjXVfoBgftiIonO3wwz2iiaD7PUARwux5UwmQhp1
5uyjhoFzjR+ziLq1gEgGbBVzCkZV36VlQhefJyMF9bBhC3DqVZZirARwVt73ZRffeLJIT0bhVZch
DUkepbUCAqI2cu2VDksG/lTlHyKTKDaoAxC2q3nGRzMN8adazA3HTiGnSDr276Pw7QI0qpnWC4QY
lsjEYIlDQyUx/LrQH1eYmLX6pS9z4BBm6LqPvt/EYtUQNeOskGQ0OOjtqIWyg96+DZCeed9QisIu
KQs61vt5mgFbNn1vkTyADVg7hAy2TkbUMymph/CITt9/VEDZ+8AljKm910ZTt7CUd6UdMCQhYA+z
UF3fuZDh22DyrThceynYjyju2XYz7hFg43RHHDIKNw3+/mhDaYD+CNEl7w6Kxbv0l8zY0mO1oQRk
IR4WcMfP0bhyJV2J0ERx6klyr1cTnUH3BGAg69mZ9Vj34KSXvXDrI+LUVJ0ds2pO2gSBdhspMss4
biWTd7CiBIZ85ncfHtS/ahVhXCaABhwlurDo0hoWnFzS0Ehiq99GIeZXRkTJ0Ri8CTqnR1hxR2ia
nTRy50If2BrEKXwtfGm/VqZm4+av409ulOl7BEC+W81xVK5Fz+XBn9CVOxD1NlYcd2DuHhWCg1hY
TsDdFJBOOkfdJzNzJ5jsJKqfNNtLspuh9GRm0W/L/eLJJVNNECNB+FnlrguXpAmSeBStaHK1cVoz
5srIBxgNm/xrK9F0DCoKiD1k0Uz361ctHhyTt5ulhMaqRhXeFq8Vxc+Ms7bKMi5QqTGKJaySYogV
3HpvPDpmG8KzarUivCB/hrPBFbsOpEkhp3c8uAumgBxdRtZX/WUMQyvb4tRZOrW6yzyjlVxZR5+5
qAkEGWCMsBRHf+T2Kq96wWxgyU6s6B4fA/kIswINE9rEc0SJYPwNO4XVqABrcwVTjQajSgnW4uD0
jIs1i3XItQqoTm2MhaHhCfUCYsv49SDqrso2G5KQu0hIlyFzhrz6Jisz46kR9vKHqtw/YV5kfWY5
C0Pgyj5cXl3v+C8RzhfGkwmFDwoZ/sPsEiq89Wy+nNZgp4bssgh+2lhPL8Rqs8Rc0QvY/uDZuNX0
YNgOm3qC7OvuukZSw3mn0GYTdVOGw2HlyU8mZHyVeP/0p8XXBEJ3ebdF3zObg7wy3VWUncRv2om6
AxrLP2ZM7XGuFRk6yAiqUj8jERgw1N0oY9SfBviYm+sIoU84bph5ajxdlZKAhmjlXmEmykCrqReK
D8UjyStl8SA/ESBMD+nyTz/HBFFK9SmyAWjRIszBBSo/6wXP0PhR85ZmTHKDKZHq4VoozFkDpOFq
azYm6vtU5lzaBZ42GV76aZnEMgYor8mahkF2geysIUwOxUW2Of19biOunbG827Jq0DZJpiJXOSit
cIrwapkX2XpWv5GSxm6uMoOZbkgIxvtPmcJQYQE84OFmwPGrfV6NqEIbDUlxcC1w+qVUyea0+/x5
+LmanFXqL0gFW1lAyLWsgdwChN060yNmglfYFghsIld3bDu8wdqY0JV6WomDkOTw8FuuxYxOyusj
pIc2M4ZhapcyiJ2nA9Zy71kj+CRfco3q0KO441/9aNGZl5bN2obVyjzApoYdqXQKg2VE5nClL+gN
3QMfp7oxB815SBRReSuitHi32JQWYQ07brfcnnaZ6xcRLWO1zFrgHelAuWp5qHXPzEu0mGjxkDOg
7iBTg0CMzW3DNJU3A+IZyK+V8Z11uCRepiFxn9LMa/JN1wjYIFdUSU4z/J04LqpSXHl8/usikOXm
9IDuhm8lzxKYJIt4uvF5wmpneflipBOeLk993ulM+/UKQfUy66Lcb/bQ7bmqCdK1dc5GzvcwovH1
F5jVVco+oYV+bxdZViZylNw/9csR6JdT20reyfVOtKaU8RVK5uXeoEbf6ORy0JOKmkje+fCkx4NH
zBp0vcZiaTKI3NgXre6/JN08+bDOZ01uZqdbRhoeiFck2lHxyCzLfjfTFFm8tojY/ZRjiHXl8ZkL
IsA0yGInQjWFLKUSv35zopoHvdFH0GDLJ7zaJCLpsAK1FYqe64F3HjVmvUhZn4aII2rC0k3MEUfa
p0V1/YRUm8vSLVXaDLceEMFSMV63TTUL7qh6mSCbXsxnn+3aPyG8pePZGwUjqJ6TzGIAaOth8tfp
qIPRxlOMw8HhU2QJ4/6673hey4XnAKF1ehAkBYRrl1igbS9znYxAGbEcJWAfgp/G/1i2gNhjbvme
GzxcJtcLmHAcXPi7iY3K2iZbx36Y2hFoeTkuIBOtFfa7NS0rC3/afyknBOI5+lHwYJVWbWgcj/mx
wD9YbDBNG82jLoyRWyTM+KLnRe2UpNe1b2JMvKsi+EZA2wdCsDaz1XFeiQvuiesX8HMtWg7uwwJh
uy6sbbRI26/3bhgtZoSrPHNyE/WNYWh4f70/mfWEu5RGwG4oGys7u73HLeKJvt1DsBqOcaRa79cN
UYyF96N2SccMioW0o6WlT6DqAr2ja/x0vSt+is0zIwSuA71spzclImp7MR1kcuGbO2Wpl8TZl6xE
ZMpqkF4NmhCtvRB+kuUDaeMi5oakngetNfL/FIUQgypi6S66hcKUW05/shmMjWtYqjxZxN2ywyAC
NLdMZ2CjpRWrvZnotzTm53tO6tzUP+UJ3ciifV0BLWaJxboKXb7sLtSW7ZsObLQy3ZHHZtmAsLFH
phqDmpatXFVRi52m0TwE+eWVR5RiGMVc0iheFxfl9PCT6VZzVHvxFyhShJUAoIYaPO5uw+o03Jft
tCQ9a/X8OMArn/ZdP5TxrS5TEPYly+gFthbvwvY6vo8oqbjbhU6Q91Nn9xQhkZb5L4KkXghf0/J5
XX+8s3rDfey9qbhlCP+BaxxqE2CqPfB2sXIXqMWINP4HaMIKSk1DLKfDkZqUKVjL5sSEHUQcO5JK
xjnoaHn6VCjKeclSRoN2UrPKVfY4TzutT5FkIIgbVlFD2BDw+OKQ1HV6Ni2p66RJ28WBk/20xzYN
+D+v6/IcVjjE/SmnXrjOTq2r+aCVRudhR5CdODbL4n8kvJlGpB/HHLR7+vlrIy/zg1bhyCnpsqFp
zklMeYxSg8vTFjV/bXydL8m05+mODuCIE3ZkwWmvmoqBGqdYSrom9hhHR9Cd8qnRgr5Bfnk9KF+d
FKPp86j6ccMUWkDQuQuBFb9kRkV9YBEOwmz6upmEMev2bCdV9r264lgyvwZjuOzhupaGL6G3iIGv
B8OIeKP6mOcpoIO2Y02rnMkNb+inLUCpCoYMEOvDWPv6JZpsH0hRJz+vyhPHzKwDZzCua+kY7J/t
Mjbti4jV6mrKGQDBQI5mifTTjMURoKq5ucqWjHypN+vQ906EKIOzCWvaV+Nk1RCkyZ6rSEl9bxse
oQ5e1g7HbIbc0d460bIyz3PFDsTZLt4bdpx8twaHMaxd9zxxnYZMwM4a/0SCwlJhNLBxNHbmIis9
AJ7uDBiCA9vU7SXnG3jffburMHhtc7ivHmeVzn5n8Ks/gaGhZYcTOwno8/CVuCnuD6aoBieJwmFj
cQblPMV0rNdXtcKVg9nO0bIcXEtmG0Q1tCu82X5ZCIZOhett8NYaW145forbfnqeiHo/xZZKnus+
ytaSJ4TVmdPOTHiZ0bsr1ymEQYxsrd1BEapwqc9+6W3M1pz2pKhqH31t2p+4D+bvxIYOP6p8ki+j
ASKCvEBl0LmQ4qRTlJG75o2vCLEceJNhCMy8acq02ZAb0Rxtc0ouiYs+Nkqd5EtRd9GjI7MBd16R
q3UmbbFTnq0uvlljSdbc7KNqFL/JLmEuUCmDOr+bS40Tay6iEflIJ+CjE6D1C9f63/HxP014TGHQ
N/r/MTRP38vyu5Tfv//RZ8vkdfmpXwMeD1vs/8WiEb/R7MfeynQHkRd//dfEGEwNDSl6Nz/DNpeR
wO8TY+s36hraCJQ3toeKz/pPJjyWa/6pW4SOmXa+g1AGO4EjqCb+MuNxVWtqOCTKA4HWUq93HOui
dNiQwT1itiromxH94Rojli9FUD3uwbUuF3Q8bpd9U+CdoRXExJK4A/0iG8t5mjKRbZxElOsocqQd
jK25KSJnei0wiS/Octt896NSPxi1yIPet0fAmZG1AU7y2Zd1BwhERjsCbqI1YMQm0EO6JvPc9Ts1
CLYqUhXgV/qT3NoxxJi89CDUpap6teoGwQoSi0NPTNtWJA6VGsxS0Q1EdqQJIIAW4lepkvzJIPID
24+00GugwK1eY71vdgbxM0c55P6Si+g430LPrWPGLzXZ9kUbRWeG2t1zhmTlxLFGPOB+Mji5uPdD
r/tnjMY0sIoo+gryC/qkmQ0kD/bDOkvYTmm+tju8ruV+TIAutqa6r+rKPeAMLbeOBgIE2Yd+W0Jd
icpszVqZ3WleCAYtJGFTV6O3IaaqIpWkIZeGQK/N2FgiEAAlTn46yQMaInAq2qxjQom1I7yWGnFU
QwUI42y91A7nxsEOs8F7iy5lHPsnPamtjQFI6RQRy7BjZoFRqzFtfquc7+vBkGc8weEq640nZyqm
D5X1zkaOxFeFbgYIBJEYlDQn3zpQnNdaPakHK0ndb304ERCtvooikTu9NtN9P0TGcjwKXwYgLds0
DUEGJU6mzr0y0nNkF2AhvHrCfEdfeuMV+bBOYs/bS6dtt40DV18J3djgPDBWkcfcm8hE/5vXluOP
iJ7sdhbl5AVNWJSQJUzr3lKjzE8qrZ/jXk+fvalS75rDDGlVzrY4E+k53HjLtlUVgouc+HG9qSMP
V6wReut4zrxjKJzy1tSH6gwF7BndVg1Ix7SavddX2T3iVOKsS3O4hagCdg+P7cQpy0oh5Oha4YL5
6BO1paVDG8jvrQxURE+TnyCdbVoag7+apyVt1Ko5x+ukF6HxNIq96r00KGffRkdg9WgE2Y8Qso2g
3gDnIfmSerF4lueCJgkaRht4dkw75dw6xnuVN2544nw4xTeIAb842NEeaBruSJnStYNMeis0dnln
ppm7Gvyx9D8gwzbJJgrVfDsPk7yTPQbFjzR2I/20gIUJ1pTQMELrriXMrO03ORlkVijTjd/2+gaq
hH8cK9dY8uwlmxaOtBo5oFYgYUrUEO1ry83aZyPnvDOtbRI8OyQejlsBqJW2J7U1hBWDGArX4Xsv
BkJbQ0gzDqrBKBSENjZjFwgkIZdGuYX7ReD2atoNqgedKdDshZ+R4hQwSScKdIGZVrc0ayP66pE7
185Wnl/04wKL0uGHDAujT3R++s3VQqXtvXKgpLarfNRWFUVJRqtgoSKHmO9oaUTFQqfl7JIxReVO
EcQpHQiD50hZNpwWyS2zPhUArmxnACCq965iDrimP4ZqBbQPvtHSXkYFMzRUZ1UshzszwksNdDXn
u73W6D/VcF1GcbAiPIpBaUEn3qST5pfVLR4dAyiU6pvY7G4yAjUEOZKDtorcyY02tIWc22lwpq1t
0SrGw0cuSGvzHdNGDNUT8H/jpsVV3wLsaRsRzIU/wgQwnTNR9c2BRgTP/WSHaxs8E0Sq3nQRyhrx
rnQHb1fFbXZXGvlpjmhQrlrdrk5TbMc3YV2722rsOGxitXZ5qGj8NTA/ep18XMc4em67szVspjyr
KetX5CSbNqL3uxVuIh7RuYJCMeSsB+ZoaytHK8sLJNXqwRtc59I5zfBGPJOhQNn4N4oSdpU3rb7O
JivadW034wOf+1ysCjmrDxyf39ij2gtqfmJgXc42BHsIzqSiEY/RDGQJorj3bANuvrcsLWRz4NyQ
g5C/rToPjKamxHEAofkxGw7Zb6G+lq4THVg6w33Br3rNXD1Zw/T13gaEhBVYZqPep3Yz3RCiMp9B
qnicd6ZsXY8q/YpWXT/aBLZc6EpsO62kEd+JOQ06kzMCrE3T2qQqnO8cP00ha/s7Sdj0M17v7qBI
LN0t6sCdPRR2g0tlHINZklEy5lV8i8sRIlFLk/AmMVnicZAQHtZyEB15/UdGCvbKYOJExz6M72oV
jcEwgweyUj/aOXyAbU2Fma/00YpZGmfrFdwO6M/B9uv3wTO6M3Zk/fvQGxVi29ncZHqo76nozS/a
xOuRLR2tUetGWw6ENUDkLr9kYmxe+jRszn3btXc28vYTpNcSNVeZnshxZj5uxsMlq2zgEPCY9vk8
fG08KzkpK46/hFWPViykzwQ61qESICd51XuVCLCN0vEExdAFCU/+nU3TakdSefvuuSUTFSdbmwxl
GNDaaMGswnMODBn8eyKH5xs9zapvI0F/q3oqxCZTFZZrEX0JWzIhdQ4HFA8u6GRNmRtirOlhCB3g
KuFHG4sBxNlOEkGElwSVzO4Po1Uz67WlxySqTXr3rBk9U+GeNhBicw75vkbGmRwmxw8aIiUCUHEq
oW9vdEEDewwkHUQoPeK3idEDh8tD3Q4d3QUQ9tcW8GTFHKNdkbIStAShARQbyG1yHzmuevBaQZwn
UfwkHVUn99ei9b/1/T/U98us9N+V9/+Tv397L97/WNz//JHfa3syYqnBdSRLuqfjb6FS/6UI9bzf
UOwbzGHxN7A/LKX1LwWXSSoMFhJKeCQrWO58ZC2/1/fiN8OwEE+iB8MFZPr/kYJrmfX+S1p0pfdQ
6/AuBD4y9Bt/qe5TvTYsaVoaVgeNu5aODRnlviWf/vCd3P1du/XnSfrPl6HuXpg/WGk5sP9l5KzD
8hjmQdvLmblMVhWKADDh3RbjoP2TD+fPOoHra/kYwBav7oK5+atbhGuRSh8V/16BAbzlWD2csdOY
RwAm010N+D7+B3kWh7K/fYsuRjBEAmhBcF2LRSLzBzPexDm80d023CeqBckV0tY6VQDKq1WlUVwF
ns8AlyR409iKPhrMtU1jR+3oPRolVD1km2DtgT/3E83Oq8rdr5Z8XOW34ls5Je2pYc3aNWHk765s
/IIWAhlsU3lUrV7c51lOfjvRZs9gbcqjP7TwBsMiuYSETrHDpDaZVuDSd6oR9NoiqTZNt0Rladb8
3adn+hKDnH5xa2S1vUo20BNKzCI5oZmGmZ1xvjkLDcXs7w3ZFz9IfKtuQeCnzwYD3xW7Yr4FWlYG
OtGJQV+V415UYYUjqDF2HgUUIG41bkDkEDiJHvaGWXV1gWczMvHLzHeBDBnY5tis51Yb9/AOXHS1
kx86aN2M6gPOXHEixH26Z6gV9yvRjB5dMc/aCmm0b9i//DFb44dyZbNy1RiN8g0fvq3kKS7rdOty
ZiIrPOQ+D5j7Cyo8syi/9S0TVXrj3pcUDtqDHwnydEch/c+U5Dd8P37rlqvCUBXwjTShkUYLFjkD
tsdvWQwbPEigRd1SUTEyd6yoOrnEC9+ovhxfPDXnQRYm7dogfuxopXPEHpCk9m1i6g/sdyIIl54p
hh3OS7po3wq3GrbVJLqtNzgMwKfKKT7booh3RPIuOfD1OsLufBORBgIgfrbjYiP5cqi883OD/PKL
ZRraPU7HGWhlyDkFgVt2cChgNQ6YaSjgJGqPlpOQV4zGZj9AtNiYKslO+Bb7T6Yr3bdMV2m+maMZ
LrbWJf6Rr0Cu49D5aLo8GHUqKOZwTK3c/JPByrhyMouAWlAcTLyffXrz3KR4XbXaI8BYK6ZATmMJ
Z5SDqB8mEGrq7ibVWsuk3Ikg2oGWe8fTHPKH3a9m2JtrSAlqM7lO8xDCxjg5eALtaRyJosWTzK3N
0zPZxnCmy2mQADN8nwrgSnardefMKOdvHee4gCtrf6unLLulRjbW2dx1D0SsaUHZeQ9N4yeb3p5f
tb41L0BwjA2qEXnR3HnejL4zPpalD/tU94ctbPx7UjG+kF5RGfskI4XPAus8xOqjdBLoeQTm9dXa
QVGYMrvyagI6Z5lypI+KzKaA7aGYqLyhm8icRk2HHBOnIvIkamhVgOmP5pdMjkhBOLFhs6GLqlWU
yWqQ6ZP1a1fX08kbRmBKXbzxdQn+yFbU3UTfZgmJGEw4mTp4ZbmD0++4rxMJFh69zMywD8i1ELck
lK/eVqYS3i41QufQ9Bzn6GHIbP6kWSdDdMFd3UPmLDgvg72CH0EAIqCj+MYPETIwzw9H+82o4bty
LClDLd6MuLuMl7QfNXsLktZ2P90lk2MVd3GnkUpYR337mBXk8zY7CIvZm2bX2aM/MJltBdkjvJhr
7wfR5S8uZ62W4GEjJBy7d8yjPQ0V4455GPuVrcX+zmbYdhwBKxLgNNl7o0BiSaaNShQNeuhIRlxx
XpJMwunNhk74qFQ/fjhGuaRC6yXJ3NkyKc/JUFr1VknvdJGC0oQtj8nEML4r+pmgmibErKN5dPcb
y6Kb7QKP2uqOrNZ5m9A4IMMwKKXwYM8oPPAaJ7ivVzd8Qw3/OOOdSFd2qfX1GrpVcT+ZVv3dcpB8
8UaSaJsZFtNcAmoBHgPijDetGquDJ3L/NrcT5z2HWxCvTMBscM3cAnUQupwg8wreG35W/p+tdcUP
w2vzFxPS1F2ega1be2R1PkZFzEGSjCROWFNFWjnP7S9Iy3+rwH+qApEBGn8oef7mEjqUn8l7+ecy
8OfP/KsOXADhJjJLMCIIkv9YBqLspslqAqqAarI0hn8X8uu/uYi/KQVdhNjcJpRvv5eB7m/uIoXn
x9Ce0jz1/qM2r/XXEoa6BT0CsjUIC6iv/lqh9QY+hZkO1iEamw7XWji+c7xe+KJMnGAgkuAM93kw
ECxJNQeSHBpsnpGhs0K3xXl0LAiwjpPmZ7LXQlKRKE6++ujHUIb5WcT60Wsguquw2xblXH4t7NA8
4CswbttkdLolXcI8z3ruzQGI1Yi9zSdOPnG8Rxfi3UM79cOtGN6LqiXsWcbZCz3b9g2q3+KpHHIO
w5mop3ckE/5I1s1y8iclqgzXk1+aEzYcN8o2LGgZPOwMtZjZFqwXmD/DTWWo5JBNzSRXYe73Z0Rn
RJr2ghiXtd2Ch9nkFR2MIDZDqbOr9tgYvapamb1EcAiHJj6ZyCUZ/ig34bRY5rh4ANhWH1Guj6+c
PovbXioR9GYu2b/l+OEVQ/lmdcz8A3Jl1U0yZs29qtPoPeFgyD6yBJ5kFpqDsqBnKVV+YQpZ3dkm
mO/V6E1Nu6poGN4VtNyQEXeKbBU6Za6tTcHUFK1YoXVb+7gmAw+6Mlt31+09ZzCNVV0wz7Vx2X+F
tpTdlJnWPuI1H89p2SzimnpfilZDSTmTzm13NBQ5FPQ33jQCbp2l3hwHr0WzSBBt80jDeEI86hhW
YCXCeKZvF92SfTLtBkFRQjN60F8TNwtfO5q/h3ok7IPdVTuNMztlV1ISVLOyFhP3TA9J77/kbBxN
YPtFexrDtrmhxTv8wIg80ylSncYsDtzI7WCV+abG7ZziW/ObcoX3bjjn2tQuJqo+e2+WQiaSU2Pv
oqTA7G+ko/yapnlOHRM2DULTxozuSs8v9b2QUUeiuZdERzfP9Tt/tnk5TP7t46wiF3NYXJ90EIuC
TmrFeLMrwMK5ZnIX9f5CewitB90uoiCsRfnqVmN+Y4rC/z62o9tuHQFBCC4YVm1a8o3/4LNmj4Ek
8Et7JRfOuYstJumrgWY+ifXAuj6sujJxgAl+wumLau3bnU6PQC+fGulnz6Mu4zt3SuVZ6grmNMpU
f6NXY3OKw9Jaa46KinXqpdWTZ5K6EuE3lWut4f/rVWSdm8Hqqw0C2PqSlm5F5PtY8GzT2NBTDoH5
z2j4jA6SqKm4EsHfKnS9HQ5Uf1Cp8yBxxoqccL+rLdWQWjfvi5E2ajjMInxA4GqqI23AlPQv5073
UtpeljsHyCnAWVqt/zjlPDIbHqb8jT1UkWcbDvna7S1fBlltVIug1n7soeujKoQGGXS0oYO4TMTF
qovp1NlOvLOa1F7JSlJqE4KMaxEbIX4PQMQ8KA+hnHiWkmFAahmOJkeIvhPpnZvIOffXVj334tGa
5VjA7nad0r7QZNf2Y9++WGRv3Wuk+nCqaEk1MNvhiMbIOVd13YLBzox1PuXzru4LdQ8B2zj0KROg
yrMjePAyv2ek1T7kI/ByK0thTJt+vnHrmTa946+KUBKk08SXRfnVFx1OxS45DemxHhN+k6k1ux4x
ysZPjDcnjKnwUu2YpmgWG2oiugySX6ONPOfSeokt0zqEsq0Cna9lS0dB3hIv9Ob3dbQeZ4TBuKy1
M8kG4T4KrYmekvhS6h3gx4gsr0x9tnK4oV2aB2EnbtLEADStwznnbBU/TyaKdqIKXzwXHHzh1R+Q
W3NS7YwHwXRlHVK7RWZ764xpetc15asVwko31A36ILEtRPU4JGZBX9vtOFmpgsZWNqyNMgew34N9
QspA11058N77QZJSNsfOGfinPLYcEzvUHFvle8POMAeLsaLKACeCrlq7pG4fkSZZCR+vnt/iScqz
P43W1qEANbiNwNz23UlErYFmpy8fxNRUO43SbGcpdLGdIg6Pw3oacv+gPcNDX983SvkPABdJ9AZ4
kt9n2jTeksPw6VYggbIk0m/ojjcbkIkeRhZ7QsWN4IkOhsft9+QSQbi26YCvG04oxMlJkH9OpC75
NIcrNejtM0FmwE1sS14MP7nn0NLwSDC9bIdBXoo2w+lJgOzjkIfhPQxuXKpLuW0zV1ibXCY/FOM6
M8z4PZ/C91iK5t6o3fHOINP0JsGn+uBw3nnsRwYInekcKSHLYCJRc0US3hdbxs1STEMuSKcw8B3e
qZG5H+M0yAdP82lI9pPammommJEWwA9HEhY3j/j/5/5EKx+hT9tL68Iao53SLnGRusdF84DwJl8z
18huTLcyA5vO947xa/xh5TnPll9JGSAvf+AmzC8+aV93KcluZIM47iZxZrnWdXHnWtJad0baHorZ
NO9yRttrjcytW3vUv9pD62waXcsekVwjJOlc40tXWc1WwtbQuTNiRrxUBHRtLbfcAmRvtRU2ZEaL
bXKjDbDwbDmqfYlY6uBqBulWoW0ftFx39PW17vtvifwPJTJChH+fx3N+b1X+Xn7+sVX664d+1cgu
XU8IagCOsPjQ2fxDr9T1ycIWFG829c9PX/3vrVKytSlXselYkGGWJuYfa2SaAqYOuty1XIHz/j+p
kf/WVySi22PLJdzXZ4Dwt3xf0act7od5z+DTntnprPIUTZF6LvRpCKLItv/By0Zx/+feLHU/RwKx
wPhMz3L+0jTtUBl02uyoPbzd9l5ow0CBDTrrD+eU/6M1+2erIu1SPhLKN5xVeIV1w/iL+6uz0f4C
rJj2qmuS3WhMzT2DQJLnXKveCG1kECRbZGxNqj1ICHrP//7lSTP/28dcgsnQrCA14d38lSrX98pL
BkyE+yonMGM7jfG8xegr9oOFx3QywByRuLEoOFFZ6qs6pAxftTUo8kAK035k19URVYWeOkt4S+QA
6hYBtfOYbUEm82dzKlXyGnONMftUp2RuIEhRhLN4Cl5Np7IHQCbZep68eR9DEAhCuk/HwrGb1zBp
1C4cCnqxdaSzf1WkJjUoANx5LxoMpLR060s7ZjQgJlwJndmHx5Fg2ndalvT4ZDWoHxxX5u3AnveS
96XayXQqT6GuIUwNE08PxsooqdtE9TVOFG62SPCD44QAXDaTgcbcCR98Mn269SBrhtGL35KIXmyf
ehBCJTN35ETwMYUL3cCdoW5DpfPW7sQs0G7mEravzyoMlS5f1W7S3lf5wAFocBmbpx1pF5JR2BlA
cbIPRbH4npIWmKDR3MuiC49zz0ANWV1+aLqZt2N2w0sqiuGlSWfnkavDTieFsSkNDjM9YTMfiooj
iIjXIR+xVM9xF1ZvPQa4Gk5QKfbO6PMMjW14NLsSlTtnlD1JIOrH2NfqWbT8COE18otDssgpnFA5
NlGHpjuf5ZeU5MzTVCF/LAqPbwQhOQUrynj2YKefodjneb2RNQJHoOXGpmpIzaqd2IfNEjlBalTt
hxXyr1HGCIHEEmOO9tpEs7S0+uZjkjzOntbRmk/6/EBhV1+Ui4iTPRRFvTTLttwIR+Y0jjxv1c12
tnYtDU0rGqQH9HWoU724uWBgtIMc/sz3TCixKkFabwv8CywaevU1mZrhJaSVffabgV9lxmpHYL23
0ic+sY+q/RJmy8OuNfatFokBqxyfxWFAu+p8uk4D1S5ZPnE5fNezRO3Y7qzbyOJKhAPUQqsk0btA
h4ILo+75XgmWIUbUt4NpDNN03TFaKNdVHIYPjgibD9sX87kcY/VsIJreleBz6HY12VZDivEpUlTZ
gHEh+ET5vNXJXg1kxHVM++WrXm7RvJyG7wwisu2cKfbWZuZKWCjtd5bO/d8uniRG6SGSo+xtBBhw
jJOWoC/vh+h9usmJVhAKJMPCOMTS/ioM1bwaYdi/RAb3JrSMLNkZApasZeVfwb8P3zvLrS91anNT
gj3GxsWFclyt24aNVd/WhWkRNTnatz2D+qcykcSKEwr8VYNKtMF1hIjTCKuvZmGrmxS32ePk0bql
ye/5HJehZkWeK8sgMZWGMIRTwPXDeTEPAacN7WFSddkBu0zn80i9/4Wjd/agKhwfqwFnV6Aj7Thy
wiHichTJvqtIm4MZzpTbZpjzUZPzwmUqyJoJFLbDV7Bm/ikVCmm2Y5gN6gYD39gXjJp65rwNDFS6
j6TtrbeEoXQW7QdzLq09lgut3JholvuzakZYkGNk9taDmeFrwemknnVPdQHkYYp43Z5IOmhmZ8t9
aItVZxigwtDbsjT15aWvfNR83GFHLDt3nZDkgkG91Oz+8r/snddu5FqWpp+IBXoDDOaCJqxCLiWl
pBtCUqboyb3pyafvj3G6gMqa7qppYC7n5gB50iiC3Gatf/3GrES1c1PHeljhjfiWMxu3rZUQohrf
VorEGsVhEyXABcdKL547y9SioYwx4TaXz8ythsgch19FqldHpU6+lsFMj+lqI5DTBnHTVOMUlRaM
1i7GZR1GrCQvojvPvcQ5HkXOaV4LL9SW1glwZcK3RCSMtCAlXRRPjED9a3yyc/ekFNBLslJioCa8
WB5hTpahrsxmINXEwva8GBsS3svvRKw9vixkzuwpZhHAmvXjQtpeBKbsnXPUlxeEJtPOTtmwMq+0
c7bEczR4bnJcF16kro3qUUXed2BmswSiN1y6EIV4H4OQp5Emep8inwx0pVLPk5V5hyHRfmCW7+2w
9OuI2SYLPNJ59l+dmCY7sKSnrD6xWltiTtmPB11kzs7Wpve6idubodPLoNbVAWzOI/m99NAmWvEW
whN3X0YzDXs0Atx5XODubqST94mY6yM4UvIRMwsImn3R7ZJxIGUhLaD2ee787loQgYiFmM/1nNAA
lUXx5hFW6wT2bC97D37MFDh49QA+uClAuGlQIRpARJru7kyM1Jyj4HxVod3F2OZIuvYOYW7cXMyy
E+dpjVegNVU/4u9Lx5qm7KouShJ6uLphBS69Zp2E3c7PK45uQZszO3Q72I9liD6rOWmtvX4wg7SO
+lKtTyIXDQSuzjvMq+UdqyFe7nGrWcMxHuSpqIQZ2HpZsdwL/LsIk4s6WuMHpzMLioNFG8gHnmhA
hYv8YqwiSOOrP4EThGgJ8lfIPBmI4TLtzBhlwuCNyk6mSJGHhPmqpnCXZ+p0zDJjNnxzHMNESbyX
0k20fZmx4lHJpkcXI9iIyAPzgr8kzNdiUh6rfnZvNbkuJ8L9oNUgLk3NiKCj6jeqqtsUqcCNN/e6
HZgI0MiAYnAZVmZaXATkp6NIq03ml9rtuSQK8W3IncX0HWtytvgL8MQU7z5kYVqu/hZVVZUhDZA9
45GojscVtCkQ5CzA2Cqtt6kcsixcGQbeQGvtviojt9WL1pnot30NgMd682DQHqa0AKFQMeiH3Tej
CHBSa/xsEJwFfTltdYGQD7Awy9CWY91ELiOdszKXJALgBpGTAKVX6bE1xvbGk11jBi3tOSHRjZUd
5tqNO6LZGuuOoPDsAAFIfOrCVbqgFUuxvRuwy61EIp+Ze6jUVlhUHa78aOs4nAVms1mMs14y6YhB
UH5z4QhO4e8aIn0oFiV+RCW97YGCMsGJVRGHiTVQEKUZeXqpsO7WLFMeFbAcvm5mpDvE+gUMe3w0
gooiLw1Nexafs8BgJUotXhJCJ5TFA1XhX8WXzHRSOrQF+Wbu5ATXEJZGnVxteb7zsugRZaj9Yy6I
BERuDp8/0keTWONUL48GUNNN2a7rwVQ7Mr2R6fl9uznHokaRcZhaHZc7qj/lsU684SXTjQRLJiqN
2rLFLaPZ7VN48tVQtqBdoMztUF6r5bvHxQuaKgJvIlekds8xWP8yhN2MoZLYI7c2AnSb8MAYthIf
Z+nEsk+J53tJM5V3B/rl1oFatcs+gWBwxs+A7z+MEzxt7vKGYutNdEmF8cNW/np28+b0c3nUO77C
Ftzy5Fbz8u1CPtqDeDRRnZOEoGVTh+sUQdrwI4VRHgvdkw//uonQ/qseYmOZ0y852J5cfc/+gYDR
6l7RJJsHQaLo8hR7HIaUwxsBDF3wA/A95b2BP/XIi3nvEKNtbmc87KG3/l1DczUw+4NSo/71SZjx
wAWB8vInGWRAqVSJXPYHM6PyD+x1sO4cnAKipJ/i02JSEKYeTxYX1/neSZqKbE/LOKx9857ENQuz
NuSpM8blXE9CvuIlYN6R3D4/T1Tcu3/z4P6Z3e/xYRn9YPHr4lLD/OfPD+s6CP9HxegOSmao0N1r
+8ci2Giqlqd3ysCq4ypigWkjK77oEZeq3FMn9I7NRy6omx2oDZd//aGuLeefT9CwcDxCxeDSuP8f
jW8ySNYILJUDynOJ8t1DV9m5gyQlTxn3LXNqMpvKNULjxMWDeYl8zQXNK4nPbFNzLB7zyZQno7Qh
M6HI/SUyKPiunUCG7OUKB75tpC97S/kL+/lvLfSt/2IhOphxAV7QVBMJ/M8m+tYAA7BcEJDN2EwE
zINgsSJfX3bNMnM6ZfUUeqnhfI/6Mh4y10h2iqZ/uLn4OdUJJEOLckmxpiQcRNVcxlY338ZN/5at
RnHGP8d41yHvzxeRiHo8t2nqHmO8b0OV0JtdNrOhMW/LD4mXWXeqBmO9JWbncS5R0FNArrt6xgHU
TKnmWzngI7udMLDIlUe8KOwfiuUs3xXmfDBESX5XfKPbBHemTd07NeVxGDjAUpwTaKTdlb4kKfhD
q7mtkDapOImvtfpcr/KBieF2pnhb2V5Q0HuVBQMGzcUP0yhgic6xuC2YSd7kg6QG1YAcoFWML8mq
wHSHvlO+t8ZAUAAaVWe8kTFJPD8nom+4krqeKCYsaxmpCXJ+lINBnCUpqpZO1LwZ8oVq/aXBKwZC
gCGKo4MZXgKVecxCQjD5HzEFfRyqHYy9AFqK5o4+TAj9jOd694tEcaJ4zYmavlXTvA5j0uQQK9Ze
g3sfcwe/nCnlHZxIYQFQ5NNOqwe6b45Y1+x+QqexA73WrKCzFJxgK0+slytJwIXL/7nkQ7FrM6SE
w0h1pcLEOMRrT0MBVXt46bPy3WnpH9dZE2+QRowsbJcMovD27LyCKdIJL60x4NJRHttcRzvIxfFQ
oFfZo4Th0HOtvjz2ltt8oBtuPkys1qn3CZohr4L3afRuu6WDuTfQwQDeJ5p+u6y7n3VFLzPPGoNZ
7FLe+623q1PSPGDXMu0113Jm/FtOw05bk+rYdiTWMUAyfGon56Ey2uFF1QbYNLXefFgdOm3VpMMS
Gt0zk8yVGwAXte4nIO9EL1KK256BKTvY5DTp49oNDbenM4pNs3cCqMDskU4davgMGr8JP1p+XUNT
4EPgGUZ36FskBR/qlDtRCgkqRxqCx5Bqu0JTxis7ayENs6x0+TotjnujoYl/7wSad6x321O2OPWN
nfDgWi7QfY1oK2ig/L+QeEJ7Py3Z3t0QILyfxG1VgA85GW2yO9Xrt8suXaPMXdFG2tX9ODviEw80
2m3VQkhUE0SG/fcGSPOP1spWOG+fesYQAy5Thg8ObqPbOzCm8qhtW3Xezne1KFCmA5a8Qx0fdnNb
5bafqxPGlSOOlVjebPscdnqYzqZ8UOuWN9PklCLXu1jUCRpUsJ7lXBguS5WiF1wHiYYPsMq3K53l
jCfwcplH0LXrMtRnIBiWt1QP80CYnpmAeBjdIh+uiA9BxtCbmQcgGAA5YQoJMb7WskNpUlCVeLnc
DLFtQWkCHlAShcdgSjpbAEce/QbkrZm77AoBIDSl6XfrrstlZbsxmmBOGfsTfsekcYFeqVC2HqXY
XDspgD36FEqyoXHmezmMgHN1zytOJrU8zivfSCWiAhBnZQs2Hk4demynwH+FagVi2LTxOUuwBrib
MBdlxyRzZd3phW39oOBRSYG0x+5nnxPrwhlWyNfVIFKY4cIkv5C46VGn9stzrbDNY71FRbyBK4Zl
cqzR0cenK1KjEOzhu5QaCPbXjH+p0gF75MoRZ2j8+Ct+c70k5wLstt7CeAiQ+Y0hzlYuOxuNoqwo
lmSnEgh9XZqwAXYCT+9j3Wjxo6qV9Y1o9CKUqPVu3L6Tr40GhgbFHkxt2GrlCYsWZuJ0WkGi9hzu
Cr4ueLE073NCsdOqCG8nh3O2mVIeYWrJ9ktFmRRMRYFGp6N9ijqb8rzP2dPbepbtdgx3cdOdy64E
kfQyh5q3aPnrXKJQFraox3RDvalLtluABu0dMXrFOTF0vwYZNx+pFid3zoBiR2u39YOTzoFWBzDS
5uvEG/p1LW9dxPVQ0uriEUIwKJLJNWlDWn663g1aDwRMngrSBo58cCdA1JEh2p2TKBZXxYRcWXqU
IRLK29ME0zjwKhP8jMHw0aQdDq6mDcImzz4beJE4WpbHpVTrm5Vh8Y2lU8Ti185InPLwresm6LPt
ijFANSEo081kfFkmymRRgM+pTUlSYwVRN+Yce206F+tzu4xP4Bd2cIUExx7Q0tXJsoJzO4X5TPnZ
cZoI6KwdsZfuzAppZooTRlZ+xcbew24DBW1KNsVC1NV7qSsA1BOYsZHFtAo9hbNhI+PXAZcjLnsW
z/WYnR2eBsjRcm4bM/lJV78wMNc3ckvVzaBQLVYGLaDNs0BkfVAIGl6CsRt5mCrHGzZGnV94BreW
PQp6PIO1pjDCnyfwMvKXq+yIrYo8TaIERNyOStzS9KgtjOJudREelhBKQb2w/TCkx/2QApmwJ1vQ
adRPy4UwIO3JkM7w24GwvMeQgFw+CjwyS7CpwoSjEZ8dhBUsn5jLH3GDoImB6XanO/U7CSI8tXWz
G9fdzZZsLHgGfanSDY2TfKUqyU0myUvMpaw2HnULxj4kqKocspOknGiamApyGZdwRCt3g33vCk8U
SP36y+vGXKqcK0bBxvLLmrhTBZfKsV5h1826suyqNM/2zdSwoTOqysTZjI5Gi5VtCmfFjNvK1ovA
GfPVmJxlN3fF92CujR2lHQ3sFSh2OvFu6nSmUwt8uzCKHkOhr8MeIIFvPB0dDMcOg2u+rW2Shus2
iekBVGCpOvywohncUx/3zV/E9f8/qvx3o0pMTf8lm++SbZrtpv+Dz4e/7fa3/s7nYyDpwtizmKAZ
f+o6POdvOrFrTAtt5k/YtfK3/k7o8/7GJI/uBrnXltYEa+/vhD7TYMLpGczH6B0stBLW/2RYqTG5
+3OupqK3c1XdIbaMD6hiH/tna2dwgVa9WavnWlWaVA5UIrYSUkkhU+i1Ge0vusTGJ8hbtDuUSxrg
M1jm73kuqZmqNat9pgfdhc1leg04Rr7+nFci7180j0CVcOq0T2rm5Lmaue2zxLZ+jhRuF+DW/n6d
wBJ3WZOjUm3wJbgkE78ZoEP0xF7J0+LQ9nmNdwOnYDVbD2XbG5/KBPZ2xpwKHzfT1ns4MYCzz0YR
D85Nt8qVeh+ZwLDpuIzhV37Na9Y7vBdsiDH01Lt1AVJZiw66RKvC2HOM4W3K2dUz/JJKuRRGxv0l
28oRu4J3+wO0vrIDQ68b2IFlnD1jjy6JLafCC9osJ1GRqTO1FQ3jDxuHlGPn9Okez6pfJUZjUeZk
2xRSooIYR13f53r2tHA03ts5ocX4ei3GBUQsrhi6cMD3tdG3fotmJeo15WMuzHljKVYTtbQDjxFg
OJKkfc2wAtMxJJtQWrj0KN2jppbWZfSIoNX6wdGOA5ZPBH2tyKXXynV+CMeKn9p+0d1jG/cGHjGd
sEqu7iuJGZ7L68jZEymG7gSFjaZN4mzkSwQnJ9trynMvCKavh2rKtjATtALMEKYz9WziBkoi0siB
qPEo6wSW3x6PFfK+NFDoHv6yjwPXYcmntQ4dTF3SwIxlvnOXOMZQvdJfxWpQjaNPXJ+80sFxsE8m
JzuYiuqWLxma4fqZcQu0AKzZqWCUaALh7rq9PuSL2h0pMWoYRDn8aO0j6TggeXOl5ltWiU1dZwY6
BSPsyHiKZjWuIxtC35G4ykcX2UIE1rqRw5opDzILdNVscARIba+HyQKa4ZerYsBNtXSGEGs8glQy
B6oV56mYQWEt/ZgM7cVaXFj9E8q7rLk1UbUEACOIYqv45BQ1LitF96woKWzvTQLLj9lhddf71bjg
TTqtO1JD4108Lj8I0OyOkq49AsXLbyQk9qOwzGLXx1I/eQoRD3gs4BevpFzf5pydTNLjdpPbgK+W
y3pUJVtTt0v92Vv0d8QMTDe0xPHzFG2D2ecoSGqn7/ENMXLE3NMnblnlafMDPEvCSMN1ReYIzron
MTfoTDHsTNwyCzKFw6xS6iCRiqf4AvAnSNL0t8WlRpvLwIDAUd+WKrWf2QI3wwUByBiW5Ka25trH
WlLs6V5+9JnS+VqTaf6oW3GAgEG759Pn59yC4I9quhdHpFvDb6qJJXRTg4fDZjtIgWLCEaiEkxUi
gJTHerJ+IFN/LNzsBu7a3msHlfnt+pTZ/b5BpHNykumx8yhP1koPQe6jBOS5Tew0cEfzuZNy7y7z
JWcEBJowoN4RZR+NMcJgeHAvtkFS9wTJMNSq8ndp0g7o9WSHzHkHhOH1xZV4EXk95RFAEYdg5l4g
HrZ+jksFGiAPmhl8hgeV4VpUzW0dOB6M/yAVHc5UeWrv9a7qAqQLwwG2/tfqIPVkWuKdbI7L09AS
kgvNOL9NMYzi6jfSkF2hPSSpfBjzLlJcvtTa1Leza+Yf5XaaFUPskC6Qd8pZINt7zHRpnxqBkpsX
RooJnqxvjkxfVaVjAqLP32lfaQckzKQSZbL0gTmWwCKr+ITGCydKjvWH3pjomFbbOxa58xjb7cM0
9uqOY8I9N7kyOUFX2P1PzpUh1LH+wCbO6PPbHC/eQPZFv1d5UTu1kQMhtlb6aMyzd2ln9RElVx+a
efVGm64H+ODcLXO1qxn0+3MuIPrV3WNn15wu6QbhqfkOuB/umNLgD2hmQEMpt4OMg7nQvH2W908l
NqM7vVrjH1MxXYQisUfV+vwZ59pnC8DLL5Xxo1u9V7x9jpSBNut4EMzdS6Ze+gRVrD02do44GNKf
C3EAvmci95PbftXWYkVWu3YHtdefBNYVLOAC5KpKy/FsyUm9TTXjcSCpouzSF7vQQRoAINXGXPCu
FZGteO+mN5G2bFrQVzlLheLeu52x77J8fpx5ddVmusYkx17d9yJOtNfScu2wNRy2mmISUgV/2VnG
aJTFyUFlvbNGuSnzc9eXo8jwZvWaNCiW0sWCaliPadMfepGfxiwu9lTEWZB4ChZHzK24zDB4ij3H
dyfgBpjig/llKrwvGlfFvcX+Dhf9amvanFZemAopAZTdJmKiniKbsuFj68PNnMEyr6fyWTPHQ81c
zxtXLtbc8yK97X+MRB/KzKm+xrk+oGR+zZ2ijEa+D/ZtTRGYlpOdxwV4qq20HT62rh7QLq63My00
eFssRTgQvHS2Mguap2IsaAQS4w2tt3ikyShqH0UjgnK34GQaK6O+T5SxY5rXAqvQBQcCfslhaVC7
a5omdvUgBqx26zjIdLT33qAyHjEUbJGm7XoGVG1g3yqudTupjv4CT7++UxMxzqG5lNjZ+suaD491
rrhH1ErraR6NZ3NWxafSjkpywDgE4M5yJtpIA2J/65tmA0LFPatHY+99Vcp4r6UObnnm1D92Vn0/
1YpCZpTyUOHxflfM2c8OYvBumO3mxCj+p9uZ5dOcFSddIe+erMIrN1a+c7yah0lb4g8ok200WXF7
NGYFvVszpnublgs1nCiCqjD5st345iVJF9UqoSPJOBUvqJRwtBg799seGJkPJHf7VmqUH+gYlh/O
pJAdP7hvRoG7LTwa54XWMAuV2FYD3UnzJ0Ak1Z8n8hI9BxK/YcxNiPacTcQLgxg/GzSwLqBA7vHx
khZ7nyr/Jdric1EV5xFfrfEnfNVIJXz7lmbNCpeRK9vJ8Y8J3Kw18esRrekLtS3PHb5hNPWDSY1Q
JxdNLw94XaBusxwaoMHD8QH8DmjZTYcH+AYunjm2/Kms3qHpl/lp7BJzp3mZlwUes80b2Da/ZOF+
cTqXO+SVXkhs0/Cc5drZrg1vL7x2Ca1JyaJY2FwQmWfDOwULSS0dNxWlyXXC1Y0M1aIlb3Ktwzur
75abypy8w9RoM5NE+VUmlRYMc5kxZ8Mk7QcHZDdHBhIP17f7KS33Joa8O7MyCy6vTqnfJALpM8ib
tSupBbHfa40FtBFDXl8xF+NHlRraJxlq9idqAObpa594fgxbVyEpM1oHnrmOsR39JmM+sxpPzrAS
gTOoYW3od9BZGXfDemphoIHZhhWVR5BCrUuwlI41sMhzC6t3V1Rj8sNTKES1C4VWUAF3oq442vr0
i+Raey/pasOKiNxoANEgj77RMaKxPHw81D1v7WTlZu/DDxBh2TQ4HZjD+9hv1iCrwNcSfh7y5ib2
21hy/xUNnLoaSCLGG0e4Wnkwet300zYfT7U6RXFr3OZIi58z0273pbBxrUixPM17OuXC8X4sa7or
R9k+tulo7lXtcyhTCiYi0KO8ip8Jmqtw/tDDWDGNEPxPhJ3V+i5u4afWXurIkeVhrVl3FVNozF50
LWiUWgSZOYYuZn4cJwAYJtoYhgXwINYifZ+8/samwN+pLo8Y/P55bphzO6onQJyr82QjO8w1twpp
VRBM9AoDx8QR3Illc2wa89EjT37PrPWrrIfnRiwQuez1oa/oU/TeAiWYiBNrRY8sYkHwJ6z2orTz
COyk6C/QXrCPxaT1eUalHeA9zFW3KNiEa9CajYY4+JQMZSQtDWF61fpcSTHvICZ5mCfG2a8CHxRt
dtaHFZJkNJc2oT8mBLnZjZ8drbyReNfctiZSxkHW3xS/QEBpF2mkEeAFBb96Nse7meHlbiUP67k1
8ywszSHZ4fnqRaZJsaNL18JrG7kX5DLdX6ai2sHflbe2G3+qHUR4r5jtfToVM7R6BLpeZ2vBUjpU
PZpAli/y23peBpygCaLCnxIDk3aLSVOXWx0WkqK5WNHYsMmdcSRz23OmG9dwfjX0G7Ax3nR3/UiE
vXe0brihzcUGJi92U7liuF6M0aoo+zL9Vlw54E62Oe11uTjIor2XmQHhJeV4TKUbAL2pOyFob0e9
NfZwG/d6Y2kE1OVnxqZcoLl6UguMYZzU8I1s/Zid4YtglM8GeyjM6A0shi5OEz8349oDRNXJu6Iw
CBpAGIG61iAxnBt8Pl5d0YSt5zX7gsvRh94FyQ8AEbWYqt2YpnjI4TAECi5cAcEu0C8KxnC3Rdzg
3L0q93APRtcvqnnlSshRyercBBJpg0h3i+t2x5YV/L606W8D0olvxNPip4aOq89kwigC8a3eyiav
mijLtOqWK8tcUYniIQ1HtXVCeJz1w9Tr/WFUZsJlcrvY55mStIHQGYIFTdGLN9ywMziEo0WTI+Tz
NLgl2YbpeKSqLo7Y+dd706vNHYkCyXlSB3vX1sPTgvcizlXeHcL1/L7GS/3byrrhvKaZfYIyhRVr
uRSnAZLOzprM9smslyZ0W/2DHj6/FDWilThR79Y1GUEum+TGmFHj4UFkXTQSZSO5zvPeaJiv5iPd
0ggjc9eTcxG2DAtxuq9xpTXMMJlhPlUSYJTENxxqBsh9tYE6yhzcwBa5EelpGd/ZWCgcnHL5hLmG
Vkd3QD1LnhhF7aUeyvrQ5svRasfVb6fxVqswu2m6lMiuwkPvqGahdB0jzKt09BVh1ZRB7RpOBf98
500kCNJk2TPlHl3/ztSZLvazHhCbmu9wJoANSvWBaiMPyrIad5vyM+I0X3j1Vo2zVrbPUyQRi+I+
Drli7mmFQVywX33Dit/bRmlqceGq3rK/6BZul847113t+qLIGYzGjoUkD90y/hh+o+mSMIFOZX5X
ZgcEg1rQthgfMOdXz30h+1PXGN9yhV7ola2/9Rb6mt1qnO7RzATwPm95jUiNSZsuoAaX5RQok6KR
TZD1YYGN3Hky8/tMrzBZb6pLYjsvjet1e+prGcybVr6b512tqftkAu8oe4texkqXjZHDP+UOup9l
/e+1EQ8Ekl4WIjtxdYsJtTQiUAb6LN1AtA0a70+YhhFNCVxjdJg8zJzKlhof0qZsI4YxFkXLcprY
qcGwsXTUoeeMtLQWPuH4OTr5JzSHo2vKeyaf8zHrFj2khTxzRL+IeKwhvM0RrRYrmdiJoB+7yWc3
qLcrA8892khglJVLF6D+2ArtccmVo5sP0Tra5LFJKH80Omv9U5oKsMk0Te5OL7Unzs5HfUkWvtHY
R4U90Xm5U5C0tIO9omJhxYAHRIBQlWw6EQdAHWfWn3XfeA95ovAiXWuPri8N7dlYn13NvHdWD2qq
0HRGeOqu7yzHN9s2xyGsge9gM/+DQu/kT0R6/HY1edut+rlw7Q9D0wnC/Oi1ao9r0Xe7zRHQHy5R
rWFLhbFVKHMcPnLS9VY5foseA4JSKd5TiRWA3NI+O4FjsI4wtlxdsJIVP6mwrsECUm2lbMnj97zJ
79uUAxr9cGvjAIgc5I75h35SqOkFLrml7k8jTfkoidfoBm5yMRbQoVSBbrSbCVtIewdk3z4LiJlM
DQL0ybjRz0U57EBxkhNXluVjFEtWCAwtOdwQIt3uTTiUHio/cjmyUpJ5yqnW+02ntVZFaYy9rz9T
kfdPimlX3a7Cdg5nPqWY2sAgVRffcHoEchukPmS73PQ0yTCdZ2ShoWsTpqbqzeC45mdXzE7RQ+/3
OhAL/0qM+X+N1+9/N1t0Zfe/tn/4i+KCcy7t//efv+z++nXyu9m07H/8IrqmXz4Mv9vl8Xc3lPzV
vxgw25/8v/3N/8zQ/DdIPPQoEPD/3jw1aADiv/rsa+j/UTb011/7u2oIkTxouwb9y7DZHhtI/58O
S46BNshCJo+MxtSgYiF++TsSr/9N3cxNUTZjS4S6/x+QeBUHVdRvLll7DBmBcv4nSLx5FQb9I52J
8x6sX9XxBnIsVf1nhY2lLzZcuWw8NHWicdNmZcRR4AVW378udvHpQrTzRbP2OILPHvJ3MKd55kp0
tUIEau8+uaOL0XLZc7QP5c0IycR3FPsWm0Nc71REw04+eig7Nzh5qNedaVRqKBPwNNjl3k54aGVQ
RXtgVPoDx5kaqgiF/dx0i0iTzoxkhp95HVWTI8nPVKUa5kX3itPpEwM10H8G0IFt5Z+2ItQQzJyS
UWOy2oxOexRj+6q5KYM6azT8fLUIs4ydF2VSH3N6mrHlx9uWeC2b7LtJerxfGrpkROMPWgqFDKoR
ppoCxrLayldb22QOm/POpPD1aKL0YK5qFdNE59i27jGhwYvijkeDkTWkusrgbCm+ddSavm3zKBu3
JVdI8o+WI4+AKOFnvgKPQXWPVdZ1Ydzyp0aVzzAKU4nSmAIY63y6UHK2d02ZbMRWm98tzIfJHfpo
+5vE8G7sygEkWGfMnyw8AlEafWT12vqQNOWDt5RjBPWZd5Ks1tkyJR9/MmBuSD4QRExoWmvyXHSI
+2MHRqrX1N9LLZuDNFod2eTCUOUqoPDK5AtaE06JrfdEUdHjZlkKBg15DhcHlojZ0wNCw9KhTXvd
E77hBSNwOw6EAglDkKN9ANeiYt387ybLOWLu+XRdJNBZ3HAxZRfiwa/CqzcIb3SzoFW9p8mFooGe
Emd+1XoYMz5UkmMmbiitt9PyoYMvVs0nx4PMOIptFfX8WTLjb7MODppsoHA4Y5oHdozT6aqzsIay
AmKwrFvW8zdh4AZh7Hz0cso+sSXj3a/8Kt9Ew6NG7PrUu0hFx4a/U/GU8BuGXItw+qLKzgvarn29
vu8K8og/liwrRuQwB1KWjOOhlAU5xt7FdsuTqiXfbHJWtc2fdVNWp+uwVJptLySovp7LlF8Sxf4J
as/7J+CInKQiux14XMgJnzA96NHrs08cB+Imkt/1ArtKBDBsX2Ei4Pnk8IZdsph9l914fRi1YFOg
RmIiXFSfkHvR5KiOPJEwbVGysGjLooMFWnvaY0VPEugCcOrKWTB6wQCr0rfheqOGV4ouObR8hiTt
yMFCZpTY+G0YMs7AXtFiEQaFBflk3GRTXjO9QeRvYDNDiV4XF/gHamioHATumJZ4GyZlRNr1N3ZV
2cOYAoJt24uhHlReapiIdE28ChvQiIbkA1+teN3EARWnJFXr/awaRTRq2zYs3Ca4vlul4usrMQyq
Md6OEJZAjSVDYJBGhH8p7+8qtWlEi3slid7RUpVIIAzEwpPCcr4ugG2Fs8Uf4HHVe2PhGPNG9re5
QnC5vuZ+mAz2ActoLnQA/FyLP0RmKQcr5auuCj8LT1GMjT0gnNzKPjMmmvhdFN8oDQxMltk9JK9l
QWX0ZJbVKHPUFtYHJqPzrTVbe3fKP5UkIwrGQVwWF3oRlQ47AjmZcrgyx5vV0m4WJ/V2js0iq4Ei
bxRGDwzsNgZsXn3UHYeDttZ+Npt7Ly3hJkGcpwxACWd2hh3gu26EbQsjSupde0QiCCG9Jl1gzioV
tzQmgkqZcCgmAIHQ29UQL3dvHw/6Q4oBzH7VoHkwndUjiEEjihG+NmKvLJgGjV3kiOaAgyT/gbz4
19nEFJGSfNu0Ywb5G2LWE/92em+1LInWMh/0ZbOgw/cXxlOzXTsTi0nOYtfZGe+vKdUwlVAmgIPn
28EpvjEO5dEs7IDrs8ZKpggL7AvuERd4pFTZeIgCWITUpByBkEZ8p1Tie13D98BuyAd0Y/ktHf53
NeQRm57JQ8Z5YiplttPa9stVFSuCb5UEjXReqsZsokJJ75VpuMX3FNwR27fTkpGlgMMLESvYbi1q
pBcTqEo9KzgereX6Xlh0Tj7JnCbjP1frQLnXNv8ELJlDTeTI4DAqeYI+WkIqnoidWBIUadmk8goN
FVcEnBE0c4hyleiilE7m/j+4O7PmtpEsC/8VR72TgX15qI4YUdRakuW93C8IWqKx7zt//XxJUDZJ
ySpXwdGNGcR0R0xTTgCJm5l3OfccCHgNwYSDToh5VpRdA7I3rKQl6hwFajeal8kLI4fsOXPq1QxZ
swcICO+plKIe7apd+NXKVRp52SU2m3LBwmipBBfpmR2HlMNPYAFQF1lQsOYDrZmduhxFp4psOTd2
i57OWaQmbXkbKp5lXsLJW8YXFRQGsz97F5CTB59g9ActjSolzYJ+9gUoqNy/1RtDoSQG7RR9BDXu
g2ca7/dcsbvBg/mxIC/Ok6kSTYHSBudsAHcWAIQ90H1kz5SNBs0hoMi+B0HpffVDDhc1sd7XRapi
Vqw6zcfSX77vcSP29r4aCSCIiuiQlo6ADXavKb1dZfWF3G43O9ag6ocPCYBd+nvDry/f7QkxknhL
05ChsEHlFELOw7fcIPcE3CqpL6IeAxGegB06MyRU4FXb3ulXu/c3/n2RlunX6tCh3zrp3739/0NB
gK7b+OUvBAGrCL+wSPwDOM7wr3YxgCxrcxlkjS4ZiqLr4Ge+xQAyEtkaHY1kgmDYBNpH78heDABI
Bivi05L4Feynj/RaypwauaUBobHIK/7NGOC4LUCit0JW6LQwMFeISbfsW3tLBZbkNMsRlbrFH0Q6
unVAdaWQRsHtZrYNKr16fxV0TRIuJSmsPkNt0XwINdiLTko7yT/tzd4z61Y+1ETWxdNo9NmDqdCo
JCmG6KbZexrya1loe3VDAIGukhtugAzXZkrlvGs4Ck6aVqs/m00GKriILSHEFWw5zzelqcFlaiYP
dlVJrxnDoypMi9YHXH5LPu8N3VnL/Uzu/qJNZaujuxdCbZ+YRUi6CxpBCGSPFqEGSpxv21e3aqe7
yD6AQ/rQgNFWz4AYpuAPe1AKp77JCqU4RKW9DyX1PG4KFKaLBjVIQRCDtBAZOZCYftqcVLEHpt8s
9NBdumng3YW1fRWXNpKkgnbtI1wpWzL1bumXM+PGp/oQ/wXzwtPPYGpwSPEhcNuIXLXDz2D2M5de
76i8TSrH/pi6Irujsc2jFEogeNd20CRljhz9+fLnP9rQJFM24Ro2CUmxRf5LPNbe19clWupp40pu
twKhcujVKOMhSWA53seX78Tyyfa/mriTTbxrkntGuF3ol+zfKUug2gHtkt5aJHpWSCah+ufAukA2
EESRlNPSv1ClHn8yUPU2/iujEUZxeHsMRdEV6l4oh9EVdnh7E34uz01gwTXzUF/FQQ1NfySegW65
cmkUZKp6iU9/3kY5WiZ5mJprAT26bDlicHtIP+PLBpSyAzOJP6hFpkBPCmnEOptR/JJmm9iEqCzV
iguoZja7bM8Pm4mOWYX5UBbnjoLuio1Or6kJ5o69DyVRu0103ZndyKAHVn5RlXRpzsIKrni17xP3
CraLEAgeqIRuk3tnRqp1SM3Jjfm1gso0pbfcBYafBs3aB2fw0OiZZ169/Imh3DieZRVeWZoWYTCU
NVan6DDbe0oDnSip8Cr1JtByoRx1CkXB5rwD72afVZCjAqnKpTdN3Ov1ieeRKC/k5LxUiuw80jJl
EUZ5/DaL9LjDW2zdTy01isu+hGos0/PsA2JHFkBxavp1GgT+iY8yBSxjQZncttmsfJ3PNsiZubKN
S7hx4MVQGi++0I0qeqsE7p3bC/K/qDbpqXfy9xUt3hQJGxqVZL9X2Bu0erM5kVor+CPydOuzI9Xa
lUfHHFx0HbFIK3kazQURBIEzqwDG1vbW5lRuyaRugu4+K/PqXU3J24NBDR1kp8zrSwQ0lPe5J7fh
OfB+GZlTL3S+EIcUQoM8n/27Rm72NMtK5TJME/BQuR09UE0l/5mpcfjOt50O7Y1cc68Kp6gXPfNw
TheJ/Tpv426ptUV+JsudTK6B9JW7ANhg5YtG8RzgcCoiUpTXPIdkDqgIMCIcNUq7SKjonFiVGf0J
0b13rRR29k5XK/28toOZgssfb1aWkRbLUkK45owgj860rpNWCoK1X0s3y2hIUiqkl6Grb9yzrgpS
FkfbLnv6yq2zInU88vdqfJHwp1DwaQWsuE3cgE0rgwCBPqeFmDXVu80JqoPOQoUvNT4viBmov/TS
m1aVtVO/LGhICrCkii6llkpBp5rdHzBKbiLnTd3mVRyfoM7TJ8UDtIuKsvlctrPOjOkCILiCcZFW
8aBSi5O6qutMugWhhI99Zfv55ryx68q5jAvfR19BidJ3koCVBzQR1tRBbYoCtEOJoNWLLfpDHZpJ
aHcO23xphK0rLQpUN53XhERIk1yEvdl6p30XiUpxSVzmUm+ht4kKD2fhmQGAz3mNiIOK6EhuZdBV
y2pYAoCK/IJKOgx85K46IjMoZG0Z3HrvSFSEU0gwwJDZdetQzAR7AUoLr+BMT4SsnbXR2TETBU1S
VKILhDObkuDlroRAI0YNxbe+zuqGwPZUSpXq3Nes2roF8OU6V4lqVqaObkxX0opOVxW7m4ecjWfG
5NKaTX5GKJP4Z31kxD18iLR4L0hcIl1pdnofnRc+CvbkEDXl0yyLN/KpqhoIH/IfafY6CiRgf3WV
JJ8C8jYxfHl2RcrBq4y3JFEQoguEAt+113o0ypyYnuJV5yThsuQdh7F6FbgbJTyrM55gmVYkz5aW
3G2g4gj6rL2JrR7TnrFUilNHlmuo4cB+nrqO6tYihuZz+maJJkuyCVTU1kKo2k8tHgC2PZq580tZ
8rULOtRCuvJCcgKnfupTQ6qdUD+ZtUVm3wVOG2gL1QfCSBd2sJldQ2kOqCRzYI4g7geIAs/iJr30
fBkRlRBV7vZE/N2JwJ1AlZ67KgWt1ofGoer82b8hsUkpL/qsI4XucTi5Qew02gwKhQho1a2R2dQ4
EzuvbvQ64UhySzPkH9hIAKtnju/JCcqmUeJdIS0NKVLZ6hv/Wq7c6r0WKPpK7xwapyyydxCVJh28
IaWxQcUwrmWhvavmYblA83Tpy37+OWppYzmhLbR5V+pG+yUrPPUC+h8UQK1QpymPlnzGAbSBWCBF
DWTnuwzqBCT35PcyZShqMgjEWIuK0le3bJQ48C+KTkELNjHJ3bz2ZybCpPB9YpxBgAyfCUquvOt6
0pQLKYd/5gRANQ+WUlaTrznB7I8qpMeghtgli1NLtrv0sipR3RYlxTB8q1gEupedFrT1DdLtQnBH
qLHq4czo4NqIuXWa0gR50ilxtTmXQlO8vHh02mjFc1EdutV0yr5v6lxnqiADEAqNYcPSySI39N8k
dCQBUqnxClx+Y09VKjQ0c1nriwREhgfVkgfFdX0Tk2Oic0iqc9ipBMvYsgeaJzYNFtOCN2ID6WxZ
+MkwM310QP5fWY3vW6QdkTwEuoHybpuIvvuO4vFbterQRXRxc4PrNEvC4B3MMu15CRLgdqsEDYWw
AUkfbbrKVWrRonvtwG7dwEJj5jDrmr16TsdnGy7ILPb3YRTqd11dSuSRpb4JP7VGLHqnnVn8FSo/
sYeA/qQ6Cv5TyJj0XnmGDIL9iTaf+CxuM5eMjMY21xet99ZHdPGaxESgn+pKobhse7rGceQp9sci
mDXuMlISlslmBqnlpUaHWr6O2ZB7qhWY1LIVO/Yy0GfMaNdsmiWHTJtfy0UNw4Vjg0XgpFVpewJ5
GPwbIUL7/azHTb+ibFnID1WZ9DQfyLC5XvotGeRlF8vehm5cmBQvMz4LdeHQNs42adNUwHLN6F3Q
lPmJZZYXWkxT48WmhXV9EUoAt84zlLDTG/gwtD9mlUQ+ycuTuLl2+zYDJqyjpfQeT6R8kNBJpqkH
atBGQGHakq6yxso5Bfr8XeTmsv+nnKLIglIwHlj/gUwc8s9eXqIN7Zmz0L2aOVn7xXNhaYOmhqz7
pU/J6k1XzpzNeVHnpb/0NzVGCr9moN5Rrtzot7GRRRGlFXgLb4RqDOSceDflkvwpX621EvALxcaM
2Tvgz1jKnQqHTxPB/n2+sXKsn/4B6Hl7B5w81LMlqLhW7+nSg5FZcDz49kdsPS7vEjDxbLBKZgPM
jz2jPelqIDQ1CX+I+xvzg64gV0WhwK20G82JrOYt1BVI1PYuFr3MfJWvSeCA+rePlhVCB0XmqXcK
HLAAxLrU5r26bubehMWM3tGYBgKY8ZMYbEwUOTw/HEruWUnlF5RzJ0mXPSrBxWlPZsk/gY/LHBgE
/t9kUnYv8mw9lcLs92rrXeon1XuYMiq/6vcqsj/1Ry8P9HMFWkqqIi49SM5sH2r7MC+NAVTAr+qH
9e+/aeYcEge6mmRUa7bXb68iap27n+mfleaaQf5QIQuz+50b7k3Sj6bh5Td8Wrx+Os5Lb7Dezvrl
w++/4XvKRJejZkFV5zbxtqbIvK+4CJT2Z8GSEAoiRQVUeZgEY3vD//ws3Kd1Qt/O2zW60Ml+1V0R
le2fmYOjEb5bgmrPdUl0v6nkUJ6ZA9ueSxxCBtM0zMFww//8HKweYjrowYEV/n11MAdDE+DPzMLR
GN9nQTPmKggRjbrNMAskJvYtwSaXSepKYkH8l0zg6NEPFwIJgHGvTz5WNWTg/+bwkUlA7b++2A5I
TTFDxuQ+v0jF8Ljj3l+Z897kqVVIbsXFVz58f3Ou6zL0COQZt9fUrEAhaX6csf8Hh4Kk0h1rk4Pe
XkfboSzZc0PTZcVQp2cFBEXD0jw6qf/OoajN4dsgO6kfvbipzA1DARFk7U5L8rfY24T2QPSXdyvz
n7++io0LaJVq7DYBdpX9RWBac4PtEerR3e/M0rRmgS1KqPKN2wrUORRX5MZV1rq4jm1BnrNLGgp1
x+H3yR0IAxJv3CSIl9Rlym27STg6DlkQpgo+Dzz35GwA+ODojZDXh/5V5Tt/+8b7KwGfyJLpR1Me
p+e/5Rf+0ClA9PCJONLfPQ7wDElz2pqF2Nv2OloJljHHAiwYfXZGMr1DwVAE29uopaCy60EHRaVM
edY1IkagkEXpTvoeQ0xrV5QlbWygZOD+AqI1KRwOk8Cn3l8Qsq7MFSC7woWc2oagqhQcxxqBPreo
5tgAD57dEFgKouSGYqwy/M5+OTEjUA192KX+uYMg4/5BYU82lZEOP78uNkzomzE1cU3u9cmZCADI
uJ2Al1QFCQxexvY6CpLQw5AtHQY3tDK21+ROBQU53LFOssrRz65qgufZXYe2YGEk0OtImrJbChOc
BdkeuxQ0bW4BOBYAimEWjnxlS8dBwhmlAD/8PrlZQHRHHhz4f74hMAuCVMkUMLztdTQLAgJmCN4k
ooapbYgKrSaj31+Zs+OTOCMYeO79TXluAHMDtDZEJRMKGEnkCNjkuA2RgFEx8bf1nWt09PlZBIpg
CYKmatgQJ2cEoJCUsVsBbrIA2xAS7tzg49yRjBXADqIoxvQ2AVsffSqyE9qkBVR5dyAcGYGtkFq0
ZR0E6ESNQLYVa+xOoIr+NAIAQG3DTkAIuu8h2TKzJGMESFVtr8nFSqS3R4cJmo4bbJAihDJvex15
SIY9B1UpI7Uz1VoChSCBmR+1LSrWXEcTjRcdJkEgqfdtwWJFCLw8VjesiMH4pnQ4bLNeoyZBuIlY
ArvekQ0QKmFoQhRud2gMyZoJvb3CeTXWBlQKKoBMTPgbv33jfRuABGFOKEXWQEBgmekJvb8swriR
a4DPj4OBDrO9y4rwlvvvb8GsiQwahYbvuaVpzQINAQKEP2oRwB9qEw9aBjWq4TqcBWaashLnBnCd
qVkBCPjRFQUNzwfGPVsXWuriOvIN8I91OjxoA9mdF9PbCQXYe6QVkEGEGwzKV/gyt9fRWrAtoihq
7FThh1mani2Q+xrtIZE9QU8SatZhEkSOaH9HgKFXZ0OUpMcS9OTOBZqORpsCYApyJwaFg+FTH7kG
qK0irQL9gbxbMZOLmOgneCIp+3cLCxo8DyaGgI7Ms4ejrWIK+NIicb29Jhc30V9pjT0iSZ4AqrEp
3O5CgiNbIJFmquyd5E++zdK0jkhBiz1+b0S/hSyaQBTsbwemCeyIKivNrMNKmVzAZHKq/4K3ty3k
k0XmXFxHeyKOwRzXQKCvJuceQMQ02knm4DNM8gIg+bbXUeZEpA7IHsH3soukJrcbKhqQg5FGoIG0
JD0C6ub5JCLhIr9QYaT8tr2mZwvg4oZP889TySKLpiPg/a24cuQqyrJBKpnqirkrwQ1H8YTCJlWH
z2isLQDLReSYavMPcHjbgEGkbndLZnKzIMM4MXISiJ1xN0mV4Wtsr6MMAmhc4FiEDNSZtgtiepPA
B8J+x8WO0pw2eQiyHjFnHDb7ByTuASAPA6v77kpOyz2gBjjaVSR2QlbOxF0+fHvTYFMEkfENlTy9
TZEi6NiYiaMBPiQButtdWPq+DeAkoaxJd//e0TExG1BpC/oFK4FEGZ7y826CiSNNOVqRHvOtk3MV
ySiOzyUBUYYaQBOZ0+2FcR3Ygk6uRZJIWu12zekFTbRsjD4bZAJkOEBoyRhm4WhFgMyjG1OkWr6X
JKe1Ip5hVvm78TNAXUWnzgK24NlJoFsFoA7KuzRGDCfodgX+lK/0E3/0rdFpAS3iw7YPyl+Xz3VC
/egPHnuEnv6+6/0RDT6iteXgDwVv5XDvoflB/P//OkBAbrPoez8+ZtW399n9890LPr31wb0e3+rx
f7zw18WquPegVhVtX7vHFJSev//2P9Hqyype7bekYJwsz+9P8vtvB8+5tyH+xcBleDSuqNGNHrfw
USk5HHjrto0fOIRWbVU+PqL4jDTKs0bHjrx4iW9o+0meZTX95oG9NM1wRaTF6iF9fErx1ENwP/qp
X6RKHfnYp+to1a6K9f5jDynKsY/92GT1Kv36ismp4y+HNE9D3mfsXc6Ydf/h0AqH6uvYkeHZKtzD
R97VtMaOfMGM+/7+jMMEI3CVYwe+fFh5Bwa4g2eNHjeK/CT1D1fkEJ2MHjp58FdHu8iAOh89ctoe
msWQcx477PXTvWmo7owemAHq+7B/NIPttjfgq8YO/Uda++WTaR4AK2PHvln5ycHusYOAjB+36KNV
8rA/HbtYcPzQZbm69+pyXVUHNr1D840e37/3fHd12GKLO/ULVviL+pUjj4IbGJLF/2XZwd60g/uO
n5QSBr7ieOit8ObYB0+T6mgP2TUyjn3o2/WXYnXkPZFSEq1B44duVofnlmBtI7IZP3D76mIVZ6Xn
Hx7ru762XzH+1boo1wc7FcGpCNF/xeA3686/PzjGdliaXzH457QIHx9zGx8MQfXoodOi8l4tVkXK
SXlw7Ox6Bn7NDU5X4bF27UDjMHb4155/OONDSWL0sGGER3IY1VDtEDCA0UMXa/eYxWCLtRk78N06
SUoI3VdHtKTKkIobO/xbL31Yv7osn5xtA1Jm7PDv0voHhrijuvg1N3hqiGJ4stVjh3/P7K/Lcn3g
Uuyar8aP3R1GleqQSxo77odq5T2+udhTdnjwscN+XBcxJ9vByEN/+uiRfSKbI/Pe9X6PHfrTinMn
cavDpbmrao0efF1Wr1AOfvrwQ4vm6PH98j5NSv/Ac9uhNEaP3acwj7gHX3PgnHh55OcyTd+Ank/z
T4/UOM/9s8PkmviL+2i9Kv71vwAAAP//</cx:binary>
              </cx:geoCache>
            </cx:geography>
          </cx:layoutPr>
        </cx:series>
      </cx:plotAreaRegion>
    </cx:plotArea>
    <cx:legend pos="r" align="min" overlay="0"/>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4C0AE-953D-D6E4-C222-FB86416995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0B6359-17D7-4B30-CF04-71E92D674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3F2C0B-849A-5F76-0382-6E57C73CA135}"/>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5" name="Footer Placeholder 4">
            <a:extLst>
              <a:ext uri="{FF2B5EF4-FFF2-40B4-BE49-F238E27FC236}">
                <a16:creationId xmlns:a16="http://schemas.microsoft.com/office/drawing/2014/main" id="{5270E2E9-A987-5A8A-1CEE-99C5F4861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EC1EB-E272-3753-8ED9-0C0BD0E7DCA9}"/>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26191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E08A-A3B6-8500-9090-7954D44B04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7AFB51-6F54-E7CF-C924-B62CE4CC10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16735B-B548-0738-0AF7-12B05CA226FC}"/>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5" name="Footer Placeholder 4">
            <a:extLst>
              <a:ext uri="{FF2B5EF4-FFF2-40B4-BE49-F238E27FC236}">
                <a16:creationId xmlns:a16="http://schemas.microsoft.com/office/drawing/2014/main" id="{9D3BE44D-0D68-8370-3D7D-795E2F18D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231FD-B67C-A434-DB73-E9B44A01FF0A}"/>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1871325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DBD06-B927-C83F-1CFF-33222A1958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5986BE-43A7-CF01-F227-9E476FFC20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2CBBDA-12D1-5229-7C3B-1EB3DE6D446C}"/>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5" name="Footer Placeholder 4">
            <a:extLst>
              <a:ext uri="{FF2B5EF4-FFF2-40B4-BE49-F238E27FC236}">
                <a16:creationId xmlns:a16="http://schemas.microsoft.com/office/drawing/2014/main" id="{429889D0-68A9-C611-B5FD-6DB0C0452B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28EF0-703C-F263-630A-B7D031C477A6}"/>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997933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E0B35-C977-F8AA-E362-CFCE22B5BA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C8D164-0797-8B24-D9ED-C5173D2954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3D615C-C607-27C9-AD0B-6EBD06E367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05F151-6B0C-22F7-017D-4C751924B229}"/>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6" name="Footer Placeholder 5">
            <a:extLst>
              <a:ext uri="{FF2B5EF4-FFF2-40B4-BE49-F238E27FC236}">
                <a16:creationId xmlns:a16="http://schemas.microsoft.com/office/drawing/2014/main" id="{9A9B482D-8127-FED7-ABA2-CC566D9731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C1AAC8-E237-48EF-1FFD-492DF3E9A566}"/>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3380588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10A6-0495-7383-E972-35A8A541D7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091D6F-2E6D-EB25-85BF-438B3B68E6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0B29D-5FA2-FD4A-0F69-BA5CF2C12D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625169-3153-379B-C7EE-6B30069A1E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B073BC-DA1C-3E3B-18D4-6B24693FCA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F88CED-D7A8-866E-EAF3-1A571DEE839B}"/>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8" name="Footer Placeholder 7">
            <a:extLst>
              <a:ext uri="{FF2B5EF4-FFF2-40B4-BE49-F238E27FC236}">
                <a16:creationId xmlns:a16="http://schemas.microsoft.com/office/drawing/2014/main" id="{1B1A4CA7-9725-A663-9BB1-D3706AAEAB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44BBF2-0411-225A-C43F-DD6366974082}"/>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1281357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32A9E-4B84-B374-53CF-EA3DA38314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93C54F-B19B-5108-C916-A2AD711E1D4C}"/>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4" name="Footer Placeholder 3">
            <a:extLst>
              <a:ext uri="{FF2B5EF4-FFF2-40B4-BE49-F238E27FC236}">
                <a16:creationId xmlns:a16="http://schemas.microsoft.com/office/drawing/2014/main" id="{3C11782D-F792-2320-E3E2-0579D94C5A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C3E7-D76B-84C2-020C-BB4C426F912E}"/>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4080211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970C7-4965-249F-4E80-0AC73CBBD0D4}"/>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3" name="Footer Placeholder 2">
            <a:extLst>
              <a:ext uri="{FF2B5EF4-FFF2-40B4-BE49-F238E27FC236}">
                <a16:creationId xmlns:a16="http://schemas.microsoft.com/office/drawing/2014/main" id="{78AB3596-E68A-77BA-85E8-6C5E4292F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1C1278-866B-3B19-9967-1C8114DAD2D9}"/>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984701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8700C-6CC3-D45D-47FA-ECD1C3CB79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82BD23-11FB-0AFE-783D-A81F594D5C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70C4F9-D45F-C351-6468-3008EC470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423F1E-9AC7-80BF-07C3-75261128B743}"/>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6" name="Footer Placeholder 5">
            <a:extLst>
              <a:ext uri="{FF2B5EF4-FFF2-40B4-BE49-F238E27FC236}">
                <a16:creationId xmlns:a16="http://schemas.microsoft.com/office/drawing/2014/main" id="{EE22CC4C-B2CB-BD91-6D53-DBEBE0299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4BFA8-6478-B3E5-DBA3-037889CD753B}"/>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2851634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59511-F504-B186-F2A9-C85E54FF2D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166450-7EC4-C8E5-0905-BCEB5BCCB9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AF6010-AC56-C1BD-1780-0E3AC9DA4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53CD56-4CA9-68AB-46D9-FBA62ECBD2A2}"/>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6" name="Footer Placeholder 5">
            <a:extLst>
              <a:ext uri="{FF2B5EF4-FFF2-40B4-BE49-F238E27FC236}">
                <a16:creationId xmlns:a16="http://schemas.microsoft.com/office/drawing/2014/main" id="{2D378632-30EA-7AC9-AE74-3ECAF72C2F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638548-A438-5BC9-7E30-B446FD00A16A}"/>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2180188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E3B3-1BBB-9F31-F0D4-7B4F01BF67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7838A7-B548-07C2-8147-FF8B4485C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18BCEF-94D4-6876-A64B-C495FF84968A}"/>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5" name="Footer Placeholder 4">
            <a:extLst>
              <a:ext uri="{FF2B5EF4-FFF2-40B4-BE49-F238E27FC236}">
                <a16:creationId xmlns:a16="http://schemas.microsoft.com/office/drawing/2014/main" id="{AE6E5482-6076-CE7F-C18F-F7873A5B70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029C9-1031-146C-9F97-33D0F262AB56}"/>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239828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727D28-D70B-9701-7716-00A1CAF139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B7FDCA-EB9F-CD61-3206-60418D9873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B522B-CC16-4AEC-3AE0-1EDB11F0E301}"/>
              </a:ext>
            </a:extLst>
          </p:cNvPr>
          <p:cNvSpPr>
            <a:spLocks noGrp="1"/>
          </p:cNvSpPr>
          <p:nvPr>
            <p:ph type="dt" sz="half" idx="10"/>
          </p:nvPr>
        </p:nvSpPr>
        <p:spPr/>
        <p:txBody>
          <a:bodyPr/>
          <a:lstStyle/>
          <a:p>
            <a:fld id="{F0505D47-88B5-4EFA-B742-CCA40EAAD703}" type="datetimeFigureOut">
              <a:rPr lang="en-US" smtClean="0"/>
              <a:t>10/23/2026</a:t>
            </a:fld>
            <a:endParaRPr lang="en-US"/>
          </a:p>
        </p:txBody>
      </p:sp>
      <p:sp>
        <p:nvSpPr>
          <p:cNvPr id="5" name="Footer Placeholder 4">
            <a:extLst>
              <a:ext uri="{FF2B5EF4-FFF2-40B4-BE49-F238E27FC236}">
                <a16:creationId xmlns:a16="http://schemas.microsoft.com/office/drawing/2014/main" id="{9D1B5D9C-3240-D6FF-CF7F-775F8799D3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39408-1DE7-700C-6111-A58AC47576BD}"/>
              </a:ext>
            </a:extLst>
          </p:cNvPr>
          <p:cNvSpPr>
            <a:spLocks noGrp="1"/>
          </p:cNvSpPr>
          <p:nvPr>
            <p:ph type="sldNum" sz="quarter" idx="12"/>
          </p:nvPr>
        </p:nvSpPr>
        <p:spPr/>
        <p:txBody>
          <a:bodyPr/>
          <a:lstStyle/>
          <a:p>
            <a:fld id="{6B8B988E-ADDD-4359-83A3-46B378BF88B7}" type="slidenum">
              <a:rPr lang="en-US" smtClean="0"/>
              <a:t>‹#›</a:t>
            </a:fld>
            <a:endParaRPr lang="en-US"/>
          </a:p>
        </p:txBody>
      </p:sp>
    </p:spTree>
    <p:extLst>
      <p:ext uri="{BB962C8B-B14F-4D97-AF65-F5344CB8AC3E}">
        <p14:creationId xmlns:p14="http://schemas.microsoft.com/office/powerpoint/2010/main" val="354247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652010-B92A-BAE4-0AD1-6B0D9E6F2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EFBC44-80AE-EB14-832E-EE34537324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68FC9A-1E6A-AC15-9035-650D2CA63C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505D47-88B5-4EFA-B742-CCA40EAAD703}" type="datetimeFigureOut">
              <a:rPr lang="en-US" smtClean="0"/>
              <a:t>10/23/2026</a:t>
            </a:fld>
            <a:endParaRPr lang="en-US"/>
          </a:p>
        </p:txBody>
      </p:sp>
      <p:sp>
        <p:nvSpPr>
          <p:cNvPr id="5" name="Footer Placeholder 4">
            <a:extLst>
              <a:ext uri="{FF2B5EF4-FFF2-40B4-BE49-F238E27FC236}">
                <a16:creationId xmlns:a16="http://schemas.microsoft.com/office/drawing/2014/main" id="{F82E2B27-B248-D8BC-5714-5CA38622ED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559C4F-1E31-3F37-B7C0-CEFF4616E5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8B988E-ADDD-4359-83A3-46B378BF88B7}" type="slidenum">
              <a:rPr lang="en-US" smtClean="0"/>
              <a:t>‹#›</a:t>
            </a:fld>
            <a:endParaRPr lang="en-US"/>
          </a:p>
        </p:txBody>
      </p:sp>
    </p:spTree>
    <p:extLst>
      <p:ext uri="{BB962C8B-B14F-4D97-AF65-F5344CB8AC3E}">
        <p14:creationId xmlns:p14="http://schemas.microsoft.com/office/powerpoint/2010/main" val="3714248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4/relationships/chartEx" Target="../charts/chartEx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4F553-DD88-2E9D-E42A-A12013576E53}"/>
              </a:ext>
            </a:extLst>
          </p:cNvPr>
          <p:cNvSpPr>
            <a:spLocks noGrp="1"/>
          </p:cNvSpPr>
          <p:nvPr>
            <p:ph type="ctrTitle"/>
          </p:nvPr>
        </p:nvSpPr>
        <p:spPr/>
        <p:txBody>
          <a:bodyPr/>
          <a:lstStyle/>
          <a:p>
            <a:r>
              <a:rPr lang="en-US" b="1" dirty="0"/>
              <a:t>The Consumer Financial Protection Bureau (CFPB)</a:t>
            </a:r>
          </a:p>
        </p:txBody>
      </p:sp>
      <p:sp>
        <p:nvSpPr>
          <p:cNvPr id="3" name="Subtitle 2">
            <a:extLst>
              <a:ext uri="{FF2B5EF4-FFF2-40B4-BE49-F238E27FC236}">
                <a16:creationId xmlns:a16="http://schemas.microsoft.com/office/drawing/2014/main" id="{D67AC211-04A6-C4D0-5C08-B229328B532D}"/>
              </a:ext>
            </a:extLst>
          </p:cNvPr>
          <p:cNvSpPr>
            <a:spLocks noGrp="1"/>
          </p:cNvSpPr>
          <p:nvPr>
            <p:ph type="subTitle" idx="1"/>
          </p:nvPr>
        </p:nvSpPr>
        <p:spPr/>
        <p:txBody>
          <a:bodyPr/>
          <a:lstStyle/>
          <a:p>
            <a:r>
              <a:rPr lang="en-US" dirty="0"/>
              <a:t>Consumer Complaint Analytics</a:t>
            </a:r>
          </a:p>
        </p:txBody>
      </p:sp>
    </p:spTree>
    <p:extLst>
      <p:ext uri="{BB962C8B-B14F-4D97-AF65-F5344CB8AC3E}">
        <p14:creationId xmlns:p14="http://schemas.microsoft.com/office/powerpoint/2010/main" val="321270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05A5D-98B0-5ED1-024C-EBA432E01A47}"/>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E8D8C802-0989-CED2-5E5E-103135B24D05}"/>
              </a:ext>
            </a:extLst>
          </p:cNvPr>
          <p:cNvSpPr>
            <a:spLocks noGrp="1"/>
          </p:cNvSpPr>
          <p:nvPr>
            <p:ph idx="1"/>
          </p:nvPr>
        </p:nvSpPr>
        <p:spPr/>
        <p:txBody>
          <a:bodyPr/>
          <a:lstStyle/>
          <a:p>
            <a:pPr marL="514350" indent="-514350">
              <a:buFont typeface="+mj-lt"/>
              <a:buAutoNum type="arabicPeriod"/>
            </a:pPr>
            <a:r>
              <a:rPr lang="en-US" dirty="0"/>
              <a:t>Bank of America’s CFPB complaint data from 2017–2023 contains valuable information about customer dissatisfaction across financial products, issues, and response types.</a:t>
            </a:r>
          </a:p>
          <a:p>
            <a:pPr marL="514350" indent="-514350">
              <a:buFont typeface="+mj-lt"/>
              <a:buAutoNum type="arabicPeriod"/>
            </a:pPr>
            <a:r>
              <a:rPr lang="en-US" dirty="0"/>
              <a:t>Without systematic analysis, trends in complaint volume, major sources of dissatisfaction, and potential gaps in response timeliness remain difficult to identify.</a:t>
            </a:r>
          </a:p>
          <a:p>
            <a:pPr marL="514350" indent="-514350">
              <a:buFont typeface="+mj-lt"/>
              <a:buAutoNum type="arabicPeriod"/>
            </a:pPr>
            <a:endParaRPr lang="en-US" dirty="0"/>
          </a:p>
        </p:txBody>
      </p:sp>
    </p:spTree>
    <p:extLst>
      <p:ext uri="{BB962C8B-B14F-4D97-AF65-F5344CB8AC3E}">
        <p14:creationId xmlns:p14="http://schemas.microsoft.com/office/powerpoint/2010/main" val="1232623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76CF7-9830-75D7-5EBD-5D333D2FB1EB}"/>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0CB0B2DD-A56E-F36A-9121-591862DAB4ED}"/>
              </a:ext>
            </a:extLst>
          </p:cNvPr>
          <p:cNvSpPr>
            <a:spLocks noGrp="1"/>
          </p:cNvSpPr>
          <p:nvPr>
            <p:ph idx="1"/>
          </p:nvPr>
        </p:nvSpPr>
        <p:spPr/>
        <p:txBody>
          <a:bodyPr/>
          <a:lstStyle/>
          <a:p>
            <a:pPr marL="0" indent="0">
              <a:buNone/>
            </a:pPr>
            <a:r>
              <a:rPr lang="en-US" dirty="0"/>
              <a:t>This project analyzes complaint patterns to generate actionable insights that support better customer experience, regulatory compliance, and operational decision-making.</a:t>
            </a:r>
          </a:p>
          <a:p>
            <a:endParaRPr lang="en-US" dirty="0"/>
          </a:p>
        </p:txBody>
      </p:sp>
    </p:spTree>
    <p:extLst>
      <p:ext uri="{BB962C8B-B14F-4D97-AF65-F5344CB8AC3E}">
        <p14:creationId xmlns:p14="http://schemas.microsoft.com/office/powerpoint/2010/main" val="369728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56A59-7D1E-DDCF-33AB-92F66D24EC27}"/>
              </a:ext>
            </a:extLst>
          </p:cNvPr>
          <p:cNvSpPr>
            <a:spLocks noGrp="1"/>
          </p:cNvSpPr>
          <p:nvPr>
            <p:ph type="title"/>
          </p:nvPr>
        </p:nvSpPr>
        <p:spPr/>
        <p:txBody>
          <a:bodyPr/>
          <a:lstStyle/>
          <a:p>
            <a:r>
              <a:rPr lang="en-US" dirty="0"/>
              <a:t>Result</a:t>
            </a:r>
            <a:br>
              <a:rPr lang="en-US" dirty="0"/>
            </a:br>
            <a:r>
              <a:rPr lang="en-US" sz="3200" dirty="0"/>
              <a:t>a. patterns in complaint</a:t>
            </a:r>
            <a:endParaRPr lang="en-US" dirty="0"/>
          </a:p>
        </p:txBody>
      </p:sp>
      <p:sp>
        <p:nvSpPr>
          <p:cNvPr id="3" name="Content Placeholder 2">
            <a:extLst>
              <a:ext uri="{FF2B5EF4-FFF2-40B4-BE49-F238E27FC236}">
                <a16:creationId xmlns:a16="http://schemas.microsoft.com/office/drawing/2014/main" id="{AC70E7F9-72AE-AAC2-3EA6-6C5A35F8C3F9}"/>
              </a:ext>
            </a:extLst>
          </p:cNvPr>
          <p:cNvSpPr>
            <a:spLocks noGrp="1"/>
          </p:cNvSpPr>
          <p:nvPr>
            <p:ph idx="1"/>
          </p:nvPr>
        </p:nvSpPr>
        <p:spPr>
          <a:xfrm>
            <a:off x="8296275" y="1825625"/>
            <a:ext cx="3057524" cy="4351338"/>
          </a:xfrm>
        </p:spPr>
        <p:txBody>
          <a:bodyPr>
            <a:normAutofit fontScale="92500"/>
          </a:bodyPr>
          <a:lstStyle/>
          <a:p>
            <a:pPr marL="0" indent="0">
              <a:buNone/>
            </a:pPr>
            <a:r>
              <a:rPr lang="en-US" dirty="0"/>
              <a:t>Complaint frequency remained relatively stable between 1,000 and 1,200 from January to June 2023, experienced sharp peak at 1,749 in July, and then dropped significantly to its lowest point at 717 in August</a:t>
            </a:r>
          </a:p>
        </p:txBody>
      </p:sp>
      <p:graphicFrame>
        <p:nvGraphicFramePr>
          <p:cNvPr id="6" name="Chart 5">
            <a:extLst>
              <a:ext uri="{FF2B5EF4-FFF2-40B4-BE49-F238E27FC236}">
                <a16:creationId xmlns:a16="http://schemas.microsoft.com/office/drawing/2014/main" id="{0DC7C6C2-7AB8-4463-8A14-D88D69708E91}"/>
              </a:ext>
            </a:extLst>
          </p:cNvPr>
          <p:cNvGraphicFramePr>
            <a:graphicFrameLocks/>
          </p:cNvGraphicFramePr>
          <p:nvPr>
            <p:extLst>
              <p:ext uri="{D42A27DB-BD31-4B8C-83A1-F6EECF244321}">
                <p14:modId xmlns:p14="http://schemas.microsoft.com/office/powerpoint/2010/main" val="1660392592"/>
              </p:ext>
            </p:extLst>
          </p:nvPr>
        </p:nvGraphicFramePr>
        <p:xfrm>
          <a:off x="838200" y="1825625"/>
          <a:ext cx="7458075"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10473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E438-B042-7F61-A881-9D372612C1A0}"/>
              </a:ext>
            </a:extLst>
          </p:cNvPr>
          <p:cNvSpPr>
            <a:spLocks noGrp="1"/>
          </p:cNvSpPr>
          <p:nvPr>
            <p:ph type="title"/>
          </p:nvPr>
        </p:nvSpPr>
        <p:spPr/>
        <p:txBody>
          <a:bodyPr/>
          <a:lstStyle/>
          <a:p>
            <a:r>
              <a:rPr lang="en-US" dirty="0"/>
              <a:t>Products drive the most complaints</a:t>
            </a:r>
          </a:p>
        </p:txBody>
      </p:sp>
      <p:sp>
        <p:nvSpPr>
          <p:cNvPr id="3" name="Content Placeholder 2">
            <a:extLst>
              <a:ext uri="{FF2B5EF4-FFF2-40B4-BE49-F238E27FC236}">
                <a16:creationId xmlns:a16="http://schemas.microsoft.com/office/drawing/2014/main" id="{C6068B58-F9A3-CD00-0FB3-843F7D14E208}"/>
              </a:ext>
            </a:extLst>
          </p:cNvPr>
          <p:cNvSpPr>
            <a:spLocks noGrp="1"/>
          </p:cNvSpPr>
          <p:nvPr>
            <p:ph idx="1"/>
          </p:nvPr>
        </p:nvSpPr>
        <p:spPr>
          <a:xfrm>
            <a:off x="838200" y="1825625"/>
            <a:ext cx="3168073" cy="4351338"/>
          </a:xfrm>
        </p:spPr>
        <p:txBody>
          <a:bodyPr/>
          <a:lstStyle/>
          <a:p>
            <a:pPr marL="0" indent="0">
              <a:buNone/>
            </a:pPr>
            <a:r>
              <a:rPr lang="en-US" dirty="0"/>
              <a:t>Bank accounts generated the highest volume of inquiries/complaints at over 4.000, while Loans accounted for the fewest in 2023</a:t>
            </a:r>
          </a:p>
        </p:txBody>
      </p:sp>
      <p:graphicFrame>
        <p:nvGraphicFramePr>
          <p:cNvPr id="5" name="Chart 4">
            <a:extLst>
              <a:ext uri="{FF2B5EF4-FFF2-40B4-BE49-F238E27FC236}">
                <a16:creationId xmlns:a16="http://schemas.microsoft.com/office/drawing/2014/main" id="{81236EF2-6FD5-41D5-BF21-AEEF94DE6B14}"/>
              </a:ext>
            </a:extLst>
          </p:cNvPr>
          <p:cNvGraphicFramePr>
            <a:graphicFrameLocks/>
          </p:cNvGraphicFramePr>
          <p:nvPr>
            <p:extLst>
              <p:ext uri="{D42A27DB-BD31-4B8C-83A1-F6EECF244321}">
                <p14:modId xmlns:p14="http://schemas.microsoft.com/office/powerpoint/2010/main" val="3275750392"/>
              </p:ext>
            </p:extLst>
          </p:nvPr>
        </p:nvGraphicFramePr>
        <p:xfrm>
          <a:off x="4006273" y="1825625"/>
          <a:ext cx="7347527" cy="376150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5172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ED651-734E-F497-C2C7-97E3B8FCE0AB}"/>
              </a:ext>
            </a:extLst>
          </p:cNvPr>
          <p:cNvSpPr>
            <a:spLocks noGrp="1"/>
          </p:cNvSpPr>
          <p:nvPr>
            <p:ph type="title"/>
          </p:nvPr>
        </p:nvSpPr>
        <p:spPr/>
        <p:txBody>
          <a:bodyPr/>
          <a:lstStyle/>
          <a:p>
            <a:r>
              <a:rPr lang="en-US" dirty="0"/>
              <a:t>Issues the most complaints</a:t>
            </a:r>
          </a:p>
        </p:txBody>
      </p:sp>
      <p:sp>
        <p:nvSpPr>
          <p:cNvPr id="3" name="Content Placeholder 2">
            <a:extLst>
              <a:ext uri="{FF2B5EF4-FFF2-40B4-BE49-F238E27FC236}">
                <a16:creationId xmlns:a16="http://schemas.microsoft.com/office/drawing/2014/main" id="{55FD1125-E9DA-36D7-55B8-94DFBBE2D50B}"/>
              </a:ext>
            </a:extLst>
          </p:cNvPr>
          <p:cNvSpPr>
            <a:spLocks noGrp="1"/>
          </p:cNvSpPr>
          <p:nvPr>
            <p:ph idx="1"/>
          </p:nvPr>
        </p:nvSpPr>
        <p:spPr>
          <a:xfrm>
            <a:off x="838200" y="1825625"/>
            <a:ext cx="4380345" cy="4351338"/>
          </a:xfrm>
        </p:spPr>
        <p:txBody>
          <a:bodyPr/>
          <a:lstStyle/>
          <a:p>
            <a:pPr marL="0" indent="0">
              <a:buNone/>
            </a:pPr>
            <a:r>
              <a:rPr lang="en-US" dirty="0"/>
              <a:t>Customer Service  &amp; Account Management was by far the leading issue category with over 3.500 cases, while Bank Accounts &amp; Overdrafts saw the fewest reported issues</a:t>
            </a:r>
          </a:p>
        </p:txBody>
      </p:sp>
      <p:graphicFrame>
        <p:nvGraphicFramePr>
          <p:cNvPr id="4" name="Chart 3">
            <a:extLst>
              <a:ext uri="{FF2B5EF4-FFF2-40B4-BE49-F238E27FC236}">
                <a16:creationId xmlns:a16="http://schemas.microsoft.com/office/drawing/2014/main" id="{8E648C85-B3DA-417B-96E7-68F1A9554341}"/>
              </a:ext>
            </a:extLst>
          </p:cNvPr>
          <p:cNvGraphicFramePr>
            <a:graphicFrameLocks/>
          </p:cNvGraphicFramePr>
          <p:nvPr>
            <p:extLst>
              <p:ext uri="{D42A27DB-BD31-4B8C-83A1-F6EECF244321}">
                <p14:modId xmlns:p14="http://schemas.microsoft.com/office/powerpoint/2010/main" val="3123874841"/>
              </p:ext>
            </p:extLst>
          </p:nvPr>
        </p:nvGraphicFramePr>
        <p:xfrm>
          <a:off x="5218545" y="1825625"/>
          <a:ext cx="6135255"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7317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679F9-990B-45DB-BF0C-57561B7BDE0A}"/>
              </a:ext>
            </a:extLst>
          </p:cNvPr>
          <p:cNvSpPr>
            <a:spLocks noGrp="1"/>
          </p:cNvSpPr>
          <p:nvPr>
            <p:ph type="title"/>
          </p:nvPr>
        </p:nvSpPr>
        <p:spPr/>
        <p:txBody>
          <a:bodyPr/>
          <a:lstStyle/>
          <a:p>
            <a:r>
              <a:rPr lang="en-US" dirty="0"/>
              <a:t>Complaints are resolved</a:t>
            </a:r>
          </a:p>
        </p:txBody>
      </p:sp>
      <p:sp>
        <p:nvSpPr>
          <p:cNvPr id="3" name="Content Placeholder 2">
            <a:extLst>
              <a:ext uri="{FF2B5EF4-FFF2-40B4-BE49-F238E27FC236}">
                <a16:creationId xmlns:a16="http://schemas.microsoft.com/office/drawing/2014/main" id="{F0CDBBAA-D06D-F7BF-3E65-80055B01ECCA}"/>
              </a:ext>
            </a:extLst>
          </p:cNvPr>
          <p:cNvSpPr>
            <a:spLocks noGrp="1"/>
          </p:cNvSpPr>
          <p:nvPr>
            <p:ph idx="1"/>
          </p:nvPr>
        </p:nvSpPr>
        <p:spPr>
          <a:xfrm>
            <a:off x="838200" y="1825625"/>
            <a:ext cx="5377873" cy="4351338"/>
          </a:xfrm>
        </p:spPr>
        <p:txBody>
          <a:bodyPr/>
          <a:lstStyle/>
          <a:p>
            <a:pPr marL="0" indent="0">
              <a:buNone/>
            </a:pPr>
            <a:r>
              <a:rPr lang="en-US" dirty="0"/>
              <a:t>A vast majority responses were timey at 78%, while 16% remain pending and only 6% were masked as not timely</a:t>
            </a:r>
          </a:p>
        </p:txBody>
      </p:sp>
      <p:graphicFrame>
        <p:nvGraphicFramePr>
          <p:cNvPr id="6" name="Chart 5">
            <a:extLst>
              <a:ext uri="{FF2B5EF4-FFF2-40B4-BE49-F238E27FC236}">
                <a16:creationId xmlns:a16="http://schemas.microsoft.com/office/drawing/2014/main" id="{E37088DD-E48D-42BD-AE79-F46E5C466AA8}"/>
              </a:ext>
            </a:extLst>
          </p:cNvPr>
          <p:cNvGraphicFramePr>
            <a:graphicFrameLocks/>
          </p:cNvGraphicFramePr>
          <p:nvPr>
            <p:extLst>
              <p:ext uri="{D42A27DB-BD31-4B8C-83A1-F6EECF244321}">
                <p14:modId xmlns:p14="http://schemas.microsoft.com/office/powerpoint/2010/main" val="3711465897"/>
              </p:ext>
            </p:extLst>
          </p:nvPr>
        </p:nvGraphicFramePr>
        <p:xfrm>
          <a:off x="7409058" y="1909618"/>
          <a:ext cx="3451412"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6867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DDE7-DD84-4D5E-477B-50E561A7073C}"/>
              </a:ext>
            </a:extLst>
          </p:cNvPr>
          <p:cNvSpPr>
            <a:spLocks noGrp="1"/>
          </p:cNvSpPr>
          <p:nvPr>
            <p:ph type="title"/>
          </p:nvPr>
        </p:nvSpPr>
        <p:spPr/>
        <p:txBody>
          <a:bodyPr/>
          <a:lstStyle/>
          <a:p>
            <a:r>
              <a:rPr lang="en-US" dirty="0"/>
              <a:t>State with complaint</a:t>
            </a:r>
          </a:p>
        </p:txBody>
      </p:sp>
      <p:sp>
        <p:nvSpPr>
          <p:cNvPr id="3" name="Content Placeholder 2">
            <a:extLst>
              <a:ext uri="{FF2B5EF4-FFF2-40B4-BE49-F238E27FC236}">
                <a16:creationId xmlns:a16="http://schemas.microsoft.com/office/drawing/2014/main" id="{8ED22B18-FE80-F818-5375-6671C77BFF18}"/>
              </a:ext>
            </a:extLst>
          </p:cNvPr>
          <p:cNvSpPr>
            <a:spLocks noGrp="1"/>
          </p:cNvSpPr>
          <p:nvPr>
            <p:ph idx="1"/>
          </p:nvPr>
        </p:nvSpPr>
        <p:spPr>
          <a:xfrm>
            <a:off x="838201" y="1825625"/>
            <a:ext cx="3807690" cy="4351338"/>
          </a:xfrm>
        </p:spPr>
        <p:txBody>
          <a:bodyPr/>
          <a:lstStyle/>
          <a:p>
            <a:endParaRPr lang="en-US" dirty="0"/>
          </a:p>
        </p:txBody>
      </p:sp>
      <mc:AlternateContent xmlns:mc="http://schemas.openxmlformats.org/markup-compatibility/2006">
        <mc:Choice xmlns:cx4="http://schemas.microsoft.com/office/drawing/2016/5/10/chartex" Requires="cx4">
          <p:graphicFrame>
            <p:nvGraphicFramePr>
              <p:cNvPr id="4" name="Chart 3">
                <a:extLst>
                  <a:ext uri="{FF2B5EF4-FFF2-40B4-BE49-F238E27FC236}">
                    <a16:creationId xmlns:a16="http://schemas.microsoft.com/office/drawing/2014/main" id="{E6C8A80E-CA02-4CAE-AB64-C008876E7005}"/>
                  </a:ext>
                </a:extLst>
              </p:cNvPr>
              <p:cNvGraphicFramePr/>
              <p:nvPr>
                <p:extLst>
                  <p:ext uri="{D42A27DB-BD31-4B8C-83A1-F6EECF244321}">
                    <p14:modId xmlns:p14="http://schemas.microsoft.com/office/powerpoint/2010/main" val="2640785214"/>
                  </p:ext>
                </p:extLst>
              </p:nvPr>
            </p:nvGraphicFramePr>
            <p:xfrm>
              <a:off x="4738254" y="1825625"/>
              <a:ext cx="6615545" cy="3162300"/>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4" name="Chart 3">
                <a:extLst>
                  <a:ext uri="{FF2B5EF4-FFF2-40B4-BE49-F238E27FC236}">
                    <a16:creationId xmlns:a16="http://schemas.microsoft.com/office/drawing/2014/main" id="{E6C8A80E-CA02-4CAE-AB64-C008876E7005}"/>
                  </a:ext>
                </a:extLst>
              </p:cNvPr>
              <p:cNvPicPr>
                <a:picLocks noGrp="1" noRot="1" noChangeAspect="1" noMove="1" noResize="1" noEditPoints="1" noAdjustHandles="1" noChangeArrowheads="1" noChangeShapeType="1"/>
              </p:cNvPicPr>
              <p:nvPr/>
            </p:nvPicPr>
            <p:blipFill>
              <a:blip r:embed="rId3"/>
              <a:stretch>
                <a:fillRect/>
              </a:stretch>
            </p:blipFill>
            <p:spPr>
              <a:xfrm>
                <a:off x="4738254" y="1825625"/>
                <a:ext cx="6615545" cy="3162300"/>
              </a:xfrm>
              <a:prstGeom prst="rect">
                <a:avLst/>
              </a:prstGeom>
            </p:spPr>
          </p:pic>
        </mc:Fallback>
      </mc:AlternateContent>
    </p:spTree>
    <p:extLst>
      <p:ext uri="{BB962C8B-B14F-4D97-AF65-F5344CB8AC3E}">
        <p14:creationId xmlns:p14="http://schemas.microsoft.com/office/powerpoint/2010/main" val="2686190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AC7E5-E65B-8AAC-AE87-747FD4630881}"/>
              </a:ext>
            </a:extLst>
          </p:cNvPr>
          <p:cNvSpPr>
            <a:spLocks noGrp="1"/>
          </p:cNvSpPr>
          <p:nvPr>
            <p:ph type="title"/>
          </p:nvPr>
        </p:nvSpPr>
        <p:spPr/>
        <p:txBody>
          <a:bodyPr/>
          <a:lstStyle/>
          <a:p>
            <a:r>
              <a:rPr lang="en-US" dirty="0"/>
              <a:t>Drivers of untimely responses</a:t>
            </a:r>
          </a:p>
        </p:txBody>
      </p:sp>
      <p:sp>
        <p:nvSpPr>
          <p:cNvPr id="3" name="Content Placeholder 2">
            <a:extLst>
              <a:ext uri="{FF2B5EF4-FFF2-40B4-BE49-F238E27FC236}">
                <a16:creationId xmlns:a16="http://schemas.microsoft.com/office/drawing/2014/main" id="{5DB54F63-D89A-BCB1-F6A8-1CE74E86C49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77027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8A8E1-4889-4316-79B6-E4F3B8A6936C}"/>
              </a:ext>
            </a:extLst>
          </p:cNvPr>
          <p:cNvSpPr>
            <a:spLocks noGrp="1"/>
          </p:cNvSpPr>
          <p:nvPr>
            <p:ph type="title"/>
          </p:nvPr>
        </p:nvSpPr>
        <p:spPr/>
        <p:txBody>
          <a:bodyPr/>
          <a:lstStyle/>
          <a:p>
            <a:r>
              <a:rPr lang="en-US" dirty="0"/>
              <a:t>Insight and Recommendation</a:t>
            </a:r>
          </a:p>
        </p:txBody>
      </p:sp>
      <p:sp>
        <p:nvSpPr>
          <p:cNvPr id="3" name="Content Placeholder 2">
            <a:extLst>
              <a:ext uri="{FF2B5EF4-FFF2-40B4-BE49-F238E27FC236}">
                <a16:creationId xmlns:a16="http://schemas.microsoft.com/office/drawing/2014/main" id="{5895050A-B803-54DB-B738-63425D4EE4E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558241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240</Words>
  <Application>Microsoft Office PowerPoint</Application>
  <PresentationFormat>Widescreen</PresentationFormat>
  <Paragraphs>27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The Consumer Financial Protection Bureau (CFPB)</vt:lpstr>
      <vt:lpstr>Background</vt:lpstr>
      <vt:lpstr>Objectives</vt:lpstr>
      <vt:lpstr>Result a. patterns in complaint</vt:lpstr>
      <vt:lpstr>Products drive the most complaints</vt:lpstr>
      <vt:lpstr>Issues the most complaints</vt:lpstr>
      <vt:lpstr>Complaints are resolved</vt:lpstr>
      <vt:lpstr>State with complaint</vt:lpstr>
      <vt:lpstr>Drivers of untimely responses</vt:lpstr>
      <vt:lpstr>Insight and 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Muchammad Wildan Alkautsar</dc:creator>
  <cp:lastModifiedBy>Muchammad Wildan Alkautsar</cp:lastModifiedBy>
  <cp:revision>1</cp:revision>
  <dcterms:created xsi:type="dcterms:W3CDTF">2026-10-23T02:35:49Z</dcterms:created>
  <dcterms:modified xsi:type="dcterms:W3CDTF">2026-10-23T06:20:02Z</dcterms:modified>
</cp:coreProperties>
</file>